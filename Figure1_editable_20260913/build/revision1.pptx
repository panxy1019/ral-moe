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99749ae7b04e73" /><Relationship Type="http://schemas.openxmlformats.org/officeDocument/2006/relationships/extended-properties" Target="/docProps/app.xml" Id="R0c16ca6b45eb44a0" /><Relationship Type="http://schemas.openxmlformats.org/officeDocument/2006/relationships/officeDocument" Target="/ppt/presentation.xml" Id="Rd764e68a15ab4c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9d1bf3b4e34e97"/>
  </p:sldMasterIdLst>
  <p:notesMasterIdLst>
    <p:notesMasterId xmlns:r="http://schemas.openxmlformats.org/officeDocument/2006/relationships" r:id="Re68b738f48284d0a"/>
  </p:notesMasterIdLst>
  <p:sldIdLst>
    <p:sldId xmlns:r="http://schemas.openxmlformats.org/officeDocument/2006/relationships" id="256" r:id="R543c7ccbf4e84601"/>
  </p:sldIdLst>
  <p:sldSz cx="15240000" cy="9525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8d24de85e54d95" /><Relationship Type="http://schemas.openxmlformats.org/officeDocument/2006/relationships/slideMaster" Target="/ppt/slideMasters/slideMaster1.xml" Id="R5b9d1bf3b4e34e97" /><Relationship Type="http://schemas.openxmlformats.org/officeDocument/2006/relationships/notesMaster" Target="/ppt/notesMasters/notesMaster1.xml" Id="Re68b738f48284d0a" /><Relationship Type="http://schemas.openxmlformats.org/officeDocument/2006/relationships/presProps" Target="/ppt/presProps.xml" Id="Rdc7cf763a8cf4750" /><Relationship Type="http://schemas.openxmlformats.org/officeDocument/2006/relationships/tableStyles" Target="/ppt/tableStyles.xml" Id="Re15c57d30a574de6" /><Relationship Type="http://schemas.openxmlformats.org/officeDocument/2006/relationships/slide" Target="/ppt/slides/slide1.xml" Id="R543c7ccbf4e846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7cbcc6dd7d4e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4c0f16c00642a6" /><Relationship Type="http://schemas.openxmlformats.org/officeDocument/2006/relationships/notesMaster" Target="/ppt/notesMasters/notesMaster1.xml" Id="R37c60d36938844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RAL-MoE-ROM method schematic. Native editable text, shapes and connectors. Three circular-cylinder reference images are native crops of existing CFD-reference velocity panels, not newly computed results or T2-C predictions. Sources: C:/Users/panxy1019/Documents/CHANNEL/RAL_MOE_ROM_ICLR2027/figures/original/steady_physical_fields.png; C:/Users/panxy1019/Documents/CHANNEL/RAL_MOE_ROM_ICLR2027/figures/original/hopf_physical_fields.png; C:/Users/panxy1019/Documents/CHANNEL/RAL_MOE_ROM_ICLR2027/figures/original/periodic_physical_fields.png. The Hopf reference is near onset and weakly perturbed. Color bars are omitted for qualitative regime identification; these thumbnails are not a quantitative cross-regime magnitude comparison.</a:t>
            </a:r>
          </a:p>
          <a:p xmlns:a="http://schemas.openxmlformats.org/drawingml/2006/main">
            <a:r>
              <a:t>Method source: C:/Users/panxy1019/Documents/CHANNEL/PMD_Galerkin_Pan_ICLR (1)/sections/method.tex. Gamma pressure gating retained from current manuscript. Group Top-1 and channel Top-2 refer to hierarchical sparse routing; the shared expert bypasses sparse selection. The two selected specialists retain independent native states. Physical-space assembly is identity for Top-1 and T2-C for an adjacent Top-2 pair. No fused-state feedback.</a:t>
            </a:r>
          </a:p>
          <a:p xmlns:a="http://schemas.openxmlformats.org/drawingml/2006/main">
            <a:r>
              <a:t>Design brief: C:/Users/panxy1019/Downloads/RAL_MoE_ROM_Figure1_Nature_style_redraw_plan.md. User requested three regime thumbnails, overriding the brief's thumbnail-removal recommendation.</a:t>
            </a:r>
          </a:p>
          <a:p xmlns:a="http://schemas.openxmlformats.org/drawingml/2006/main">
            <a:r>
              <a:t>Visual references supplied by user: https://www.nature.com/articles/s41467-021-26434-1 ; https://www.nature.com/articles/s42256-023-00685-7 ; https://www.nature.com/articles/s42256-024-00938-z ; https://www.nature.com/articles/s43588-025-00904-8 ; https://www.nature.com/articles/s41467-026-70245-1 . Article pages for PINN-SR and S3GM were accessible; several dedicated figure pages returned access redirects. No published artwork is reproduced.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382e681ceb46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61de9166ec4194" /><Relationship Type="http://schemas.openxmlformats.org/officeDocument/2006/relationships/slideLayout" Target="/ppt/slideLayouts/slideLayout1.xml" Id="Rcf42051f8d9441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42051f8d9441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6f92b5ae54068" /><Relationship Type="http://schemas.openxmlformats.org/officeDocument/2006/relationships/image" Target="/ppt/media/image.png" Id="Rba861b01863d42f5" /><Relationship Type="http://schemas.openxmlformats.org/officeDocument/2006/relationships/image" Target="/ppt/media/image2.png" Id="Ref493c6495f14f95" /><Relationship Type="http://schemas.openxmlformats.org/officeDocument/2006/relationships/image" Target="/ppt/media/image3.png" Id="R5c808dc19dd140b6" /><Relationship Type="http://schemas.openxmlformats.org/officeDocument/2006/relationships/notesSlide" Target="/ppt/notesSlides/notesSlide1.xml" Id="Rb23131baac9343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5" name="text-a   Two-level hierarchy">
            <a:extLst xmlns:a="http://schemas.openxmlformats.org/drawingml/2006/main">
              <a:ext uri="{FF2B5EF4-FFF2-40B4-BE49-F238E27FC236}">
                <a16:creationId xmlns:a16="http://schemas.microsoft.com/office/drawing/2014/main" id="{4F01AE0D-1092-4470-9DBE-54F2B1E8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95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a   Two-level hierarchy</a:t>
            </a:r>
          </a:p>
        </p:txBody>
      </p:sp>
      <p:sp>
        <p:nvSpPr>
          <p:cNvPr id="2" name="text-μ">
            <a:extLst xmlns:a="http://schemas.openxmlformats.org/drawingml/2006/main">
              <a:ext uri="{FF2B5EF4-FFF2-40B4-BE49-F238E27FC236}">
                <a16:creationId xmlns:a16="http://schemas.microsoft.com/office/drawing/2014/main" id="{C96DC69C-EF0B-4B7E-A24E-B4D212DA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34302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0">
                <a:solidFill>
                  <a:srgbClr val="222222"/>
                </a:solidFill>
                <a:latin typeface="Cambria Math"/>
                <a:ea typeface="Cambria Math"/>
                <a:cs typeface="Cambria Math"/>
              </a:defRPr>
            </a:pPr>
            <a:r>
              <a:rPr sz="3150" b="0">
                <a:solidFill>
                  <a:srgbClr val="222222"/>
                </a:solidFill>
                <a:latin typeface="Cambria Math"/>
                <a:ea typeface="Cambria Math"/>
                <a:cs typeface="Cambria Math"/>
              </a:rPr>
              <a:t>μ</a:t>
            </a:r>
          </a:p>
        </p:txBody>
      </p:sp>
      <p:sp>
        <p:nvSpPr>
          <p:cNvPr id="3" name="E2 router">
            <a:extLst xmlns:a="http://schemas.openxmlformats.org/drawingml/2006/main">
              <a:ext uri="{FF2B5EF4-FFF2-40B4-BE49-F238E27FC236}">
                <a16:creationId xmlns:a16="http://schemas.microsoft.com/office/drawing/2014/main" id="{ECF9E088-75BC-44A8-82FF-35716354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1152525"/>
            <a:ext cx="1590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8"/>
          </a:solidFill>
          <a:ln xmlns:a="http://schemas.openxmlformats.org/drawingml/2006/main" w="13811">
            <a:solidFill>
              <a:srgbClr val="9475AD"/>
            </a:solidFill>
          </a:ln>
        </p:spPr>
        <p:txBody>
          <a:bodyPr xmlns:a="http://schemas.openxmlformats.org/drawingml/2006/main" wrap="non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E2 router</a:t>
            </a:r>
          </a:p>
          <a:p xmlns:a="http://schemas.openxmlformats.org/drawingml/2006/main">
            <a:pPr algn="ctr"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parameter-only</a:t>
            </a:r>
          </a:p>
        </p:txBody>
      </p:sp>
      <p:sp>
        <p:nvSpPr>
          <p:cNvPr id="4" name="Applicability +&#10;selection">
            <a:extLst xmlns:a="http://schemas.openxmlformats.org/drawingml/2006/main">
              <a:ext uri="{FF2B5EF4-FFF2-40B4-BE49-F238E27FC236}">
                <a16:creationId xmlns:a16="http://schemas.microsoft.com/office/drawing/2014/main" id="{377731BB-7534-4268-8516-CF560AF8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152525"/>
            <a:ext cx="2324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8"/>
          </a:solidFill>
          <a:ln xmlns:a="http://schemas.openxmlformats.org/drawingml/2006/main" w="13811">
            <a:solidFill>
              <a:srgbClr val="9475AD"/>
            </a:solidFill>
          </a:ln>
        </p:spPr>
        <p:txBody>
          <a:bodyPr xmlns:a="http://schemas.openxmlformats.org/drawingml/2006/main" wrap="non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Applicability +
selection</a:t>
            </a:r>
          </a:p>
          <a:p xmlns:a="http://schemas.openxmlformats.org/drawingml/2006/main">
            <a:pPr algn="ctr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Top-1 / adj. Top-2</a:t>
            </a:r>
          </a:p>
        </p:txBody>
      </p:sp>
      <p:sp>
        <p:nvSpPr>
          <p:cNvPr id="5" name="Independent rollout">
            <a:extLst xmlns:a="http://schemas.openxmlformats.org/drawingml/2006/main">
              <a:ext uri="{FF2B5EF4-FFF2-40B4-BE49-F238E27FC236}">
                <a16:creationId xmlns:a16="http://schemas.microsoft.com/office/drawing/2014/main" id="{C7DC7E7C-6480-4CAB-BA9B-14A749B3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914400"/>
            <a:ext cx="22574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9"/>
          </a:solidFill>
          <a:ln xmlns:a="http://schemas.openxmlformats.org/drawingml/2006/main" w="13811">
            <a:solidFill>
              <a:srgbClr val="D88C53"/>
            </a:solidFill>
          </a:ln>
        </p:spPr>
        <p:txBody>
          <a:bodyPr xmlns:a="http://schemas.openxmlformats.org/drawingml/2006/main" wrap="non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1"/>
              <a:t>Selected r / (r, s)</a:t>
            </a:r>
          </a:p>
          <a:p xmlns:a="http://schemas.openxmlformats.org/drawingml/2006/main">
            <a:pPr algn="ctr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25"/>
              <a:t>Independent</a:t>
            </a:r>
          </a:p>
          <a:p xmlns:a="http://schemas.openxmlformats.org/drawingml/2006/main">
            <a:pPr algn="ctr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25"/>
              <a:t>rollout</a:t>
            </a:r>
          </a:p>
          <a:p xmlns:a="http://schemas.openxmlformats.org/drawingml/2006/main">
            <a:pPr algn="ctr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/>
              <a:t>native coordinates</a:t>
            </a:r>
          </a:p>
        </p:txBody>
      </p:sp>
      <p:sp>
        <p:nvSpPr>
          <p:cNvPr id="6" name="Decode">
            <a:extLst xmlns:a="http://schemas.openxmlformats.org/drawingml/2006/main">
              <a:ext uri="{FF2B5EF4-FFF2-40B4-BE49-F238E27FC236}">
                <a16:creationId xmlns:a16="http://schemas.microsoft.com/office/drawing/2014/main" id="{1EEEAF5D-5FA9-4E16-BD3C-8599C8AE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152525"/>
            <a:ext cx="15525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13811">
            <a:solidFill>
              <a:srgbClr val="638CAC"/>
            </a:solidFill>
          </a:ln>
        </p:spPr>
        <p:txBody>
          <a:bodyPr xmlns:a="http://schemas.openxmlformats.org/drawingml/2006/main" wrap="non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Decode</a:t>
            </a:r>
          </a:p>
          <a:p xmlns:a="http://schemas.openxmlformats.org/drawingml/2006/main">
            <a:pPr algn="ctr"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physical space</a:t>
            </a:r>
          </a:p>
        </p:txBody>
      </p:sp>
      <p:sp>
        <p:nvSpPr>
          <p:cNvPr id="7" name="T2-C fusion">
            <a:extLst xmlns:a="http://schemas.openxmlformats.org/drawingml/2006/main">
              <a:ext uri="{FF2B5EF4-FFF2-40B4-BE49-F238E27FC236}">
                <a16:creationId xmlns:a16="http://schemas.microsoft.com/office/drawing/2014/main" id="{B08F2D0D-816F-4EA0-B68E-060944D7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1095375"/>
            <a:ext cx="20097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F"/>
          </a:solidFill>
          <a:ln xmlns:a="http://schemas.openxmlformats.org/drawingml/2006/main" w="13811">
            <a:solidFill>
              <a:srgbClr val="71A07B"/>
            </a:solidFill>
          </a:ln>
        </p:spPr>
        <p:txBody>
          <a:bodyPr xmlns:a="http://schemas.openxmlformats.org/drawingml/2006/main" wrap="non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T2-C fusion</a:t>
            </a:r>
          </a:p>
          <a:p xmlns:a="http://schemas.openxmlformats.org/drawingml/2006/main">
            <a:pPr algn="ctr">
              <a:defRPr sz="21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α(μ̃, π̄, dₙ)</a:t>
            </a:r>
          </a:p>
        </p:txBody>
      </p:sp>
      <p:sp>
        <p:nvSpPr>
          <p:cNvPr id="8" name="Predicted fields">
            <a:extLst xmlns:a="http://schemas.openxmlformats.org/drawingml/2006/main">
              <a:ext uri="{FF2B5EF4-FFF2-40B4-BE49-F238E27FC236}">
                <a16:creationId xmlns:a16="http://schemas.microsoft.com/office/drawing/2014/main" id="{1183840E-AF1E-4309-A1CB-226F9FA6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1152525"/>
            <a:ext cx="1809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F"/>
          </a:solidFill>
          <a:ln xmlns:a="http://schemas.openxmlformats.org/drawingml/2006/main" w="13811">
            <a:solidFill>
              <a:srgbClr val="71A07B"/>
            </a:solidFill>
          </a:ln>
        </p:spPr>
        <p:txBody>
          <a:bodyPr xmlns:a="http://schemas.openxmlformats.org/drawingml/2006/main" wrap="non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Predicted fields</a:t>
            </a:r>
          </a:p>
          <a:p xmlns:a="http://schemas.openxmlformats.org/drawingml/2006/main">
            <a:pPr algn="ctr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û(t), p̂°(t)</a:t>
            </a:r>
          </a:p>
        </p:txBody>
      </p:sp>
      <p:cxnSp>
        <p:nvCxnSpPr>
          <p:cNvPr id="153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866775" y="16287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3B40"/>
            </a:solidFill>
            <a:prstDash val="solid"/>
            <a:tailEnd type="triangle" w="sm" len="sm"/>
          </a:ln>
        </p:spPr>
      </p:cxnSp>
      <p:cxnSp>
        <p:nvCxnSpPr>
          <p:cNvPr id="154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38450" y="162877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363B40"/>
            </a:solidFill>
            <a:prstDash val="solid"/>
            <a:tailEnd type="triangle" w="sm" len="sm"/>
          </a:ln>
        </p:spPr>
      </p:cxnSp>
      <p:cxnSp>
        <p:nvCxnSpPr>
          <p:cNvPr id="155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572125" y="16287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363B40"/>
            </a:solidFill>
            <a:prstDash val="solid"/>
            <a:tailEnd type="triangle" w="sm" len="sm"/>
          </a:ln>
        </p:spPr>
      </p:cxnSp>
      <p:cxnSp>
        <p:nvCxnSpPr>
          <p:cNvPr id="15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305800" y="16287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3B40"/>
            </a:solidFill>
            <a:prstDash val="solid"/>
            <a:tailEnd type="triangle" w="sm" len="sm"/>
          </a:ln>
        </p:spPr>
      </p:cxnSp>
      <p:cxnSp>
        <p:nvCxnSpPr>
          <p:cNvPr id="15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0315575" y="162877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3B40"/>
            </a:solidFill>
            <a:prstDash val="solid"/>
            <a:tailEnd type="triangle" w="sm" len="sm"/>
          </a:ln>
        </p:spPr>
      </p:cxnSp>
      <p:cxnSp>
        <p:nvCxnSpPr>
          <p:cNvPr id="15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2734925" y="162877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3B40"/>
            </a:solidFill>
            <a:prstDash val="solid"/>
            <a:tailEnd type="triangle" w="sm" len="sm"/>
          </a:ln>
        </p:spPr>
      </p:cxnSp>
      <p:sp>
        <p:nvSpPr>
          <p:cNvPr id="15" name="text-π(μ)">
            <a:extLst xmlns:a="http://schemas.openxmlformats.org/drawingml/2006/main">
              <a:ext uri="{FF2B5EF4-FFF2-40B4-BE49-F238E27FC236}">
                <a16:creationId xmlns:a16="http://schemas.microsoft.com/office/drawing/2014/main" id="{EB871F6A-B312-4319-B7BE-81BD7F93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762000"/>
            <a:ext cx="809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22222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222222"/>
                </a:solidFill>
                <a:latin typeface="Cambria Math"/>
                <a:ea typeface="Cambria Math"/>
                <a:cs typeface="Cambria Math"/>
              </a:rPr>
              <a:t>π(μ)</a:t>
            </a:r>
          </a:p>
        </p:txBody>
      </p:sp>
      <p:sp>
        <p:nvSpPr>
          <p:cNvPr id="16" name="text-Top-1: identity Top-2: fusion">
            <a:extLst xmlns:a="http://schemas.openxmlformats.org/drawingml/2006/main">
              <a:ext uri="{FF2B5EF4-FFF2-40B4-BE49-F238E27FC236}">
                <a16:creationId xmlns:a16="http://schemas.microsoft.com/office/drawing/2014/main" id="{B8716E03-699D-483D-97EF-3290053E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2276475"/>
            <a:ext cx="214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Top-1: identity</a:t>
            </a:r>
          </a:p>
          <a:p xmlns:a="http://schemas.openxmlformats.org/drawingml/2006/main">
            <a:pPr algn="ctr"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Top-2: fusion</a:t>
            </a:r>
          </a:p>
        </p:txBody>
      </p:sp>
      <p:sp>
        <p:nvSpPr>
          <p:cNvPr id="17" name="text-Regime-local specialists">
            <a:extLst xmlns:a="http://schemas.openxmlformats.org/drawingml/2006/main">
              <a:ext uri="{FF2B5EF4-FFF2-40B4-BE49-F238E27FC236}">
                <a16:creationId xmlns:a16="http://schemas.microsoft.com/office/drawing/2014/main" id="{1D8DAB4F-C1B2-4667-B4A8-14D74D24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098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Regime-local specialists</a:t>
            </a:r>
          </a:p>
        </p:txBody>
      </p:sp>
      <p:sp>
        <p:nvSpPr>
          <p:cNvPr id="18" name="Steady specialist card">
            <a:extLst xmlns:a="http://schemas.openxmlformats.org/drawingml/2006/main">
              <a:ext uri="{FF2B5EF4-FFF2-40B4-BE49-F238E27FC236}">
                <a16:creationId xmlns:a16="http://schemas.microsoft.com/office/drawing/2014/main" id="{AA36A7B5-D7BE-4BDF-9E84-94A53EE3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57525"/>
            <a:ext cx="16097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BEC4"/>
            </a:solidFill>
          </a:ln>
        </p:spPr>
      </p:sp>
      <p:sp>
        <p:nvSpPr>
          <p:cNvPr id="19" name="shape-1">
            <a:extLst xmlns:a="http://schemas.openxmlformats.org/drawingml/2006/main">
              <a:ext uri="{FF2B5EF4-FFF2-40B4-BE49-F238E27FC236}">
                <a16:creationId xmlns:a16="http://schemas.microsoft.com/office/drawing/2014/main" id="{338E7F47-79D6-49D1-A26E-B0A5BF6E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57525"/>
            <a:ext cx="16097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CAB"/>
          </a:solidFill>
          <a:ln xmlns:a="http://schemas.openxmlformats.org/drawingml/2006/main" w="0">
            <a:noFill/>
          </a:ln>
        </p:spPr>
      </p:sp>
      <p:sp>
        <p:nvSpPr>
          <p:cNvPr id="20" name="text-Steady  S">
            <a:extLst xmlns:a="http://schemas.openxmlformats.org/drawingml/2006/main">
              <a:ext uri="{FF2B5EF4-FFF2-40B4-BE49-F238E27FC236}">
                <a16:creationId xmlns:a16="http://schemas.microsoft.com/office/drawing/2014/main" id="{9AF7174F-53E2-4395-91E8-8EDB0821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133725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Steady  S</a:t>
            </a:r>
          </a:p>
        </p:txBody>
      </p:sp>
      <p:pic>
        <p:nvPicPr>
          <p:cNvPr id="1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861b01863d42f5"/>
          <a:srcRect xmlns:a="http://schemas.openxmlformats.org/drawingml/2006/main" l="12250" t="7500" r="58500" b="76400"/>
          <a:stretch xmlns:a="http://schemas.openxmlformats.org/drawingml/2006/main"/>
        </p:blipFill>
        <p:spPr>
          <a:xfrm xmlns:a="http://schemas.openxmlformats.org/drawingml/2006/main">
            <a:off x="790575" y="3486150"/>
            <a:ext cx="1457325" cy="628650"/>
          </a:xfrm>
          <a:prstGeom xmlns:a="http://schemas.openxmlformats.org/drawingml/2006/main" prst="rect">
            <a:avLst/>
          </a:prstGeom>
        </p:spPr>
      </p:pic>
      <p:sp>
        <p:nvSpPr>
          <p:cNvPr id="22" name="Hopf specialist card">
            <a:extLst xmlns:a="http://schemas.openxmlformats.org/drawingml/2006/main">
              <a:ext uri="{FF2B5EF4-FFF2-40B4-BE49-F238E27FC236}">
                <a16:creationId xmlns:a16="http://schemas.microsoft.com/office/drawing/2014/main" id="{E0B78E65-C421-4728-B6B5-42225BE8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57525"/>
            <a:ext cx="16097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BEC4"/>
            </a:solidFill>
          </a:ln>
        </p:spPr>
      </p:sp>
      <p:sp>
        <p:nvSpPr>
          <p:cNvPr id="23" name="shape-2">
            <a:extLst xmlns:a="http://schemas.openxmlformats.org/drawingml/2006/main">
              <a:ext uri="{FF2B5EF4-FFF2-40B4-BE49-F238E27FC236}">
                <a16:creationId xmlns:a16="http://schemas.microsoft.com/office/drawing/2014/main" id="{E8CF8063-DCB6-4206-9128-2ABD0D83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57525"/>
            <a:ext cx="16097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B52"/>
          </a:solidFill>
          <a:ln xmlns:a="http://schemas.openxmlformats.org/drawingml/2006/main" w="0">
            <a:noFill/>
          </a:ln>
        </p:spPr>
      </p:sp>
      <p:sp>
        <p:nvSpPr>
          <p:cNvPr id="24" name="text-Hopf  H">
            <a:extLst xmlns:a="http://schemas.openxmlformats.org/drawingml/2006/main">
              <a:ext uri="{FF2B5EF4-FFF2-40B4-BE49-F238E27FC236}">
                <a16:creationId xmlns:a16="http://schemas.microsoft.com/office/drawing/2014/main" id="{F53B5811-B02A-48D6-A9C1-8F112E05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133725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Hopf  H</a:t>
            </a:r>
          </a:p>
        </p:txBody>
      </p:sp>
      <p:pic>
        <p:nvPicPr>
          <p:cNvPr id="1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493c6495f14f95"/>
          <a:srcRect xmlns:a="http://schemas.openxmlformats.org/drawingml/2006/main" l="12250" t="7500" r="58500" b="76400"/>
          <a:stretch xmlns:a="http://schemas.openxmlformats.org/drawingml/2006/main"/>
        </p:blipFill>
        <p:spPr>
          <a:xfrm xmlns:a="http://schemas.openxmlformats.org/drawingml/2006/main">
            <a:off x="2552700" y="3486150"/>
            <a:ext cx="1457325" cy="628650"/>
          </a:xfrm>
          <a:prstGeom xmlns:a="http://schemas.openxmlformats.org/drawingml/2006/main" prst="rect">
            <a:avLst/>
          </a:prstGeom>
        </p:spPr>
      </p:pic>
      <p:sp>
        <p:nvSpPr>
          <p:cNvPr id="26" name="Periodic specialist card">
            <a:extLst xmlns:a="http://schemas.openxmlformats.org/drawingml/2006/main">
              <a:ext uri="{FF2B5EF4-FFF2-40B4-BE49-F238E27FC236}">
                <a16:creationId xmlns:a16="http://schemas.microsoft.com/office/drawing/2014/main" id="{B607A818-06E2-428C-BA91-ACC269F5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057525"/>
            <a:ext cx="16097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BEC4"/>
            </a:solidFill>
          </a:ln>
        </p:spPr>
      </p:sp>
      <p:sp>
        <p:nvSpPr>
          <p:cNvPr id="27" name="shape-3">
            <a:extLst xmlns:a="http://schemas.openxmlformats.org/drawingml/2006/main">
              <a:ext uri="{FF2B5EF4-FFF2-40B4-BE49-F238E27FC236}">
                <a16:creationId xmlns:a16="http://schemas.microsoft.com/office/drawing/2014/main" id="{5CF5BD6A-8268-4395-B203-5D16BA3C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057525"/>
            <a:ext cx="16097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A277"/>
          </a:solidFill>
          <a:ln xmlns:a="http://schemas.openxmlformats.org/drawingml/2006/main" w="0">
            <a:noFill/>
          </a:ln>
        </p:spPr>
      </p:sp>
      <p:sp>
        <p:nvSpPr>
          <p:cNvPr id="28" name="text-Periodic  P">
            <a:extLst xmlns:a="http://schemas.openxmlformats.org/drawingml/2006/main">
              <a:ext uri="{FF2B5EF4-FFF2-40B4-BE49-F238E27FC236}">
                <a16:creationId xmlns:a16="http://schemas.microsoft.com/office/drawing/2014/main" id="{BA0BB891-00A0-4897-9236-E3FAF03D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133725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Periodic  P</a:t>
            </a:r>
          </a:p>
        </p:txBody>
      </p:sp>
      <p:pic>
        <p:nvPicPr>
          <p:cNvPr id="1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808dc19dd140b6"/>
          <a:srcRect xmlns:a="http://schemas.openxmlformats.org/drawingml/2006/main" l="12250" t="7500" r="58500" b="76400"/>
          <a:stretch xmlns:a="http://schemas.openxmlformats.org/drawingml/2006/main"/>
        </p:blipFill>
        <p:spPr>
          <a:xfrm xmlns:a="http://schemas.openxmlformats.org/drawingml/2006/main">
            <a:off x="4314825" y="3486150"/>
            <a:ext cx="1457325" cy="628650"/>
          </a:xfrm>
          <a:prstGeom xmlns:a="http://schemas.openxmlformats.org/drawingml/2006/main" prst="rect">
            <a:avLst/>
          </a:prstGeom>
        </p:spPr>
      </p:pic>
      <p:sp>
        <p:nvSpPr>
          <p:cNvPr id="30" name="shape-4">
            <a:extLst xmlns:a="http://schemas.openxmlformats.org/drawingml/2006/main">
              <a:ext uri="{FF2B5EF4-FFF2-40B4-BE49-F238E27FC236}">
                <a16:creationId xmlns:a16="http://schemas.microsoft.com/office/drawing/2014/main" id="{677A8770-6C5E-4628-8B7D-4BD296DF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5173" y="3027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shape-5">
            <a:extLst xmlns:a="http://schemas.openxmlformats.org/drawingml/2006/main">
              <a:ext uri="{FF2B5EF4-FFF2-40B4-BE49-F238E27FC236}">
                <a16:creationId xmlns:a16="http://schemas.microsoft.com/office/drawing/2014/main" id="{BE7A455F-1FCA-4A5A-B983-9387992A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5173" y="24660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6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 flipH="1" flipV="1">
            <a:off x="3285173" y="2466976"/>
            <a:ext cx="1905" cy="5619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63B40"/>
            </a:solidFill>
            <a:prstDash val="solid"/>
            <a:tailEnd type="none" w="sm" len="sm"/>
          </a:ln>
        </p:spPr>
      </p:cxnSp>
      <p:sp>
        <p:nvSpPr>
          <p:cNvPr id="33" name="shape-6">
            <a:extLst xmlns:a="http://schemas.openxmlformats.org/drawingml/2006/main">
              <a:ext uri="{FF2B5EF4-FFF2-40B4-BE49-F238E27FC236}">
                <a16:creationId xmlns:a16="http://schemas.microsoft.com/office/drawing/2014/main" id="{FCFF3EFE-B979-4A05-88CF-FA592691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5173" y="24660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shape-7">
            <a:extLst xmlns:a="http://schemas.openxmlformats.org/drawingml/2006/main">
              <a:ext uri="{FF2B5EF4-FFF2-40B4-BE49-F238E27FC236}">
                <a16:creationId xmlns:a16="http://schemas.microsoft.com/office/drawing/2014/main" id="{C497B279-5952-4B41-8185-A4700662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123" y="24660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9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3287078" y="2466976"/>
            <a:ext cx="112204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63B40"/>
            </a:solidFill>
            <a:prstDash val="solid"/>
            <a:tailEnd type="none" w="sm" len="sm"/>
          </a:ln>
        </p:spPr>
      </p:cxnSp>
      <p:sp>
        <p:nvSpPr>
          <p:cNvPr id="36" name="shape-8">
            <a:extLst xmlns:a="http://schemas.openxmlformats.org/drawingml/2006/main">
              <a:ext uri="{FF2B5EF4-FFF2-40B4-BE49-F238E27FC236}">
                <a16:creationId xmlns:a16="http://schemas.microsoft.com/office/drawing/2014/main" id="{35FB7CC9-7C3B-4960-AA18-1020866E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123" y="24660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shape-9">
            <a:extLst xmlns:a="http://schemas.openxmlformats.org/drawingml/2006/main">
              <a:ext uri="{FF2B5EF4-FFF2-40B4-BE49-F238E27FC236}">
                <a16:creationId xmlns:a16="http://schemas.microsoft.com/office/drawing/2014/main" id="{329F2C3A-E43E-4C92-AC1E-37273AAC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123" y="21040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2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 flipH="1" flipV="1">
            <a:off x="4409123" y="2105026"/>
            <a:ext cx="1905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63B40"/>
            </a:solidFill>
            <a:prstDash val="solid"/>
            <a:tailEnd type="triangle" w="sm" len="sm"/>
          </a:ln>
        </p:spPr>
      </p:cxnSp>
      <p:sp>
        <p:nvSpPr>
          <p:cNvPr id="39" name="text-Admissible pairs: S–H or H–P">
            <a:extLst xmlns:a="http://schemas.openxmlformats.org/drawingml/2006/main">
              <a:ext uri="{FF2B5EF4-FFF2-40B4-BE49-F238E27FC236}">
                <a16:creationId xmlns:a16="http://schemas.microsoft.com/office/drawing/2014/main" id="{CF8CACE2-8EB3-41BF-9775-5535931E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5048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Admissible pairs: S–H or H–P</a:t>
            </a:r>
          </a:p>
        </p:txBody>
      </p:sp>
      <p:sp>
        <p:nvSpPr>
          <p:cNvPr id="40" name="Physical history">
            <a:extLst xmlns:a="http://schemas.openxmlformats.org/drawingml/2006/main">
              <a:ext uri="{FF2B5EF4-FFF2-40B4-BE49-F238E27FC236}">
                <a16:creationId xmlns:a16="http://schemas.microsoft.com/office/drawing/2014/main" id="{DF66803E-37B2-4A98-AA36-2F993574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33775"/>
            <a:ext cx="22764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13811">
            <a:solidFill>
              <a:srgbClr val="638CAC"/>
            </a:solidFill>
          </a:ln>
        </p:spPr>
        <p:txBody>
          <a:bodyPr xmlns:a="http://schemas.openxmlformats.org/drawingml/2006/main" wrap="non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Physical history</a:t>
            </a:r>
          </a:p>
          <a:p xmlns:a="http://schemas.openxmlformats.org/drawingml/2006/main">
            <a:pPr algn="ctr">
              <a:defRPr sz="20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Hₙ</a:t>
            </a:r>
          </a:p>
        </p:txBody>
      </p:sp>
      <p:sp>
        <p:nvSpPr>
          <p:cNvPr id="41" name="History descriptor">
            <a:extLst xmlns:a="http://schemas.openxmlformats.org/drawingml/2006/main">
              <a:ext uri="{FF2B5EF4-FFF2-40B4-BE49-F238E27FC236}">
                <a16:creationId xmlns:a16="http://schemas.microsoft.com/office/drawing/2014/main" id="{254583BF-E662-423B-8F62-7F00347C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3533775"/>
            <a:ext cx="2400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13811">
            <a:solidFill>
              <a:srgbClr val="638CAC"/>
            </a:solidFill>
          </a:ln>
        </p:spPr>
        <p:txBody>
          <a:bodyPr xmlns:a="http://schemas.openxmlformats.org/drawingml/2006/main" wrap="non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History descriptor</a:t>
            </a:r>
          </a:p>
          <a:p xmlns:a="http://schemas.openxmlformats.org/drawingml/2006/main">
            <a:pPr algn="ctr"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dₙ (chart-independent)</a:t>
            </a:r>
          </a:p>
        </p:txBody>
      </p:sp>
      <p:sp>
        <p:nvSpPr>
          <p:cNvPr id="42" name="shape-10">
            <a:extLst xmlns:a="http://schemas.openxmlformats.org/drawingml/2006/main">
              <a:ext uri="{FF2B5EF4-FFF2-40B4-BE49-F238E27FC236}">
                <a16:creationId xmlns:a16="http://schemas.microsoft.com/office/drawing/2014/main" id="{DAB68BF2-FBCA-4999-AB0D-49C1B663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0973" y="3532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shape-11">
            <a:extLst xmlns:a="http://schemas.openxmlformats.org/drawingml/2006/main">
              <a:ext uri="{FF2B5EF4-FFF2-40B4-BE49-F238E27FC236}">
                <a16:creationId xmlns:a16="http://schemas.microsoft.com/office/drawing/2014/main" id="{5A5AE062-4010-441A-89A2-BACAB3FE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0973" y="2818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8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 flipH="1" flipV="1">
            <a:off x="7780973" y="2819401"/>
            <a:ext cx="1905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63B40"/>
            </a:solidFill>
            <a:prstDash val="solid"/>
            <a:tailEnd type="none" w="sm" len="sm"/>
          </a:ln>
        </p:spPr>
      </p:cxnSp>
      <p:sp>
        <p:nvSpPr>
          <p:cNvPr id="45" name="shape-12">
            <a:extLst xmlns:a="http://schemas.openxmlformats.org/drawingml/2006/main">
              <a:ext uri="{FF2B5EF4-FFF2-40B4-BE49-F238E27FC236}">
                <a16:creationId xmlns:a16="http://schemas.microsoft.com/office/drawing/2014/main" id="{BDB159C8-3A84-4FB2-A36E-E3EAD4D4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0973" y="2818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shape-13">
            <a:extLst xmlns:a="http://schemas.openxmlformats.org/drawingml/2006/main">
              <a:ext uri="{FF2B5EF4-FFF2-40B4-BE49-F238E27FC236}">
                <a16:creationId xmlns:a16="http://schemas.microsoft.com/office/drawing/2014/main" id="{7388575D-A7AD-42E7-8356-C7900049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1373" y="2818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1" name=""/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 flipH="1">
            <a:off x="7171373" y="2819401"/>
            <a:ext cx="61150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63B40"/>
            </a:solidFill>
            <a:prstDash val="solid"/>
            <a:tailEnd type="none" w="sm" len="sm"/>
          </a:ln>
        </p:spPr>
      </p:cxnSp>
      <p:sp>
        <p:nvSpPr>
          <p:cNvPr id="48" name="shape-14">
            <a:extLst xmlns:a="http://schemas.openxmlformats.org/drawingml/2006/main">
              <a:ext uri="{FF2B5EF4-FFF2-40B4-BE49-F238E27FC236}">
                <a16:creationId xmlns:a16="http://schemas.microsoft.com/office/drawing/2014/main" id="{9B4C35B3-E504-4647-BC7C-19910012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1373" y="2818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shape-15">
            <a:extLst xmlns:a="http://schemas.openxmlformats.org/drawingml/2006/main">
              <a:ext uri="{FF2B5EF4-FFF2-40B4-BE49-F238E27FC236}">
                <a16:creationId xmlns:a16="http://schemas.microsoft.com/office/drawing/2014/main" id="{4E2D9E7A-4F53-4600-A42A-495A8EAD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1373" y="2342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4" name=""/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 flipH="1" flipV="1">
            <a:off x="7171373" y="2343151"/>
            <a:ext cx="1905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63B40"/>
            </a:solidFill>
            <a:prstDash val="solid"/>
            <a:tailEnd type="triangle" w="sm" len="sm"/>
          </a:ln>
        </p:spPr>
      </p:cxnSp>
      <p:sp>
        <p:nvSpPr>
          <p:cNvPr id="51" name="text-initialization">
            <a:extLst xmlns:a="http://schemas.openxmlformats.org/drawingml/2006/main">
              <a:ext uri="{FF2B5EF4-FFF2-40B4-BE49-F238E27FC236}">
                <a16:creationId xmlns:a16="http://schemas.microsoft.com/office/drawing/2014/main" id="{FC4F7E1D-AE63-4FD1-8826-C4DA9EF4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43225"/>
            <a:ext cx="2085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initialization</a:t>
            </a:r>
          </a:p>
        </p:txBody>
      </p:sp>
      <p:cxnSp>
        <p:nvCxnSpPr>
          <p:cNvPr id="196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8924925" y="3867150"/>
            <a:ext cx="15621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63B40"/>
            </a:solidFill>
            <a:prstDash val="solid"/>
            <a:tailEnd type="triangle" w="sm" len="sm"/>
          </a:ln>
        </p:spPr>
      </p:cxnSp>
      <p:sp>
        <p:nvSpPr>
          <p:cNvPr id="53" name="shape-16">
            <a:extLst xmlns:a="http://schemas.openxmlformats.org/drawingml/2006/main">
              <a:ext uri="{FF2B5EF4-FFF2-40B4-BE49-F238E27FC236}">
                <a16:creationId xmlns:a16="http://schemas.microsoft.com/office/drawing/2014/main" id="{F7DF45B2-DB34-4BED-9EE4-B806A929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6223" y="3532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4" name="shape-17">
            <a:extLst xmlns:a="http://schemas.openxmlformats.org/drawingml/2006/main">
              <a:ext uri="{FF2B5EF4-FFF2-40B4-BE49-F238E27FC236}">
                <a16:creationId xmlns:a16="http://schemas.microsoft.com/office/drawing/2014/main" id="{58BDF9EF-97EC-4BDA-99D2-019D59FE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6223" y="21612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9" name=""/>
          <p:cNvCxnSpPr>
            <a:stCxn xmlns:a="http://schemas.openxmlformats.org/drawingml/2006/main" id="53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 flipH="1" flipV="1">
            <a:off x="11686223" y="2162176"/>
            <a:ext cx="1905" cy="1371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63B40"/>
            </a:solidFill>
            <a:prstDash val="solid"/>
            <a:tailEnd type="triangle" w="sm" len="sm"/>
          </a:ln>
        </p:spPr>
      </p:cxnSp>
      <p:sp>
        <p:nvSpPr>
          <p:cNvPr id="56" name="shape-18">
            <a:extLst xmlns:a="http://schemas.openxmlformats.org/drawingml/2006/main">
              <a:ext uri="{FF2B5EF4-FFF2-40B4-BE49-F238E27FC236}">
                <a16:creationId xmlns:a16="http://schemas.microsoft.com/office/drawing/2014/main" id="{251D565C-4E92-4D66-B3F2-6318A374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9348" y="24469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shape-19">
            <a:extLst xmlns:a="http://schemas.openxmlformats.org/drawingml/2006/main">
              <a:ext uri="{FF2B5EF4-FFF2-40B4-BE49-F238E27FC236}">
                <a16:creationId xmlns:a16="http://schemas.microsoft.com/office/drawing/2014/main" id="{FF812E42-D8DE-48F6-8341-13E83FE1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3123" y="4723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2" name=""/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 flipH="1">
            <a:off x="5933123" y="2447926"/>
            <a:ext cx="278130" cy="2276475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63B40"/>
            </a:solidFill>
            <a:prstDash val="dash"/>
            <a:tailEnd type="none" w="sm" len="sm"/>
          </a:ln>
        </p:spPr>
      </p:cxnSp>
      <p:sp>
        <p:nvSpPr>
          <p:cNvPr id="59" name="text-b   Regime-local specialist">
            <a:extLst xmlns:a="http://schemas.openxmlformats.org/drawingml/2006/main">
              <a:ext uri="{FF2B5EF4-FFF2-40B4-BE49-F238E27FC236}">
                <a16:creationId xmlns:a16="http://schemas.microsoft.com/office/drawing/2014/main" id="{D8A3C583-D0D8-49C1-B1B4-1F25B398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958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b   Regime-local specialist</a:t>
            </a:r>
          </a:p>
        </p:txBody>
      </p:sp>
      <p:sp>
        <p:nvSpPr>
          <p:cNvPr id="60" name="History">
            <a:extLst xmlns:a="http://schemas.openxmlformats.org/drawingml/2006/main">
              <a:ext uri="{FF2B5EF4-FFF2-40B4-BE49-F238E27FC236}">
                <a16:creationId xmlns:a16="http://schemas.microsoft.com/office/drawing/2014/main" id="{CA371675-D5A5-4F39-A607-F9E92513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076950"/>
            <a:ext cx="9429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13811">
            <a:solidFill>
              <a:srgbClr val="638CAC"/>
            </a:solidFill>
          </a:ln>
        </p:spPr>
        <p:txBody>
          <a:bodyPr xmlns:a="http://schemas.openxmlformats.org/drawingml/2006/main" wrap="non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History</a:t>
            </a:r>
          </a:p>
          <a:p xmlns:a="http://schemas.openxmlformats.org/drawingml/2006/main">
            <a:pPr algn="ctr">
              <a:defRPr sz="20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Hₙ</a:t>
            </a:r>
          </a:p>
        </p:txBody>
      </p:sp>
      <p:sp>
        <p:nvSpPr>
          <p:cNvPr id="61" name="POD encode">
            <a:extLst xmlns:a="http://schemas.openxmlformats.org/drawingml/2006/main">
              <a:ext uri="{FF2B5EF4-FFF2-40B4-BE49-F238E27FC236}">
                <a16:creationId xmlns:a16="http://schemas.microsoft.com/office/drawing/2014/main" id="{BDB93102-D2AE-4777-B981-D4433268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00750"/>
            <a:ext cx="14954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13811">
            <a:solidFill>
              <a:srgbClr val="638CAC"/>
            </a:solidFill>
          </a:ln>
        </p:spPr>
        <p:txBody>
          <a:bodyPr xmlns:a="http://schemas.openxmlformats.org/drawingml/2006/main" wrap="non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POD encode</a:t>
            </a:r>
          </a:p>
          <a:p xmlns:a="http://schemas.openxmlformats.org/drawingml/2006/main">
            <a:pPr algn="ctr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chart-local</a:t>
            </a:r>
          </a:p>
        </p:txBody>
      </p:sp>
      <p:sp>
        <p:nvSpPr>
          <p:cNvPr id="62" name="Local history">
            <a:extLst xmlns:a="http://schemas.openxmlformats.org/drawingml/2006/main">
              <a:ext uri="{FF2B5EF4-FFF2-40B4-BE49-F238E27FC236}">
                <a16:creationId xmlns:a16="http://schemas.microsoft.com/office/drawing/2014/main" id="{354D4087-DECD-48E9-852B-77FD866C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000750"/>
            <a:ext cx="1600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13811">
            <a:solidFill>
              <a:srgbClr val="638CAC"/>
            </a:solidFill>
          </a:ln>
        </p:spPr>
        <p:txBody>
          <a:bodyPr xmlns:a="http://schemas.openxmlformats.org/drawingml/2006/main" wrap="non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Local history</a:t>
            </a:r>
          </a:p>
          <a:p xmlns:a="http://schemas.openxmlformats.org/drawingml/2006/main">
            <a:pPr algn="ctr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(aₙ, bₙ)</a:t>
            </a:r>
          </a:p>
        </p:txBody>
      </p:sp>
      <p:sp>
        <p:nvSpPr>
          <p:cNvPr id="63" name="Galerkin backbone">
            <a:extLst xmlns:a="http://schemas.openxmlformats.org/drawingml/2006/main">
              <a:ext uri="{FF2B5EF4-FFF2-40B4-BE49-F238E27FC236}">
                <a16:creationId xmlns:a16="http://schemas.microsoft.com/office/drawing/2014/main" id="{C06A0E68-DEDE-4494-BED2-2C3EDBBC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486400"/>
            <a:ext cx="25146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13811">
            <a:solidFill>
              <a:srgbClr val="638CAC"/>
            </a:solidFill>
          </a:ln>
        </p:spPr>
        <p:txBody>
          <a:bodyPr xmlns:a="http://schemas.openxmlformats.org/drawingml/2006/main" wrap="non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Galerkin backbone</a:t>
            </a:r>
          </a:p>
          <a:p xmlns:a="http://schemas.openxmlformats.org/drawingml/2006/main">
            <a:pPr algn="ctr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Fᵣᴳ</a:t>
            </a:r>
          </a:p>
        </p:txBody>
      </p:sp>
      <p:sp>
        <p:nvSpPr>
          <p:cNvPr id="64" name="Sparse MoE">
            <a:extLst xmlns:a="http://schemas.openxmlformats.org/drawingml/2006/main">
              <a:ext uri="{FF2B5EF4-FFF2-40B4-BE49-F238E27FC236}">
                <a16:creationId xmlns:a16="http://schemas.microsoft.com/office/drawing/2014/main" id="{15F879AF-1BD6-4ED3-8F84-4184C7EA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6838950"/>
            <a:ext cx="25146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9"/>
          </a:solidFill>
          <a:ln xmlns:a="http://schemas.openxmlformats.org/drawingml/2006/main" w="13811">
            <a:solidFill>
              <a:srgbClr val="D88C53"/>
            </a:solidFill>
          </a:ln>
        </p:spPr>
        <p:txBody>
          <a:bodyPr xmlns:a="http://schemas.openxmlformats.org/drawingml/2006/main" wrap="non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Sparse MoE</a:t>
            </a:r>
          </a:p>
          <a:p xmlns:a="http://schemas.openxmlformats.org/drawingml/2006/main">
            <a:pPr algn="ctr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velocity correction ρᵘ</a:t>
            </a:r>
          </a:p>
        </p:txBody>
      </p:sp>
      <p:sp>
        <p:nvSpPr>
          <p:cNvPr id="65" name="sum-+">
            <a:extLst xmlns:a="http://schemas.openxmlformats.org/drawingml/2006/main">
              <a:ext uri="{FF2B5EF4-FFF2-40B4-BE49-F238E27FC236}">
                <a16:creationId xmlns:a16="http://schemas.microsoft.com/office/drawing/2014/main" id="{DC03B1CC-C125-4959-A2E3-24B110AE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2960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363B40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>
                <a:latin typeface="Arial"/>
                <a:ea typeface="Arial"/>
                <a:cs typeface="Arial"/>
              </a:defRPr>
            </a:pPr>
            <a:r>
              <a:rPr sz="2400"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66" name="Stepᵣ">
            <a:extLst xmlns:a="http://schemas.openxmlformats.org/drawingml/2006/main">
              <a:ext uri="{FF2B5EF4-FFF2-40B4-BE49-F238E27FC236}">
                <a16:creationId xmlns:a16="http://schemas.microsoft.com/office/drawing/2014/main" id="{6C05E0A9-9B6E-40ED-AB0D-2D03A377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067425"/>
            <a:ext cx="15144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13811">
            <a:solidFill>
              <a:srgbClr val="969DA3"/>
            </a:solidFill>
          </a:ln>
        </p:spPr>
        <p:txBody>
          <a:bodyPr xmlns:a="http://schemas.openxmlformats.org/drawingml/2006/main" wrap="non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Stepᵣ</a:t>
            </a:r>
          </a:p>
          <a:p xmlns:a="http://schemas.openxmlformats.org/drawingml/2006/main">
            <a:pPr algn="ctr"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chart-specific</a:t>
            </a:r>
          </a:p>
        </p:txBody>
      </p:sp>
      <p:sp>
        <p:nvSpPr>
          <p:cNvPr id="67" name="Pressure map">
            <a:extLst xmlns:a="http://schemas.openxmlformats.org/drawingml/2006/main">
              <a:ext uri="{FF2B5EF4-FFF2-40B4-BE49-F238E27FC236}">
                <a16:creationId xmlns:a16="http://schemas.microsoft.com/office/drawing/2014/main" id="{A606438F-7372-4E2F-AA8A-EADB059C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943600"/>
            <a:ext cx="2057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13811">
            <a:solidFill>
              <a:srgbClr val="638CAC"/>
            </a:solidFill>
          </a:ln>
        </p:spPr>
        <p:txBody>
          <a:bodyPr xmlns:a="http://schemas.openxmlformats.org/drawingml/2006/main" wrap="non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b="1"/>
              <a:t>Pressure map</a:t>
            </a:r>
          </a:p>
          <a:p xmlns:a="http://schemas.openxmlformats.org/drawingml/2006/main">
            <a:pPr algn="ctr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/>
              <a:t>algebraic</a:t>
            </a:r>
          </a:p>
          <a:p xmlns:a="http://schemas.openxmlformats.org/drawingml/2006/main">
            <a:pPr algn="ctr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75">
                <a:latin typeface="Cambria Math"/>
                <a:ea typeface="Cambria Math"/>
                <a:cs typeface="Cambria Math"/>
              </a:rPr>
              <a:t>γ ⊙ Qᴾᴾ + ρᵖ</a:t>
            </a:r>
          </a:p>
        </p:txBody>
      </p:sp>
      <p:sp>
        <p:nvSpPr>
          <p:cNvPr id="68" name="text-bₙ₊₁">
            <a:extLst xmlns:a="http://schemas.openxmlformats.org/drawingml/2006/main">
              <a:ext uri="{FF2B5EF4-FFF2-40B4-BE49-F238E27FC236}">
                <a16:creationId xmlns:a16="http://schemas.microsoft.com/office/drawing/2014/main" id="{A1D0B956-0E48-4F33-8821-7A015C3D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6238875"/>
            <a:ext cx="71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222222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222222"/>
                </a:solidFill>
                <a:latin typeface="Cambria Math"/>
                <a:ea typeface="Cambria Math"/>
                <a:cs typeface="Cambria Math"/>
              </a:rPr>
              <a:t>bₙ₊₁</a:t>
            </a:r>
          </a:p>
        </p:txBody>
      </p:sp>
      <p:cxnSp>
        <p:nvCxnSpPr>
          <p:cNvPr id="213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1209675" y="6496050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3B40"/>
            </a:solidFill>
            <a:prstDash val="solid"/>
            <a:tailEnd type="triangle" w="sm" len="sm"/>
          </a:ln>
        </p:spPr>
      </p:cxnSp>
      <p:cxnSp>
        <p:nvCxnSpPr>
          <p:cNvPr id="214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3095625" y="64960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3B40"/>
            </a:solidFill>
            <a:prstDash val="solid"/>
            <a:tailEnd type="triangle" w="sm" len="sm"/>
          </a:ln>
        </p:spPr>
      </p:cxnSp>
      <p:sp>
        <p:nvSpPr>
          <p:cNvPr id="71" name="shape-20">
            <a:extLst xmlns:a="http://schemas.openxmlformats.org/drawingml/2006/main">
              <a:ext uri="{FF2B5EF4-FFF2-40B4-BE49-F238E27FC236}">
                <a16:creationId xmlns:a16="http://schemas.microsoft.com/office/drawing/2014/main" id="{B64EFD70-B2F7-41C5-BE90-0AA1F7B9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498" y="6495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" name="shape-21">
            <a:extLst xmlns:a="http://schemas.openxmlformats.org/drawingml/2006/main">
              <a:ext uri="{FF2B5EF4-FFF2-40B4-BE49-F238E27FC236}">
                <a16:creationId xmlns:a16="http://schemas.microsoft.com/office/drawing/2014/main" id="{7BBF7F81-8B9D-49BD-8349-DF552769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9248" y="6495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7" name=""/>
          <p:cNvCxnSpPr>
            <a:stCxn xmlns:a="http://schemas.openxmlformats.org/drawingml/2006/main" id="71" idx="3"/>
            <a:endCxn xmlns:a="http://schemas.openxmlformats.org/drawingml/2006/main" id="72" idx="1"/>
          </p:cNvCxnSpPr>
          <p:nvPr/>
        </p:nvCxnSpPr>
        <p:spPr>
          <a:xfrm xmlns:a="http://schemas.openxmlformats.org/drawingml/2006/main">
            <a:off x="5125403" y="6496051"/>
            <a:ext cx="28384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3B40"/>
            </a:solidFill>
            <a:prstDash val="solid"/>
            <a:tailEnd type="none" w="sm" len="sm"/>
          </a:ln>
        </p:spPr>
      </p:cxnSp>
      <p:sp>
        <p:nvSpPr>
          <p:cNvPr id="74" name="shape-22">
            <a:extLst xmlns:a="http://schemas.openxmlformats.org/drawingml/2006/main">
              <a:ext uri="{FF2B5EF4-FFF2-40B4-BE49-F238E27FC236}">
                <a16:creationId xmlns:a16="http://schemas.microsoft.com/office/drawing/2014/main" id="{85E4D3D8-CDCB-4EB6-B779-A6CABDED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9248" y="6495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" name="shape-23">
            <a:extLst xmlns:a="http://schemas.openxmlformats.org/drawingml/2006/main">
              <a:ext uri="{FF2B5EF4-FFF2-40B4-BE49-F238E27FC236}">
                <a16:creationId xmlns:a16="http://schemas.microsoft.com/office/drawing/2014/main" id="{1235E01E-A28D-49B3-8659-B40C8C00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9248" y="5847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0" name=""/>
          <p:cNvCxnSpPr>
            <a:stCxn xmlns:a="http://schemas.openxmlformats.org/drawingml/2006/main" id="74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 flipH="1" flipV="1">
            <a:off x="5409248" y="5848351"/>
            <a:ext cx="1905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3B40"/>
            </a:solidFill>
            <a:prstDash val="solid"/>
            <a:tailEnd type="none" w="sm" len="sm"/>
          </a:ln>
        </p:spPr>
      </p:cxnSp>
      <p:sp>
        <p:nvSpPr>
          <p:cNvPr id="77" name="shape-24">
            <a:extLst xmlns:a="http://schemas.openxmlformats.org/drawingml/2006/main">
              <a:ext uri="{FF2B5EF4-FFF2-40B4-BE49-F238E27FC236}">
                <a16:creationId xmlns:a16="http://schemas.microsoft.com/office/drawing/2014/main" id="{5CE533DA-9DC1-463E-9D11-9417B922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9248" y="5847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8" name="shape-25">
            <a:extLst xmlns:a="http://schemas.openxmlformats.org/drawingml/2006/main">
              <a:ext uri="{FF2B5EF4-FFF2-40B4-BE49-F238E27FC236}">
                <a16:creationId xmlns:a16="http://schemas.microsoft.com/office/drawing/2014/main" id="{9D47E600-66DC-44EE-B5C4-8E748606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098" y="5847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3" name=""/>
          <p:cNvCxnSpPr>
            <a:stCxn xmlns:a="http://schemas.openxmlformats.org/drawingml/2006/main" id="77" idx="3"/>
            <a:endCxn xmlns:a="http://schemas.openxmlformats.org/drawingml/2006/main" id="78" idx="1"/>
          </p:cNvCxnSpPr>
          <p:nvPr/>
        </p:nvCxnSpPr>
        <p:spPr>
          <a:xfrm xmlns:a="http://schemas.openxmlformats.org/drawingml/2006/main">
            <a:off x="5411153" y="5848351"/>
            <a:ext cx="32194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3B40"/>
            </a:solidFill>
            <a:prstDash val="solid"/>
            <a:tailEnd type="triangle" w="sm" len="sm"/>
          </a:ln>
        </p:spPr>
      </p:cxnSp>
      <p:sp>
        <p:nvSpPr>
          <p:cNvPr id="80" name="shape-26">
            <a:extLst xmlns:a="http://schemas.openxmlformats.org/drawingml/2006/main">
              <a:ext uri="{FF2B5EF4-FFF2-40B4-BE49-F238E27FC236}">
                <a16:creationId xmlns:a16="http://schemas.microsoft.com/office/drawing/2014/main" id="{B2F7AA26-DFFF-40E7-9504-76AFE0A6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9248" y="6495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1" name="shape-27">
            <a:extLst xmlns:a="http://schemas.openxmlformats.org/drawingml/2006/main">
              <a:ext uri="{FF2B5EF4-FFF2-40B4-BE49-F238E27FC236}">
                <a16:creationId xmlns:a16="http://schemas.microsoft.com/office/drawing/2014/main" id="{B12E3470-FD5D-4D51-BBA4-9200EB7B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9248" y="7199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6" name=""/>
          <p:cNvCxnSpPr>
            <a:stCxn xmlns:a="http://schemas.openxmlformats.org/drawingml/2006/main" id="80" idx="3"/>
            <a:endCxn xmlns:a="http://schemas.openxmlformats.org/drawingml/2006/main" id="81" idx="1"/>
          </p:cNvCxnSpPr>
          <p:nvPr/>
        </p:nvCxnSpPr>
        <p:spPr>
          <a:xfrm xmlns:a="http://schemas.openxmlformats.org/drawingml/2006/main" flipH="1">
            <a:off x="5409248" y="6496051"/>
            <a:ext cx="1905" cy="704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3B40"/>
            </a:solidFill>
            <a:prstDash val="solid"/>
            <a:tailEnd type="none" w="sm" len="sm"/>
          </a:ln>
        </p:spPr>
      </p:cxnSp>
      <p:sp>
        <p:nvSpPr>
          <p:cNvPr id="83" name="shape-28">
            <a:extLst xmlns:a="http://schemas.openxmlformats.org/drawingml/2006/main">
              <a:ext uri="{FF2B5EF4-FFF2-40B4-BE49-F238E27FC236}">
                <a16:creationId xmlns:a16="http://schemas.microsoft.com/office/drawing/2014/main" id="{FC2FD75A-15DD-47EE-837F-1CC6A74D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9248" y="7199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4" name="shape-29">
            <a:extLst xmlns:a="http://schemas.openxmlformats.org/drawingml/2006/main">
              <a:ext uri="{FF2B5EF4-FFF2-40B4-BE49-F238E27FC236}">
                <a16:creationId xmlns:a16="http://schemas.microsoft.com/office/drawing/2014/main" id="{659E8F79-DDFE-4271-BB9E-B69BFF6D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098" y="7199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9" name=""/>
          <p:cNvCxnSpPr>
            <a:stCxn xmlns:a="http://schemas.openxmlformats.org/drawingml/2006/main" id="83" idx="3"/>
            <a:endCxn xmlns:a="http://schemas.openxmlformats.org/drawingml/2006/main" id="84" idx="1"/>
          </p:cNvCxnSpPr>
          <p:nvPr/>
        </p:nvCxnSpPr>
        <p:spPr>
          <a:xfrm xmlns:a="http://schemas.openxmlformats.org/drawingml/2006/main">
            <a:off x="5411153" y="7200901"/>
            <a:ext cx="32194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3B40"/>
            </a:solidFill>
            <a:prstDash val="solid"/>
            <a:tailEnd type="triangle" w="sm" len="sm"/>
          </a:ln>
        </p:spPr>
      </p:cxnSp>
      <p:sp>
        <p:nvSpPr>
          <p:cNvPr id="86" name="shape-30">
            <a:extLst xmlns:a="http://schemas.openxmlformats.org/drawingml/2006/main">
              <a:ext uri="{FF2B5EF4-FFF2-40B4-BE49-F238E27FC236}">
                <a16:creationId xmlns:a16="http://schemas.microsoft.com/office/drawing/2014/main" id="{858130D2-AA6D-4934-8E95-0334DEDA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698" y="5847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7" name="shape-31">
            <a:extLst xmlns:a="http://schemas.openxmlformats.org/drawingml/2006/main">
              <a:ext uri="{FF2B5EF4-FFF2-40B4-BE49-F238E27FC236}">
                <a16:creationId xmlns:a16="http://schemas.microsoft.com/office/drawing/2014/main" id="{8BB64AB6-604E-461B-AA5F-880F1DCF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2073" y="5847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2" name=""/>
          <p:cNvCxnSpPr>
            <a:stCxn xmlns:a="http://schemas.openxmlformats.org/drawingml/2006/main" id="86" idx="3"/>
            <a:endCxn xmlns:a="http://schemas.openxmlformats.org/drawingml/2006/main" id="87" idx="1"/>
          </p:cNvCxnSpPr>
          <p:nvPr/>
        </p:nvCxnSpPr>
        <p:spPr>
          <a:xfrm xmlns:a="http://schemas.openxmlformats.org/drawingml/2006/main">
            <a:off x="8249603" y="5848351"/>
            <a:ext cx="71247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3B40"/>
            </a:solidFill>
            <a:prstDash val="solid"/>
            <a:tailEnd type="none" w="sm" len="sm"/>
          </a:ln>
        </p:spPr>
      </p:cxnSp>
      <p:sp>
        <p:nvSpPr>
          <p:cNvPr id="89" name="shape-32">
            <a:extLst xmlns:a="http://schemas.openxmlformats.org/drawingml/2006/main">
              <a:ext uri="{FF2B5EF4-FFF2-40B4-BE49-F238E27FC236}">
                <a16:creationId xmlns:a16="http://schemas.microsoft.com/office/drawing/2014/main" id="{76ADD887-1A1F-402F-921F-C3749799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2073" y="5847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0" name="shape-33">
            <a:extLst xmlns:a="http://schemas.openxmlformats.org/drawingml/2006/main">
              <a:ext uri="{FF2B5EF4-FFF2-40B4-BE49-F238E27FC236}">
                <a16:creationId xmlns:a16="http://schemas.microsoft.com/office/drawing/2014/main" id="{2F7CF842-E7F6-4ADA-ADFC-0744475A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2073" y="62950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5" name=""/>
          <p:cNvCxnSpPr>
            <a:stCxn xmlns:a="http://schemas.openxmlformats.org/drawingml/2006/main" id="89" idx="3"/>
            <a:endCxn xmlns:a="http://schemas.openxmlformats.org/drawingml/2006/main" id="90" idx="1"/>
          </p:cNvCxnSpPr>
          <p:nvPr/>
        </p:nvCxnSpPr>
        <p:spPr>
          <a:xfrm xmlns:a="http://schemas.openxmlformats.org/drawingml/2006/main" flipH="1">
            <a:off x="8962073" y="5848351"/>
            <a:ext cx="1905" cy="447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3B40"/>
            </a:solidFill>
            <a:prstDash val="solid"/>
            <a:tailEnd type="triangle" w="sm" len="sm"/>
          </a:ln>
        </p:spPr>
      </p:cxnSp>
      <p:sp>
        <p:nvSpPr>
          <p:cNvPr id="92" name="shape-34">
            <a:extLst xmlns:a="http://schemas.openxmlformats.org/drawingml/2006/main">
              <a:ext uri="{FF2B5EF4-FFF2-40B4-BE49-F238E27FC236}">
                <a16:creationId xmlns:a16="http://schemas.microsoft.com/office/drawing/2014/main" id="{20DC4AC6-CB56-4BEB-AD09-A1C464AF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698" y="7199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3" name="shape-35">
            <a:extLst xmlns:a="http://schemas.openxmlformats.org/drawingml/2006/main">
              <a:ext uri="{FF2B5EF4-FFF2-40B4-BE49-F238E27FC236}">
                <a16:creationId xmlns:a16="http://schemas.microsoft.com/office/drawing/2014/main" id="{82A2371D-410B-49C7-ABE3-DC5516BE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2073" y="7199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8" name=""/>
          <p:cNvCxnSpPr>
            <a:stCxn xmlns:a="http://schemas.openxmlformats.org/drawingml/2006/main" id="92" idx="3"/>
            <a:endCxn xmlns:a="http://schemas.openxmlformats.org/drawingml/2006/main" id="93" idx="1"/>
          </p:cNvCxnSpPr>
          <p:nvPr/>
        </p:nvCxnSpPr>
        <p:spPr>
          <a:xfrm xmlns:a="http://schemas.openxmlformats.org/drawingml/2006/main">
            <a:off x="8249603" y="7200901"/>
            <a:ext cx="71247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3B40"/>
            </a:solidFill>
            <a:prstDash val="solid"/>
            <a:tailEnd type="none" w="sm" len="sm"/>
          </a:ln>
        </p:spPr>
      </p:cxnSp>
      <p:sp>
        <p:nvSpPr>
          <p:cNvPr id="95" name="shape-36">
            <a:extLst xmlns:a="http://schemas.openxmlformats.org/drawingml/2006/main">
              <a:ext uri="{FF2B5EF4-FFF2-40B4-BE49-F238E27FC236}">
                <a16:creationId xmlns:a16="http://schemas.microsoft.com/office/drawing/2014/main" id="{20942BFF-1159-4FBB-B073-0542A070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2073" y="7199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6" name="shape-37">
            <a:extLst xmlns:a="http://schemas.openxmlformats.org/drawingml/2006/main">
              <a:ext uri="{FF2B5EF4-FFF2-40B4-BE49-F238E27FC236}">
                <a16:creationId xmlns:a16="http://schemas.microsoft.com/office/drawing/2014/main" id="{BD1F0B3C-E977-4F90-8F24-70EF9D41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2073" y="6695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1" name=""/>
          <p:cNvCxnSpPr>
            <a:stCxn xmlns:a="http://schemas.openxmlformats.org/drawingml/2006/main" id="95" idx="3"/>
            <a:endCxn xmlns:a="http://schemas.openxmlformats.org/drawingml/2006/main" id="96" idx="1"/>
          </p:cNvCxnSpPr>
          <p:nvPr/>
        </p:nvCxnSpPr>
        <p:spPr>
          <a:xfrm xmlns:a="http://schemas.openxmlformats.org/drawingml/2006/main" flipH="1" flipV="1">
            <a:off x="8962073" y="6696076"/>
            <a:ext cx="1905" cy="504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3B40"/>
            </a:solidFill>
            <a:prstDash val="solid"/>
            <a:tailEnd type="triangle" w="sm" len="sm"/>
          </a:ln>
        </p:spPr>
      </p:cxnSp>
      <p:cxnSp>
        <p:nvCxnSpPr>
          <p:cNvPr id="242" name=""/>
          <p:cNvCxnSpPr>
            <a:stCxn xmlns:a="http://schemas.openxmlformats.org/drawingml/2006/main" id="65" idx="6"/>
            <a:endCxn xmlns:a="http://schemas.openxmlformats.org/drawingml/2006/main" id="66" idx="1"/>
          </p:cNvCxnSpPr>
          <p:nvPr/>
        </p:nvCxnSpPr>
        <p:spPr>
          <a:xfrm xmlns:a="http://schemas.openxmlformats.org/drawingml/2006/main" flipV="1">
            <a:off x="9163050" y="6486525"/>
            <a:ext cx="4572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3B40"/>
            </a:solidFill>
            <a:prstDash val="solid"/>
            <a:tailEnd type="triangle" w="sm" len="sm"/>
          </a:ln>
        </p:spPr>
      </p:cxnSp>
      <p:cxnSp>
        <p:nvCxnSpPr>
          <p:cNvPr id="243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11134725" y="6486525"/>
            <a:ext cx="1057275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3B40"/>
            </a:solidFill>
            <a:prstDash val="solid"/>
            <a:tailEnd type="triangle" w="sm" len="sm"/>
          </a:ln>
        </p:spPr>
      </p:cxnSp>
      <p:cxnSp>
        <p:nvCxnSpPr>
          <p:cNvPr id="244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14249400" y="649605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3B40"/>
            </a:solidFill>
            <a:prstDash val="solid"/>
            <a:tailEnd type="triangle" w="sm" len="sm"/>
          </a:ln>
        </p:spPr>
      </p:cxnSp>
      <p:sp>
        <p:nvSpPr>
          <p:cNvPr id="101" name="text-ȧ">
            <a:extLst xmlns:a="http://schemas.openxmlformats.org/drawingml/2006/main">
              <a:ext uri="{FF2B5EF4-FFF2-40B4-BE49-F238E27FC236}">
                <a16:creationId xmlns:a16="http://schemas.microsoft.com/office/drawing/2014/main" id="{2BAE6828-9CC8-46F4-8E11-95BC4605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610225"/>
            <a:ext cx="83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222222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222222"/>
                </a:solidFill>
                <a:latin typeface="Cambria Math"/>
                <a:ea typeface="Cambria Math"/>
                <a:cs typeface="Cambria Math"/>
              </a:rPr>
              <a:t>ȧ</a:t>
            </a:r>
          </a:p>
        </p:txBody>
      </p:sp>
      <p:sp>
        <p:nvSpPr>
          <p:cNvPr id="102" name="text-aₙ₊₁">
            <a:extLst xmlns:a="http://schemas.openxmlformats.org/drawingml/2006/main">
              <a:ext uri="{FF2B5EF4-FFF2-40B4-BE49-F238E27FC236}">
                <a16:creationId xmlns:a16="http://schemas.microsoft.com/office/drawing/2014/main" id="{063774B5-15C5-4C41-926F-A6F7AEA8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086475"/>
            <a:ext cx="1009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222222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222222"/>
                </a:solidFill>
                <a:latin typeface="Cambria Math"/>
                <a:ea typeface="Cambria Math"/>
                <a:cs typeface="Cambria Math"/>
              </a:rPr>
              <a:t>aₙ₊₁</a:t>
            </a:r>
          </a:p>
        </p:txBody>
      </p:sp>
      <p:sp>
        <p:nvSpPr>
          <p:cNvPr id="103" name="text-Velocity update">
            <a:extLst xmlns:a="http://schemas.openxmlformats.org/drawingml/2006/main">
              <a:ext uri="{FF2B5EF4-FFF2-40B4-BE49-F238E27FC236}">
                <a16:creationId xmlns:a16="http://schemas.microsoft.com/office/drawing/2014/main" id="{1F86D500-F5B9-4312-B47C-13994C39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7181850"/>
            <a:ext cx="2276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Velocity update</a:t>
            </a:r>
          </a:p>
        </p:txBody>
      </p:sp>
      <p:sp>
        <p:nvSpPr>
          <p:cNvPr id="104" name="text-Pressure reconstruction">
            <a:extLst xmlns:a="http://schemas.openxmlformats.org/drawingml/2006/main">
              <a:ext uri="{FF2B5EF4-FFF2-40B4-BE49-F238E27FC236}">
                <a16:creationId xmlns:a16="http://schemas.microsoft.com/office/drawing/2014/main" id="{3FE4F94A-F07D-4009-85A8-57CF2033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1818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Pressure reconstruction</a:t>
            </a:r>
          </a:p>
        </p:txBody>
      </p:sp>
      <p:sp>
        <p:nvSpPr>
          <p:cNvPr id="105" name="Sparse-MoE detail inset">
            <a:extLst xmlns:a="http://schemas.openxmlformats.org/drawingml/2006/main">
              <a:ext uri="{FF2B5EF4-FFF2-40B4-BE49-F238E27FC236}">
                <a16:creationId xmlns:a16="http://schemas.microsoft.com/office/drawing/2014/main" id="{3C1B4933-9633-48CC-8718-55DF0FF8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7896225"/>
            <a:ext cx="65722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6"/>
          </a:solidFill>
          <a:ln xmlns:a="http://schemas.openxmlformats.org/drawingml/2006/main" w="9525">
            <a:solidFill>
              <a:srgbClr val="DDA271"/>
            </a:solidFill>
          </a:ln>
        </p:spPr>
      </p:sp>
      <p:sp>
        <p:nvSpPr>
          <p:cNvPr id="106" name="shape-38">
            <a:extLst xmlns:a="http://schemas.openxmlformats.org/drawingml/2006/main">
              <a:ext uri="{FF2B5EF4-FFF2-40B4-BE49-F238E27FC236}">
                <a16:creationId xmlns:a16="http://schemas.microsoft.com/office/drawing/2014/main" id="{82E642D4-03AE-4932-A152-F2BE9842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6923" y="7571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" name="shape-39">
            <a:extLst xmlns:a="http://schemas.openxmlformats.org/drawingml/2006/main">
              <a:ext uri="{FF2B5EF4-FFF2-40B4-BE49-F238E27FC236}">
                <a16:creationId xmlns:a16="http://schemas.microsoft.com/office/drawing/2014/main" id="{B1139816-8309-4E5E-AF62-7B5FCF9C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048" y="7895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2" name=""/>
          <p:cNvCxnSpPr>
            <a:stCxn xmlns:a="http://schemas.openxmlformats.org/drawingml/2006/main" id="106" idx="3"/>
            <a:endCxn xmlns:a="http://schemas.openxmlformats.org/drawingml/2006/main" id="107" idx="1"/>
          </p:cNvCxnSpPr>
          <p:nvPr/>
        </p:nvCxnSpPr>
        <p:spPr>
          <a:xfrm xmlns:a="http://schemas.openxmlformats.org/drawingml/2006/main" flipH="1">
            <a:off x="4571048" y="7572376"/>
            <a:ext cx="128778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363B40"/>
            </a:solidFill>
            <a:prstDash val="dash"/>
            <a:tailEnd type="none" w="sm" len="sm"/>
          </a:ln>
        </p:spPr>
      </p:cxnSp>
      <p:sp>
        <p:nvSpPr>
          <p:cNvPr id="109" name="shape-40">
            <a:extLst xmlns:a="http://schemas.openxmlformats.org/drawingml/2006/main">
              <a:ext uri="{FF2B5EF4-FFF2-40B4-BE49-F238E27FC236}">
                <a16:creationId xmlns:a16="http://schemas.microsoft.com/office/drawing/2014/main" id="{1CB556A4-ED0F-43C2-8126-8E82D413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4348" y="7571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shape-41">
            <a:extLst xmlns:a="http://schemas.openxmlformats.org/drawingml/2006/main">
              <a:ext uri="{FF2B5EF4-FFF2-40B4-BE49-F238E27FC236}">
                <a16:creationId xmlns:a16="http://schemas.microsoft.com/office/drawing/2014/main" id="{02117BB4-55FA-4EAB-9193-B4AE6B5C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4548" y="7895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5" name=""/>
          <p:cNvCxnSpPr>
            <a:stCxn xmlns:a="http://schemas.openxmlformats.org/drawingml/2006/main" id="109" idx="3"/>
            <a:endCxn xmlns:a="http://schemas.openxmlformats.org/drawingml/2006/main" id="110" idx="1"/>
          </p:cNvCxnSpPr>
          <p:nvPr/>
        </p:nvCxnSpPr>
        <p:spPr>
          <a:xfrm xmlns:a="http://schemas.openxmlformats.org/drawingml/2006/main">
            <a:off x="8116253" y="7572376"/>
            <a:ext cx="1598295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363B40"/>
            </a:solidFill>
            <a:prstDash val="dash"/>
            <a:tailEnd type="none" w="sm" len="sm"/>
          </a:ln>
        </p:spPr>
      </p:cxnSp>
      <p:sp>
        <p:nvSpPr>
          <p:cNvPr id="112" name="text-ξₙ">
            <a:extLst xmlns:a="http://schemas.openxmlformats.org/drawingml/2006/main">
              <a:ext uri="{FF2B5EF4-FFF2-40B4-BE49-F238E27FC236}">
                <a16:creationId xmlns:a16="http://schemas.microsoft.com/office/drawing/2014/main" id="{9E368126-57C3-47F5-B274-32708A77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8429625"/>
            <a:ext cx="533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222222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>
                <a:solidFill>
                  <a:srgbClr val="222222"/>
                </a:solidFill>
                <a:latin typeface="Cambria Math"/>
                <a:ea typeface="Cambria Math"/>
                <a:cs typeface="Cambria Math"/>
              </a:rPr>
              <a:t>ξₙ</a:t>
            </a:r>
          </a:p>
        </p:txBody>
      </p:sp>
      <p:sp>
        <p:nvSpPr>
          <p:cNvPr id="113" name="Group Top-1">
            <a:extLst xmlns:a="http://schemas.openxmlformats.org/drawingml/2006/main">
              <a:ext uri="{FF2B5EF4-FFF2-40B4-BE49-F238E27FC236}">
                <a16:creationId xmlns:a16="http://schemas.microsoft.com/office/drawing/2014/main" id="{D6502A36-72D5-4581-A5EB-0C7E4534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8448675"/>
            <a:ext cx="18002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8"/>
          </a:solidFill>
          <a:ln xmlns:a="http://schemas.openxmlformats.org/drawingml/2006/main" w="13811">
            <a:solidFill>
              <a:srgbClr val="9475AD"/>
            </a:solidFill>
          </a:ln>
        </p:spPr>
        <p:txBody>
          <a:bodyPr xmlns:a="http://schemas.openxmlformats.org/drawingml/2006/main" wrap="non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Group Top-1</a:t>
            </a:r>
          </a:p>
          <a:p xmlns:a="http://schemas.openxmlformats.org/drawingml/2006/main">
            <a:pPr algn="ctr"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channel Top-2</a:t>
            </a:r>
          </a:p>
        </p:txBody>
      </p:sp>
      <p:sp>
        <p:nvSpPr>
          <p:cNvPr id="114" name="Shared expert  E₀">
            <a:extLst xmlns:a="http://schemas.openxmlformats.org/drawingml/2006/main">
              <a:ext uri="{FF2B5EF4-FFF2-40B4-BE49-F238E27FC236}">
                <a16:creationId xmlns:a16="http://schemas.microsoft.com/office/drawing/2014/main" id="{64A603E1-E74A-41E1-BBB5-599E58EA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8010525"/>
            <a:ext cx="19907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9"/>
          </a:solidFill>
          <a:ln xmlns:a="http://schemas.openxmlformats.org/drawingml/2006/main" w="13811">
            <a:solidFill>
              <a:srgbClr val="D88C53"/>
            </a:solidFill>
          </a:ln>
        </p:spPr>
        <p:txBody>
          <a:bodyPr xmlns:a="http://schemas.openxmlformats.org/drawingml/2006/main" wrap="non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Shared expert  E₀</a:t>
            </a:r>
          </a:p>
        </p:txBody>
      </p:sp>
      <p:sp>
        <p:nvSpPr>
          <p:cNvPr id="115" name="Top-2  Eₑ₁, Eₑ₂">
            <a:extLst xmlns:a="http://schemas.openxmlformats.org/drawingml/2006/main">
              <a:ext uri="{FF2B5EF4-FFF2-40B4-BE49-F238E27FC236}">
                <a16:creationId xmlns:a16="http://schemas.microsoft.com/office/drawing/2014/main" id="{741345B5-0D46-47AF-BA52-593AE94C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8686800"/>
            <a:ext cx="19907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9"/>
          </a:solidFill>
          <a:ln xmlns:a="http://schemas.openxmlformats.org/drawingml/2006/main" w="13811">
            <a:solidFill>
              <a:srgbClr val="D88C53"/>
            </a:solidFill>
          </a:ln>
        </p:spPr>
        <p:txBody>
          <a:bodyPr xmlns:a="http://schemas.openxmlformats.org/drawingml/2006/main" wrap="non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Top-2  Eₑ₁, Eₑ₂</a:t>
            </a:r>
          </a:p>
        </p:txBody>
      </p:sp>
      <p:sp>
        <p:nvSpPr>
          <p:cNvPr id="116" name="sum-Σ">
            <a:extLst xmlns:a="http://schemas.openxmlformats.org/drawingml/2006/main">
              <a:ext uri="{FF2B5EF4-FFF2-40B4-BE49-F238E27FC236}">
                <a16:creationId xmlns:a16="http://schemas.microsoft.com/office/drawing/2014/main" id="{4D0F1586-3EAA-4D17-B700-D8E9EFDF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84201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363B40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>
                <a:latin typeface="Arial"/>
                <a:ea typeface="Arial"/>
                <a:cs typeface="Arial"/>
              </a:defRPr>
            </a:pPr>
            <a:r>
              <a:rPr sz="2400">
                <a:latin typeface="Arial"/>
                <a:ea typeface="Arial"/>
                <a:cs typeface="Arial"/>
              </a:rPr>
              <a:t>Σ</a:t>
            </a:r>
          </a:p>
        </p:txBody>
      </p:sp>
      <p:sp>
        <p:nvSpPr>
          <p:cNvPr id="117" name="shape-42">
            <a:extLst xmlns:a="http://schemas.openxmlformats.org/drawingml/2006/main">
              <a:ext uri="{FF2B5EF4-FFF2-40B4-BE49-F238E27FC236}">
                <a16:creationId xmlns:a16="http://schemas.microsoft.com/office/drawing/2014/main" id="{BFB71DE8-D4C5-4891-8EBC-BB27023F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5748" y="86477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8" name="shape-43">
            <a:extLst xmlns:a="http://schemas.openxmlformats.org/drawingml/2006/main">
              <a:ext uri="{FF2B5EF4-FFF2-40B4-BE49-F238E27FC236}">
                <a16:creationId xmlns:a16="http://schemas.microsoft.com/office/drawing/2014/main" id="{FEE918D7-E079-438B-81DE-634EA97B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998" y="86477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3" name=""/>
          <p:cNvCxnSpPr>
            <a:stCxn xmlns:a="http://schemas.openxmlformats.org/drawingml/2006/main" id="117" idx="3"/>
            <a:endCxn xmlns:a="http://schemas.openxmlformats.org/drawingml/2006/main" id="118" idx="1"/>
          </p:cNvCxnSpPr>
          <p:nvPr/>
        </p:nvCxnSpPr>
        <p:spPr>
          <a:xfrm xmlns:a="http://schemas.openxmlformats.org/drawingml/2006/main">
            <a:off x="4077653" y="8648701"/>
            <a:ext cx="93345" cy="0"/>
          </a:xfrm>
          <a:prstGeom xmlns:a="http://schemas.openxmlformats.org/drawingml/2006/main" prst="straightConnector1">
            <a:avLst/>
          </a:prstGeom>
          <a:ln xmlns:a="http://schemas.openxmlformats.org/drawingml/2006/main" w="15716">
            <a:solidFill>
              <a:srgbClr val="363B40"/>
            </a:solidFill>
            <a:prstDash val="solid"/>
            <a:tailEnd type="none" w="sm" len="sm"/>
          </a:ln>
        </p:spPr>
      </p:cxnSp>
      <p:sp>
        <p:nvSpPr>
          <p:cNvPr id="120" name="shape-44">
            <a:extLst xmlns:a="http://schemas.openxmlformats.org/drawingml/2006/main">
              <a:ext uri="{FF2B5EF4-FFF2-40B4-BE49-F238E27FC236}">
                <a16:creationId xmlns:a16="http://schemas.microsoft.com/office/drawing/2014/main" id="{B9D29C21-4F74-4645-8775-7C5E4B1C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998" y="86477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shape-45">
            <a:extLst xmlns:a="http://schemas.openxmlformats.org/drawingml/2006/main">
              <a:ext uri="{FF2B5EF4-FFF2-40B4-BE49-F238E27FC236}">
                <a16:creationId xmlns:a16="http://schemas.microsoft.com/office/drawing/2014/main" id="{529D8325-D94E-4263-8FA7-80E770F3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998" y="8219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6" name=""/>
          <p:cNvCxnSpPr>
            <a:stCxn xmlns:a="http://schemas.openxmlformats.org/drawingml/2006/main" id="120" idx="3"/>
            <a:endCxn xmlns:a="http://schemas.openxmlformats.org/drawingml/2006/main" id="121" idx="1"/>
          </p:cNvCxnSpPr>
          <p:nvPr/>
        </p:nvCxnSpPr>
        <p:spPr>
          <a:xfrm xmlns:a="http://schemas.openxmlformats.org/drawingml/2006/main" flipH="1" flipV="1">
            <a:off x="4170998" y="8220076"/>
            <a:ext cx="1905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5716">
            <a:solidFill>
              <a:srgbClr val="363B40"/>
            </a:solidFill>
            <a:prstDash val="solid"/>
            <a:tailEnd type="none" w="sm" len="sm"/>
          </a:ln>
        </p:spPr>
      </p:cxnSp>
      <p:sp>
        <p:nvSpPr>
          <p:cNvPr id="123" name="shape-46">
            <a:extLst xmlns:a="http://schemas.openxmlformats.org/drawingml/2006/main">
              <a:ext uri="{FF2B5EF4-FFF2-40B4-BE49-F238E27FC236}">
                <a16:creationId xmlns:a16="http://schemas.microsoft.com/office/drawing/2014/main" id="{B82CF0DF-623B-43F2-873A-826D909A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998" y="8219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4" name="shape-47">
            <a:extLst xmlns:a="http://schemas.openxmlformats.org/drawingml/2006/main">
              <a:ext uri="{FF2B5EF4-FFF2-40B4-BE49-F238E27FC236}">
                <a16:creationId xmlns:a16="http://schemas.microsoft.com/office/drawing/2014/main" id="{E652E916-E8CE-451F-95B0-F1AEE345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773" y="8219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9" name=""/>
          <p:cNvCxnSpPr>
            <a:stCxn xmlns:a="http://schemas.openxmlformats.org/drawingml/2006/main" id="123" idx="3"/>
            <a:endCxn xmlns:a="http://schemas.openxmlformats.org/drawingml/2006/main" id="124" idx="1"/>
          </p:cNvCxnSpPr>
          <p:nvPr/>
        </p:nvCxnSpPr>
        <p:spPr>
          <a:xfrm xmlns:a="http://schemas.openxmlformats.org/drawingml/2006/main">
            <a:off x="4172903" y="8220076"/>
            <a:ext cx="2388870" cy="0"/>
          </a:xfrm>
          <a:prstGeom xmlns:a="http://schemas.openxmlformats.org/drawingml/2006/main" prst="straightConnector1">
            <a:avLst/>
          </a:prstGeom>
          <a:ln xmlns:a="http://schemas.openxmlformats.org/drawingml/2006/main" w="15716">
            <a:solidFill>
              <a:srgbClr val="363B40"/>
            </a:solidFill>
            <a:prstDash val="solid"/>
            <a:tailEnd type="triangle" w="sm" len="sm"/>
          </a:ln>
        </p:spPr>
      </p:cxnSp>
      <p:cxnSp>
        <p:nvCxnSpPr>
          <p:cNvPr id="270" name=""/>
          <p:cNvCxnSpPr>
            <a:stCxn xmlns:a="http://schemas.openxmlformats.org/drawingml/2006/main" id="112" idx="3"/>
            <a:endCxn xmlns:a="http://schemas.openxmlformats.org/drawingml/2006/main" id="113" idx="1"/>
          </p:cNvCxnSpPr>
          <p:nvPr/>
        </p:nvCxnSpPr>
        <p:spPr>
          <a:xfrm xmlns:a="http://schemas.openxmlformats.org/drawingml/2006/main">
            <a:off x="4105275" y="8648700"/>
            <a:ext cx="200025" cy="123825"/>
          </a:xfrm>
          <a:prstGeom xmlns:a="http://schemas.openxmlformats.org/drawingml/2006/main" prst="straightConnector1">
            <a:avLst/>
          </a:prstGeom>
          <a:ln xmlns:a="http://schemas.openxmlformats.org/drawingml/2006/main" w="15716">
            <a:solidFill>
              <a:srgbClr val="363B40"/>
            </a:solidFill>
            <a:prstDash val="solid"/>
            <a:tailEnd type="triangle" w="sm" len="sm"/>
          </a:ln>
        </p:spPr>
      </p:cxnSp>
      <p:cxnSp>
        <p:nvCxnSpPr>
          <p:cNvPr id="271" name=""/>
          <p:cNvCxnSpPr>
            <a:stCxn xmlns:a="http://schemas.openxmlformats.org/drawingml/2006/main" id="113" idx="3"/>
            <a:endCxn xmlns:a="http://schemas.openxmlformats.org/drawingml/2006/main" id="115" idx="1"/>
          </p:cNvCxnSpPr>
          <p:nvPr/>
        </p:nvCxnSpPr>
        <p:spPr>
          <a:xfrm xmlns:a="http://schemas.openxmlformats.org/drawingml/2006/main">
            <a:off x="6105525" y="8772525"/>
            <a:ext cx="457200" cy="1285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716">
            <a:solidFill>
              <a:srgbClr val="363B40"/>
            </a:solidFill>
            <a:prstDash val="solid"/>
            <a:tailEnd type="triangle" w="sm" len="sm"/>
          </a:ln>
        </p:spPr>
      </p:cxnSp>
      <p:sp>
        <p:nvSpPr>
          <p:cNvPr id="128" name="shape-48">
            <a:extLst xmlns:a="http://schemas.openxmlformats.org/drawingml/2006/main">
              <a:ext uri="{FF2B5EF4-FFF2-40B4-BE49-F238E27FC236}">
                <a16:creationId xmlns:a16="http://schemas.microsoft.com/office/drawing/2014/main" id="{6EB9BC84-51E2-48B9-A6AF-7584AA8D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2498" y="82286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9" name="shape-49">
            <a:extLst xmlns:a="http://schemas.openxmlformats.org/drawingml/2006/main">
              <a:ext uri="{FF2B5EF4-FFF2-40B4-BE49-F238E27FC236}">
                <a16:creationId xmlns:a16="http://schemas.microsoft.com/office/drawing/2014/main" id="{9945A55C-081A-4433-B856-0723F2BB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9698" y="82286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4" name=""/>
          <p:cNvCxnSpPr>
            <a:stCxn xmlns:a="http://schemas.openxmlformats.org/drawingml/2006/main" id="128" idx="3"/>
            <a:endCxn xmlns:a="http://schemas.openxmlformats.org/drawingml/2006/main" id="129" idx="1"/>
          </p:cNvCxnSpPr>
          <p:nvPr/>
        </p:nvCxnSpPr>
        <p:spPr>
          <a:xfrm xmlns:a="http://schemas.openxmlformats.org/drawingml/2006/main">
            <a:off x="8554403" y="8229601"/>
            <a:ext cx="455295" cy="0"/>
          </a:xfrm>
          <a:prstGeom xmlns:a="http://schemas.openxmlformats.org/drawingml/2006/main" prst="straightConnector1">
            <a:avLst/>
          </a:prstGeom>
          <a:ln xmlns:a="http://schemas.openxmlformats.org/drawingml/2006/main" w="15716">
            <a:solidFill>
              <a:srgbClr val="363B40"/>
            </a:solidFill>
            <a:prstDash val="solid"/>
            <a:tailEnd type="none" w="sm" len="sm"/>
          </a:ln>
        </p:spPr>
      </p:cxnSp>
      <p:sp>
        <p:nvSpPr>
          <p:cNvPr id="131" name="shape-50">
            <a:extLst xmlns:a="http://schemas.openxmlformats.org/drawingml/2006/main">
              <a:ext uri="{FF2B5EF4-FFF2-40B4-BE49-F238E27FC236}">
                <a16:creationId xmlns:a16="http://schemas.microsoft.com/office/drawing/2014/main" id="{D16AA24C-B0D6-4D6F-9AF9-5FB3B2C5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9698" y="82286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2" name="shape-51">
            <a:extLst xmlns:a="http://schemas.openxmlformats.org/drawingml/2006/main">
              <a:ext uri="{FF2B5EF4-FFF2-40B4-BE49-F238E27FC236}">
                <a16:creationId xmlns:a16="http://schemas.microsoft.com/office/drawing/2014/main" id="{DA0C1493-0D69-40A3-9102-55290517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9698" y="86096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7" name=""/>
          <p:cNvCxnSpPr>
            <a:stCxn xmlns:a="http://schemas.openxmlformats.org/drawingml/2006/main" id="131" idx="3"/>
            <a:endCxn xmlns:a="http://schemas.openxmlformats.org/drawingml/2006/main" id="132" idx="1"/>
          </p:cNvCxnSpPr>
          <p:nvPr/>
        </p:nvCxnSpPr>
        <p:spPr>
          <a:xfrm xmlns:a="http://schemas.openxmlformats.org/drawingml/2006/main" flipH="1">
            <a:off x="9009698" y="8229601"/>
            <a:ext cx="1905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5716">
            <a:solidFill>
              <a:srgbClr val="363B40"/>
            </a:solidFill>
            <a:prstDash val="solid"/>
            <a:tailEnd type="none" w="sm" len="sm"/>
          </a:ln>
        </p:spPr>
      </p:cxnSp>
      <p:sp>
        <p:nvSpPr>
          <p:cNvPr id="134" name="shape-52">
            <a:extLst xmlns:a="http://schemas.openxmlformats.org/drawingml/2006/main">
              <a:ext uri="{FF2B5EF4-FFF2-40B4-BE49-F238E27FC236}">
                <a16:creationId xmlns:a16="http://schemas.microsoft.com/office/drawing/2014/main" id="{B9280436-3672-4173-8392-B5852F31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9698" y="86096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5" name="shape-53">
            <a:extLst xmlns:a="http://schemas.openxmlformats.org/drawingml/2006/main">
              <a:ext uri="{FF2B5EF4-FFF2-40B4-BE49-F238E27FC236}">
                <a16:creationId xmlns:a16="http://schemas.microsoft.com/office/drawing/2014/main" id="{80327A95-DD30-4683-A097-F14A882C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4498" y="86096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0" name=""/>
          <p:cNvCxnSpPr>
            <a:stCxn xmlns:a="http://schemas.openxmlformats.org/drawingml/2006/main" id="134" idx="3"/>
            <a:endCxn xmlns:a="http://schemas.openxmlformats.org/drawingml/2006/main" id="135" idx="1"/>
          </p:cNvCxnSpPr>
          <p:nvPr/>
        </p:nvCxnSpPr>
        <p:spPr>
          <a:xfrm xmlns:a="http://schemas.openxmlformats.org/drawingml/2006/main">
            <a:off x="9011603" y="8610601"/>
            <a:ext cx="302895" cy="0"/>
          </a:xfrm>
          <a:prstGeom xmlns:a="http://schemas.openxmlformats.org/drawingml/2006/main" prst="straightConnector1">
            <a:avLst/>
          </a:prstGeom>
          <a:ln xmlns:a="http://schemas.openxmlformats.org/drawingml/2006/main" w="15716">
            <a:solidFill>
              <a:srgbClr val="363B40"/>
            </a:solidFill>
            <a:prstDash val="solid"/>
            <a:tailEnd type="triangle" w="sm" len="sm"/>
          </a:ln>
        </p:spPr>
      </p:cxnSp>
      <p:sp>
        <p:nvSpPr>
          <p:cNvPr id="137" name="shape-54">
            <a:extLst xmlns:a="http://schemas.openxmlformats.org/drawingml/2006/main">
              <a:ext uri="{FF2B5EF4-FFF2-40B4-BE49-F238E27FC236}">
                <a16:creationId xmlns:a16="http://schemas.microsoft.com/office/drawing/2014/main" id="{C6627C69-8CE4-4679-A511-2E161758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2498" y="89049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8" name="shape-55">
            <a:extLst xmlns:a="http://schemas.openxmlformats.org/drawingml/2006/main">
              <a:ext uri="{FF2B5EF4-FFF2-40B4-BE49-F238E27FC236}">
                <a16:creationId xmlns:a16="http://schemas.microsoft.com/office/drawing/2014/main" id="{C059BE64-F803-4012-9A79-42CB90D2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9698" y="89049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3" name=""/>
          <p:cNvCxnSpPr>
            <a:stCxn xmlns:a="http://schemas.openxmlformats.org/drawingml/2006/main" id="137" idx="3"/>
            <a:endCxn xmlns:a="http://schemas.openxmlformats.org/drawingml/2006/main" id="138" idx="1"/>
          </p:cNvCxnSpPr>
          <p:nvPr/>
        </p:nvCxnSpPr>
        <p:spPr>
          <a:xfrm xmlns:a="http://schemas.openxmlformats.org/drawingml/2006/main">
            <a:off x="8554403" y="8905876"/>
            <a:ext cx="455295" cy="0"/>
          </a:xfrm>
          <a:prstGeom xmlns:a="http://schemas.openxmlformats.org/drawingml/2006/main" prst="straightConnector1">
            <a:avLst/>
          </a:prstGeom>
          <a:ln xmlns:a="http://schemas.openxmlformats.org/drawingml/2006/main" w="15716">
            <a:solidFill>
              <a:srgbClr val="363B40"/>
            </a:solidFill>
            <a:prstDash val="solid"/>
            <a:tailEnd type="none" w="sm" len="sm"/>
          </a:ln>
        </p:spPr>
      </p:cxnSp>
      <p:sp>
        <p:nvSpPr>
          <p:cNvPr id="140" name="shape-56">
            <a:extLst xmlns:a="http://schemas.openxmlformats.org/drawingml/2006/main">
              <a:ext uri="{FF2B5EF4-FFF2-40B4-BE49-F238E27FC236}">
                <a16:creationId xmlns:a16="http://schemas.microsoft.com/office/drawing/2014/main" id="{7BCED5AB-3910-438E-83D9-CC69433F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9698" y="89049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1" name="shape-57">
            <a:extLst xmlns:a="http://schemas.openxmlformats.org/drawingml/2006/main">
              <a:ext uri="{FF2B5EF4-FFF2-40B4-BE49-F238E27FC236}">
                <a16:creationId xmlns:a16="http://schemas.microsoft.com/office/drawing/2014/main" id="{AAF42D95-8A54-4B29-B6C0-2544BCE6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9698" y="86096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6" name=""/>
          <p:cNvCxnSpPr>
            <a:stCxn xmlns:a="http://schemas.openxmlformats.org/drawingml/2006/main" id="140" idx="3"/>
            <a:endCxn xmlns:a="http://schemas.openxmlformats.org/drawingml/2006/main" id="141" idx="1"/>
          </p:cNvCxnSpPr>
          <p:nvPr/>
        </p:nvCxnSpPr>
        <p:spPr>
          <a:xfrm xmlns:a="http://schemas.openxmlformats.org/drawingml/2006/main" flipH="1" flipV="1">
            <a:off x="9009698" y="8610601"/>
            <a:ext cx="1905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5716">
            <a:solidFill>
              <a:srgbClr val="363B40"/>
            </a:solidFill>
            <a:prstDash val="solid"/>
            <a:tailEnd type="none" w="sm" len="sm"/>
          </a:ln>
        </p:spPr>
      </p:cxnSp>
      <p:sp>
        <p:nvSpPr>
          <p:cNvPr id="143" name="text-Structured expert responses">
            <a:extLst xmlns:a="http://schemas.openxmlformats.org/drawingml/2006/main">
              <a:ext uri="{FF2B5EF4-FFF2-40B4-BE49-F238E27FC236}">
                <a16:creationId xmlns:a16="http://schemas.microsoft.com/office/drawing/2014/main" id="{4F67EC88-A1FC-4F64-A77B-9884B624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8096250"/>
            <a:ext cx="4143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Structured expert responses</a:t>
            </a:r>
          </a:p>
        </p:txBody>
      </p:sp>
      <p:sp>
        <p:nvSpPr>
          <p:cNvPr id="144" name="text-nonlinear + linear + low-rank quadratic">
            <a:extLst xmlns:a="http://schemas.openxmlformats.org/drawingml/2006/main">
              <a:ext uri="{FF2B5EF4-FFF2-40B4-BE49-F238E27FC236}">
                <a16:creationId xmlns:a16="http://schemas.microsoft.com/office/drawing/2014/main" id="{BD0CE77A-B525-4CAD-B4BC-CD916639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8543925"/>
            <a:ext cx="4143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nonlinear + linear</a:t>
            </a:r>
          </a:p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+ low-rank quadratic</a:t>
            </a:r>
          </a:p>
        </p:txBody>
      </p:sp>
    </p:spTree>
    <p:extLst>
      <p:ext uri="{BB962C8B-B14F-4D97-AF65-F5344CB8AC3E}">
        <p14:creationId xmlns:p14="http://schemas.microsoft.com/office/powerpoint/2010/main" val="9021990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2026-09-13T14:23:46.5370000Z</dcterms:created>
  <dcterms:modified xsi:type="dcterms:W3CDTF">2026-09-13T14:23:46.5370000Z</dcterms:modified>
</coreProperties>
</file>