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48a6abf3044eb5" /><Relationship Type="http://schemas.openxmlformats.org/officeDocument/2006/relationships/extended-properties" Target="/docProps/app.xml" Id="Rba1f18c103d94dd1" /><Relationship Type="http://schemas.openxmlformats.org/officeDocument/2006/relationships/officeDocument" Target="/ppt/presentation.xml" Id="R563d257f617d48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09234676bd408f"/>
  </p:sldMasterIdLst>
  <p:notesMasterIdLst>
    <p:notesMasterId xmlns:r="http://schemas.openxmlformats.org/officeDocument/2006/relationships" r:id="Rdd88655802e04594"/>
  </p:notesMasterIdLst>
  <p:sldIdLst>
    <p:sldId xmlns:r="http://schemas.openxmlformats.org/officeDocument/2006/relationships" id="256" r:id="R56a3a8f2064a4697"/>
  </p:sldIdLst>
  <p:sldSz cx="15240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818db0554d4cc4" /><Relationship Type="http://schemas.openxmlformats.org/officeDocument/2006/relationships/slideMaster" Target="/ppt/slideMasters/slideMaster1.xml" Id="Re709234676bd408f" /><Relationship Type="http://schemas.openxmlformats.org/officeDocument/2006/relationships/notesMaster" Target="/ppt/notesMasters/notesMaster1.xml" Id="Rdd88655802e04594" /><Relationship Type="http://schemas.openxmlformats.org/officeDocument/2006/relationships/presProps" Target="/ppt/presProps.xml" Id="R24ea6b071f0041a7" /><Relationship Type="http://schemas.openxmlformats.org/officeDocument/2006/relationships/tableStyles" Target="/ppt/tableStyles.xml" Id="Re27aa53fab2d49cd" /><Relationship Type="http://schemas.openxmlformats.org/officeDocument/2006/relationships/slide" Target="/ppt/slides/slide1.xml" Id="R56a3a8f2064a46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ca3451e5a844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d5f5c1a1ac4467" /><Relationship Type="http://schemas.openxmlformats.org/officeDocument/2006/relationships/notesMaster" Target="/ppt/notesMasters/notesMaster1.xml" Id="R7a2d92cb631d4b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RAL-MoE-ROM method schematic. Native editable text, shapes and connectors. Three circular-cylinder reference images are native crops of existing CFD-reference velocity panels, not newly computed results or T2-C predictions. Sources: C:/Users/panxy1019/Documents/CHANNEL/RAL_MOE_ROM_ICLR2027/figures/original/steady_physical_fields.png; C:/Users/panxy1019/Documents/CHANNEL/RAL_MOE_ROM_ICLR2027/figures/original/hopf_physical_fields.png; C:/Users/panxy1019/Documents/CHANNEL/RAL_MOE_ROM_ICLR2027/figures/original/periodic_physical_fields.png. The Hopf reference is near onset and weakly perturbed. Color bars are omitted for qualitative regime identification; these thumbnails are not a quantitative cross-regime magnitude comparison.</a:t>
            </a:r>
          </a:p>
          <a:p xmlns:a="http://schemas.openxmlformats.org/drawingml/2006/main">
            <a:r>
              <a:t>Method source: C:/Users/panxy1019/Documents/CHANNEL/PMD_Galerkin_Pan_ICLR (1)/sections/method.tex. Gamma pressure gating retained from current manuscript. Group Top-1 and channel Top-2 refer to hierarchical sparse routing; the shared expert bypasses sparse selection. The two selected specialists retain independent native states. Physical-space assembly is identity for Top-1 and T2-C for an adjacent Top-2 pair. No fused-state feedback.</a:t>
            </a:r>
          </a:p>
          <a:p xmlns:a="http://schemas.openxmlformats.org/drawingml/2006/main">
            <a:r>
              <a:t>Design brief: C:/Users/panxy1019/Downloads/RAL_MoE_ROM_Figure1_Nature_style_redraw_plan.md. User requested three regime thumbnails, overriding the brief's thumbnail-removal recommendation.</a:t>
            </a:r>
          </a:p>
          <a:p xmlns:a="http://schemas.openxmlformats.org/drawingml/2006/main">
            <a:r>
              <a:t>Visual references supplied by user: https://www.nature.com/articles/s41467-021-26434-1 ; https://www.nature.com/articles/s42256-023-00685-7 ; https://www.nature.com/articles/s42256-024-00938-z ; https://www.nature.com/articles/s43588-025-00904-8 ; https://www.nature.com/articles/s41467-026-70245-1 . Article pages for PINN-SR and S3GM were accessible; several dedicated figure pages returned access redirects. No published artwork is reproduced.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98d7c48b4842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ae833c36844ccf" /><Relationship Type="http://schemas.openxmlformats.org/officeDocument/2006/relationships/slideLayout" Target="/ppt/slideLayouts/slideLayout1.xml" Id="R6bbc59434f0b48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bc59434f0b48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6105b1f4b4a93" /><Relationship Type="http://schemas.openxmlformats.org/officeDocument/2006/relationships/image" Target="/ppt/media/image.png" Id="R1b34ea6e3e9448ab" /><Relationship Type="http://schemas.openxmlformats.org/officeDocument/2006/relationships/image" Target="/ppt/media/image2.png" Id="R375f4d93f7cb492b" /><Relationship Type="http://schemas.openxmlformats.org/officeDocument/2006/relationships/image" Target="/ppt/media/image3.png" Id="Rec21a8f928d44d22" /><Relationship Type="http://schemas.openxmlformats.org/officeDocument/2006/relationships/notesSlide" Target="/ppt/notesSlides/notesSlide1.xml" Id="R5af81fbf2ae647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text-a   Two-level hierarchy">
            <a:extLst xmlns:a="http://schemas.openxmlformats.org/drawingml/2006/main">
              <a:ext uri="{FF2B5EF4-FFF2-40B4-BE49-F238E27FC236}">
                <a16:creationId xmlns:a16="http://schemas.microsoft.com/office/drawing/2014/main" id="{DC61B171-20B0-497A-8792-CB4217CC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   Two-level hierarchy</a:t>
            </a:r>
          </a:p>
        </p:txBody>
      </p:sp>
      <p:sp>
        <p:nvSpPr>
          <p:cNvPr id="2" name="text-μ">
            <a:extLst xmlns:a="http://schemas.openxmlformats.org/drawingml/2006/main">
              <a:ext uri="{FF2B5EF4-FFF2-40B4-BE49-F238E27FC236}">
                <a16:creationId xmlns:a16="http://schemas.microsoft.com/office/drawing/2014/main" id="{0CE47D3C-CEA7-4723-AEAF-38F07876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3430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rPr>
              <a:t>μ</a:t>
            </a:r>
          </a:p>
        </p:txBody>
      </p:sp>
      <p:sp>
        <p:nvSpPr>
          <p:cNvPr id="3" name="E2 router">
            <a:extLst xmlns:a="http://schemas.openxmlformats.org/drawingml/2006/main">
              <a:ext uri="{FF2B5EF4-FFF2-40B4-BE49-F238E27FC236}">
                <a16:creationId xmlns:a16="http://schemas.microsoft.com/office/drawing/2014/main" id="{94432BBD-8EE9-4DDC-A5FC-9A1376EE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152525"/>
            <a:ext cx="1590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8"/>
          </a:solidFill>
          <a:ln xmlns:a="http://schemas.openxmlformats.org/drawingml/2006/main" w="13811">
            <a:solidFill>
              <a:srgbClr val="9475AD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E2 router</a:t>
            </a:r>
          </a:p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parameter-only</a:t>
            </a:r>
          </a:p>
        </p:txBody>
      </p:sp>
      <p:sp>
        <p:nvSpPr>
          <p:cNvPr id="4" name="Applicability +&#10;selection">
            <a:extLst xmlns:a="http://schemas.openxmlformats.org/drawingml/2006/main">
              <a:ext uri="{FF2B5EF4-FFF2-40B4-BE49-F238E27FC236}">
                <a16:creationId xmlns:a16="http://schemas.microsoft.com/office/drawing/2014/main" id="{F6453DD6-836D-4B70-B758-37DBB9C0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152525"/>
            <a:ext cx="2324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8"/>
          </a:solidFill>
          <a:ln xmlns:a="http://schemas.openxmlformats.org/drawingml/2006/main" w="13811">
            <a:solidFill>
              <a:srgbClr val="9475AD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Applicability +
selection</a:t>
            </a:r>
          </a:p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Top-1 / adj. Top-2</a:t>
            </a:r>
          </a:p>
        </p:txBody>
      </p:sp>
      <p:sp>
        <p:nvSpPr>
          <p:cNvPr id="5" name="Independent rollout">
            <a:extLst xmlns:a="http://schemas.openxmlformats.org/drawingml/2006/main">
              <a:ext uri="{FF2B5EF4-FFF2-40B4-BE49-F238E27FC236}">
                <a16:creationId xmlns:a16="http://schemas.microsoft.com/office/drawing/2014/main" id="{FA19B173-B445-46A4-8BD3-AF012DAB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914400"/>
            <a:ext cx="22574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3811">
            <a:solidFill>
              <a:srgbClr val="D88C53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1"/>
              <a:t>Selected r / (r, s)</a:t>
            </a:r>
          </a:p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/>
              <a:t>Independent</a:t>
            </a:r>
          </a:p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/>
              <a:t>rollout</a:t>
            </a:r>
          </a:p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/>
              <a:t>native coordinates</a:t>
            </a:r>
          </a:p>
        </p:txBody>
      </p:sp>
      <p:sp>
        <p:nvSpPr>
          <p:cNvPr id="6" name="Decode">
            <a:extLst xmlns:a="http://schemas.openxmlformats.org/drawingml/2006/main">
              <a:ext uri="{FF2B5EF4-FFF2-40B4-BE49-F238E27FC236}">
                <a16:creationId xmlns:a16="http://schemas.microsoft.com/office/drawing/2014/main" id="{0A46B149-930E-4D55-BBBB-380F16DF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52525"/>
            <a:ext cx="15525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Decode</a:t>
            </a:r>
          </a:p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physical space</a:t>
            </a:r>
          </a:p>
        </p:txBody>
      </p:sp>
      <p:sp>
        <p:nvSpPr>
          <p:cNvPr id="7" name="T2-C fusion">
            <a:extLst xmlns:a="http://schemas.openxmlformats.org/drawingml/2006/main">
              <a:ext uri="{FF2B5EF4-FFF2-40B4-BE49-F238E27FC236}">
                <a16:creationId xmlns:a16="http://schemas.microsoft.com/office/drawing/2014/main" id="{A01BDC65-AE85-4C82-AA81-20695096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095375"/>
            <a:ext cx="20097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13811">
            <a:solidFill>
              <a:srgbClr val="71A07B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T2-C fusion</a:t>
            </a:r>
          </a:p>
          <a:p xmlns:a="http://schemas.openxmlformats.org/drawingml/2006/main">
            <a:pPr algn="ctr">
              <a:defRPr sz="21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α(μ̃, π̄, dₙ)</a:t>
            </a:r>
          </a:p>
        </p:txBody>
      </p:sp>
      <p:sp>
        <p:nvSpPr>
          <p:cNvPr id="8" name="Predicted fields">
            <a:extLst xmlns:a="http://schemas.openxmlformats.org/drawingml/2006/main">
              <a:ext uri="{FF2B5EF4-FFF2-40B4-BE49-F238E27FC236}">
                <a16:creationId xmlns:a16="http://schemas.microsoft.com/office/drawing/2014/main" id="{8C249277-A66D-48C6-B75F-BEB7BCFB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1152525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13811">
            <a:solidFill>
              <a:srgbClr val="71A07B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Predicted fields</a:t>
            </a:r>
          </a:p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û(t), p̂°(t)</a:t>
            </a:r>
          </a:p>
        </p:txBody>
      </p:sp>
      <p:cxnSp>
        <p:nvCxnSpPr>
          <p:cNvPr id="153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866775" y="16287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154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38450" y="16287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15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572125" y="1628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15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305800" y="16287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15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315575" y="16287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15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2734925" y="16287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15" name="text-π(μ)">
            <a:extLst xmlns:a="http://schemas.openxmlformats.org/drawingml/2006/main">
              <a:ext uri="{FF2B5EF4-FFF2-40B4-BE49-F238E27FC236}">
                <a16:creationId xmlns:a16="http://schemas.microsoft.com/office/drawing/2014/main" id="{BF5C2BC6-EED7-4533-A0A7-0B2CA96F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762000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22222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222222"/>
                </a:solidFill>
                <a:latin typeface="Cambria Math"/>
                <a:ea typeface="Cambria Math"/>
                <a:cs typeface="Cambria Math"/>
              </a:rPr>
              <a:t>π(μ)</a:t>
            </a:r>
          </a:p>
        </p:txBody>
      </p:sp>
      <p:sp>
        <p:nvSpPr>
          <p:cNvPr id="16" name="text-Top-1: identity Top-2: fusion">
            <a:extLst xmlns:a="http://schemas.openxmlformats.org/drawingml/2006/main">
              <a:ext uri="{FF2B5EF4-FFF2-40B4-BE49-F238E27FC236}">
                <a16:creationId xmlns:a16="http://schemas.microsoft.com/office/drawing/2014/main" id="{9D149411-4E67-4B66-8DFA-8A06222F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2276475"/>
            <a:ext cx="214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Top-1: identity</a:t>
            </a:r>
          </a:p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Top-2: fusion</a:t>
            </a:r>
          </a:p>
        </p:txBody>
      </p:sp>
      <p:sp>
        <p:nvSpPr>
          <p:cNvPr id="17" name="text-Regime-local specialists">
            <a:extLst xmlns:a="http://schemas.openxmlformats.org/drawingml/2006/main">
              <a:ext uri="{FF2B5EF4-FFF2-40B4-BE49-F238E27FC236}">
                <a16:creationId xmlns:a16="http://schemas.microsoft.com/office/drawing/2014/main" id="{2FFBF9B8-F750-4A59-8624-9A75CA2F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98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Regime-local specialists</a:t>
            </a:r>
          </a:p>
        </p:txBody>
      </p:sp>
      <p:sp>
        <p:nvSpPr>
          <p:cNvPr id="18" name="Steady specialist card">
            <a:extLst xmlns:a="http://schemas.openxmlformats.org/drawingml/2006/main">
              <a:ext uri="{FF2B5EF4-FFF2-40B4-BE49-F238E27FC236}">
                <a16:creationId xmlns:a16="http://schemas.microsoft.com/office/drawing/2014/main" id="{D43BF70E-49A4-46F6-87DA-C08F8BD8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57525"/>
            <a:ext cx="16097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BEC4"/>
            </a:solidFill>
          </a:ln>
        </p:spPr>
      </p:sp>
      <p:sp>
        <p:nvSpPr>
          <p:cNvPr id="19" name="shape-1">
            <a:extLst xmlns:a="http://schemas.openxmlformats.org/drawingml/2006/main">
              <a:ext uri="{FF2B5EF4-FFF2-40B4-BE49-F238E27FC236}">
                <a16:creationId xmlns:a16="http://schemas.microsoft.com/office/drawing/2014/main" id="{29B02585-E285-4F56-B416-7FEBC19C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57525"/>
            <a:ext cx="1609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CAB"/>
          </a:solidFill>
          <a:ln xmlns:a="http://schemas.openxmlformats.org/drawingml/2006/main" w="0">
            <a:noFill/>
          </a:ln>
        </p:spPr>
      </p:sp>
      <p:sp>
        <p:nvSpPr>
          <p:cNvPr id="20" name="text-Steady  S">
            <a:extLst xmlns:a="http://schemas.openxmlformats.org/drawingml/2006/main">
              <a:ext uri="{FF2B5EF4-FFF2-40B4-BE49-F238E27FC236}">
                <a16:creationId xmlns:a16="http://schemas.microsoft.com/office/drawing/2014/main" id="{A68861E5-F9E6-48C0-A37C-48E48A2E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3372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Steady  S</a:t>
            </a:r>
          </a:p>
        </p:txBody>
      </p:sp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4ea6e3e9448ab"/>
          <a:srcRect xmlns:a="http://schemas.openxmlformats.org/drawingml/2006/main" l="12250" t="7500" r="58500" b="76400"/>
          <a:stretch xmlns:a="http://schemas.openxmlformats.org/drawingml/2006/main"/>
        </p:blipFill>
        <p:spPr>
          <a:xfrm xmlns:a="http://schemas.openxmlformats.org/drawingml/2006/main">
            <a:off x="790575" y="3486150"/>
            <a:ext cx="1457325" cy="642461"/>
          </a:xfrm>
          <a:prstGeom xmlns:a="http://schemas.openxmlformats.org/drawingml/2006/main" prst="rect">
            <a:avLst/>
          </a:prstGeom>
        </p:spPr>
      </p:pic>
      <p:sp>
        <p:nvSpPr>
          <p:cNvPr id="22" name="Hopf specialist card">
            <a:extLst xmlns:a="http://schemas.openxmlformats.org/drawingml/2006/main">
              <a:ext uri="{FF2B5EF4-FFF2-40B4-BE49-F238E27FC236}">
                <a16:creationId xmlns:a16="http://schemas.microsoft.com/office/drawing/2014/main" id="{343E895D-FDE8-434E-866F-DC4577D8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57525"/>
            <a:ext cx="16097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BEC4"/>
            </a:solidFill>
          </a:ln>
        </p:spPr>
      </p:sp>
      <p:sp>
        <p:nvSpPr>
          <p:cNvPr id="23" name="shape-2">
            <a:extLst xmlns:a="http://schemas.openxmlformats.org/drawingml/2006/main">
              <a:ext uri="{FF2B5EF4-FFF2-40B4-BE49-F238E27FC236}">
                <a16:creationId xmlns:a16="http://schemas.microsoft.com/office/drawing/2014/main" id="{843A3133-0C54-4BF5-8CCA-310B90D6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57525"/>
            <a:ext cx="1609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52"/>
          </a:solidFill>
          <a:ln xmlns:a="http://schemas.openxmlformats.org/drawingml/2006/main" w="0">
            <a:noFill/>
          </a:ln>
        </p:spPr>
      </p:sp>
      <p:sp>
        <p:nvSpPr>
          <p:cNvPr id="24" name="text-Hopf  H">
            <a:extLst xmlns:a="http://schemas.openxmlformats.org/drawingml/2006/main">
              <a:ext uri="{FF2B5EF4-FFF2-40B4-BE49-F238E27FC236}">
                <a16:creationId xmlns:a16="http://schemas.microsoft.com/office/drawing/2014/main" id="{079DB0A9-4DA3-45DE-BA1E-578C6BF1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3372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Hopf  H</a:t>
            </a:r>
          </a:p>
        </p:txBody>
      </p:sp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f4d93f7cb492b"/>
          <a:srcRect xmlns:a="http://schemas.openxmlformats.org/drawingml/2006/main" l="12250" t="7500" r="58500" b="76400"/>
          <a:stretch xmlns:a="http://schemas.openxmlformats.org/drawingml/2006/main"/>
        </p:blipFill>
        <p:spPr>
          <a:xfrm xmlns:a="http://schemas.openxmlformats.org/drawingml/2006/main">
            <a:off x="2552700" y="3486150"/>
            <a:ext cx="1457325" cy="642461"/>
          </a:xfrm>
          <a:prstGeom xmlns:a="http://schemas.openxmlformats.org/drawingml/2006/main" prst="rect">
            <a:avLst/>
          </a:prstGeom>
        </p:spPr>
      </p:pic>
      <p:sp>
        <p:nvSpPr>
          <p:cNvPr id="26" name="Periodic specialist card">
            <a:extLst xmlns:a="http://schemas.openxmlformats.org/drawingml/2006/main">
              <a:ext uri="{FF2B5EF4-FFF2-40B4-BE49-F238E27FC236}">
                <a16:creationId xmlns:a16="http://schemas.microsoft.com/office/drawing/2014/main" id="{5FF873F7-5681-4F15-85F9-50A23F4D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57525"/>
            <a:ext cx="16097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BEC4"/>
            </a:solidFill>
          </a:ln>
        </p:spPr>
      </p:sp>
      <p:sp>
        <p:nvSpPr>
          <p:cNvPr id="27" name="shape-3">
            <a:extLst xmlns:a="http://schemas.openxmlformats.org/drawingml/2006/main">
              <a:ext uri="{FF2B5EF4-FFF2-40B4-BE49-F238E27FC236}">
                <a16:creationId xmlns:a16="http://schemas.microsoft.com/office/drawing/2014/main" id="{AA765412-43F2-4DE0-B860-A9C525F7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57525"/>
            <a:ext cx="1609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277"/>
          </a:solidFill>
          <a:ln xmlns:a="http://schemas.openxmlformats.org/drawingml/2006/main" w="0">
            <a:noFill/>
          </a:ln>
        </p:spPr>
      </p:sp>
      <p:sp>
        <p:nvSpPr>
          <p:cNvPr id="28" name="text-Periodic  P">
            <a:extLst xmlns:a="http://schemas.openxmlformats.org/drawingml/2006/main">
              <a:ext uri="{FF2B5EF4-FFF2-40B4-BE49-F238E27FC236}">
                <a16:creationId xmlns:a16="http://schemas.microsoft.com/office/drawing/2014/main" id="{EDD24210-9A72-480A-8662-D50253E7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3372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Periodic  P</a:t>
            </a:r>
          </a:p>
        </p:txBody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1a8f928d44d22"/>
          <a:srcRect xmlns:a="http://schemas.openxmlformats.org/drawingml/2006/main" l="12250" t="7500" r="58500" b="76400"/>
          <a:stretch xmlns:a="http://schemas.openxmlformats.org/drawingml/2006/main"/>
        </p:blipFill>
        <p:spPr>
          <a:xfrm xmlns:a="http://schemas.openxmlformats.org/drawingml/2006/main">
            <a:off x="4314825" y="3486150"/>
            <a:ext cx="1457325" cy="642461"/>
          </a:xfrm>
          <a:prstGeom xmlns:a="http://schemas.openxmlformats.org/drawingml/2006/main" prst="rect">
            <a:avLst/>
          </a:prstGeom>
        </p:spPr>
      </p:pic>
      <p:sp>
        <p:nvSpPr>
          <p:cNvPr id="30" name="shape-4">
            <a:extLst xmlns:a="http://schemas.openxmlformats.org/drawingml/2006/main">
              <a:ext uri="{FF2B5EF4-FFF2-40B4-BE49-F238E27FC236}">
                <a16:creationId xmlns:a16="http://schemas.microsoft.com/office/drawing/2014/main" id="{88233FAB-DC89-4116-9969-D9AAC252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148" y="3056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shape-5">
            <a:extLst xmlns:a="http://schemas.openxmlformats.org/drawingml/2006/main">
              <a:ext uri="{FF2B5EF4-FFF2-40B4-BE49-F238E27FC236}">
                <a16:creationId xmlns:a16="http://schemas.microsoft.com/office/drawing/2014/main" id="{D5FF4601-E253-4ADE-B4C5-0EC675B1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148" y="2523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H="1" flipV="1">
            <a:off x="5752148" y="2524126"/>
            <a:ext cx="1905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33" name="shape-6">
            <a:extLst xmlns:a="http://schemas.openxmlformats.org/drawingml/2006/main">
              <a:ext uri="{FF2B5EF4-FFF2-40B4-BE49-F238E27FC236}">
                <a16:creationId xmlns:a16="http://schemas.microsoft.com/office/drawing/2014/main" id="{C9E3986B-11BE-4DA9-88A8-4AAB2748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148" y="2523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shape-7">
            <a:extLst xmlns:a="http://schemas.openxmlformats.org/drawingml/2006/main">
              <a:ext uri="{FF2B5EF4-FFF2-40B4-BE49-F238E27FC236}">
                <a16:creationId xmlns:a16="http://schemas.microsoft.com/office/drawing/2014/main" id="{94FB169B-3E15-45DA-8DAB-351CBE50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123" y="2523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H="1">
            <a:off x="4409123" y="2524126"/>
            <a:ext cx="134493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36" name="shape-8">
            <a:extLst xmlns:a="http://schemas.openxmlformats.org/drawingml/2006/main">
              <a:ext uri="{FF2B5EF4-FFF2-40B4-BE49-F238E27FC236}">
                <a16:creationId xmlns:a16="http://schemas.microsoft.com/office/drawing/2014/main" id="{1A413558-E7A1-4147-AF90-D73833AE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123" y="2523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shape-9">
            <a:extLst xmlns:a="http://schemas.openxmlformats.org/drawingml/2006/main">
              <a:ext uri="{FF2B5EF4-FFF2-40B4-BE49-F238E27FC236}">
                <a16:creationId xmlns:a16="http://schemas.microsoft.com/office/drawing/2014/main" id="{1A2E7F89-560B-4E83-B60D-6152BA5A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123" y="21040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H="1" flipV="1">
            <a:off x="4409123" y="2105026"/>
            <a:ext cx="1905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39" name="text-Admissible pairs: S–H or H–P">
            <a:extLst xmlns:a="http://schemas.openxmlformats.org/drawingml/2006/main">
              <a:ext uri="{FF2B5EF4-FFF2-40B4-BE49-F238E27FC236}">
                <a16:creationId xmlns:a16="http://schemas.microsoft.com/office/drawing/2014/main" id="{5F4FCEC3-C4B8-4708-971C-DCBD6C97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504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Admissible pairs: S–H or H–P</a:t>
            </a:r>
          </a:p>
        </p:txBody>
      </p:sp>
      <p:sp>
        <p:nvSpPr>
          <p:cNvPr id="40" name="Physical history">
            <a:extLst xmlns:a="http://schemas.openxmlformats.org/drawingml/2006/main">
              <a:ext uri="{FF2B5EF4-FFF2-40B4-BE49-F238E27FC236}">
                <a16:creationId xmlns:a16="http://schemas.microsoft.com/office/drawing/2014/main" id="{210DE142-7729-410F-8715-91AC2CC7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33775"/>
            <a:ext cx="22764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Physical history</a:t>
            </a:r>
          </a:p>
          <a:p xmlns:a="http://schemas.openxmlformats.org/drawingml/2006/main">
            <a:pPr algn="ctr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Hₙ</a:t>
            </a:r>
          </a:p>
        </p:txBody>
      </p:sp>
      <p:sp>
        <p:nvSpPr>
          <p:cNvPr id="41" name="History descriptor">
            <a:extLst xmlns:a="http://schemas.openxmlformats.org/drawingml/2006/main">
              <a:ext uri="{FF2B5EF4-FFF2-40B4-BE49-F238E27FC236}">
                <a16:creationId xmlns:a16="http://schemas.microsoft.com/office/drawing/2014/main" id="{337721B1-8488-4CE2-A8CD-CC31342A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3533775"/>
            <a:ext cx="2400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History descriptor</a:t>
            </a:r>
          </a:p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dₙ (chart-independent)</a:t>
            </a:r>
          </a:p>
        </p:txBody>
      </p:sp>
      <p:sp>
        <p:nvSpPr>
          <p:cNvPr id="42" name="shape-10">
            <a:extLst xmlns:a="http://schemas.openxmlformats.org/drawingml/2006/main">
              <a:ext uri="{FF2B5EF4-FFF2-40B4-BE49-F238E27FC236}">
                <a16:creationId xmlns:a16="http://schemas.microsoft.com/office/drawing/2014/main" id="{06A80829-E11E-477F-ADEE-A6C1E475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973" y="3532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shape-11">
            <a:extLst xmlns:a="http://schemas.openxmlformats.org/drawingml/2006/main">
              <a:ext uri="{FF2B5EF4-FFF2-40B4-BE49-F238E27FC236}">
                <a16:creationId xmlns:a16="http://schemas.microsoft.com/office/drawing/2014/main" id="{D7BE5E72-B742-4F82-8046-A568DEA8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973" y="2818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H="1" flipV="1">
            <a:off x="7780973" y="2819401"/>
            <a:ext cx="1905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45" name="shape-12">
            <a:extLst xmlns:a="http://schemas.openxmlformats.org/drawingml/2006/main">
              <a:ext uri="{FF2B5EF4-FFF2-40B4-BE49-F238E27FC236}">
                <a16:creationId xmlns:a16="http://schemas.microsoft.com/office/drawing/2014/main" id="{26FFEE36-EE1F-4EFE-BB13-C8FAEC95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973" y="2818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shape-13">
            <a:extLst xmlns:a="http://schemas.openxmlformats.org/drawingml/2006/main">
              <a:ext uri="{FF2B5EF4-FFF2-40B4-BE49-F238E27FC236}">
                <a16:creationId xmlns:a16="http://schemas.microsoft.com/office/drawing/2014/main" id="{06685E92-43AC-44A5-B7BD-6D3B0C86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373" y="2818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 flipH="1">
            <a:off x="7171373" y="2819401"/>
            <a:ext cx="61150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48" name="shape-14">
            <a:extLst xmlns:a="http://schemas.openxmlformats.org/drawingml/2006/main">
              <a:ext uri="{FF2B5EF4-FFF2-40B4-BE49-F238E27FC236}">
                <a16:creationId xmlns:a16="http://schemas.microsoft.com/office/drawing/2014/main" id="{F815C960-FC8A-425F-A79A-5EDCBE7A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373" y="2818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shape-15">
            <a:extLst xmlns:a="http://schemas.openxmlformats.org/drawingml/2006/main">
              <a:ext uri="{FF2B5EF4-FFF2-40B4-BE49-F238E27FC236}">
                <a16:creationId xmlns:a16="http://schemas.microsoft.com/office/drawing/2014/main" id="{9E7AA504-A334-48A3-9C0C-1B82B4CF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373" y="2342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 flipH="1" flipV="1">
            <a:off x="7171373" y="2343151"/>
            <a:ext cx="1905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51" name="text-initialization">
            <a:extLst xmlns:a="http://schemas.openxmlformats.org/drawingml/2006/main">
              <a:ext uri="{FF2B5EF4-FFF2-40B4-BE49-F238E27FC236}">
                <a16:creationId xmlns:a16="http://schemas.microsoft.com/office/drawing/2014/main" id="{0EB9FABB-1559-4CD7-B3DB-6320ECA1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43225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initialization</a:t>
            </a:r>
          </a:p>
        </p:txBody>
      </p:sp>
      <p:cxnSp>
        <p:nvCxnSpPr>
          <p:cNvPr id="196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924925" y="3867150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53" name="shape-16">
            <a:extLst xmlns:a="http://schemas.openxmlformats.org/drawingml/2006/main">
              <a:ext uri="{FF2B5EF4-FFF2-40B4-BE49-F238E27FC236}">
                <a16:creationId xmlns:a16="http://schemas.microsoft.com/office/drawing/2014/main" id="{75B8C347-3A3C-4A9A-A5C7-F1B299D0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6223" y="3532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shape-17">
            <a:extLst xmlns:a="http://schemas.openxmlformats.org/drawingml/2006/main">
              <a:ext uri="{FF2B5EF4-FFF2-40B4-BE49-F238E27FC236}">
                <a16:creationId xmlns:a16="http://schemas.microsoft.com/office/drawing/2014/main" id="{8305F4EC-FA84-4309-9741-A0507453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6223" y="2161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H="1" flipV="1">
            <a:off x="11686223" y="2162176"/>
            <a:ext cx="1905" cy="1371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56" name="shape-18">
            <a:extLst xmlns:a="http://schemas.openxmlformats.org/drawingml/2006/main">
              <a:ext uri="{FF2B5EF4-FFF2-40B4-BE49-F238E27FC236}">
                <a16:creationId xmlns:a16="http://schemas.microsoft.com/office/drawing/2014/main" id="{83D3D9E1-6DE8-407C-AD7E-66B40439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348" y="2446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shape-19">
            <a:extLst xmlns:a="http://schemas.openxmlformats.org/drawingml/2006/main">
              <a:ext uri="{FF2B5EF4-FFF2-40B4-BE49-F238E27FC236}">
                <a16:creationId xmlns:a16="http://schemas.microsoft.com/office/drawing/2014/main" id="{8220856E-D488-4F4B-A854-3BB3C4A1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123" y="4723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 flipH="1">
            <a:off x="5933123" y="2447926"/>
            <a:ext cx="278130" cy="22764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63B40"/>
            </a:solidFill>
            <a:prstDash val="dash"/>
            <a:tailEnd type="none" w="sm" len="sm"/>
          </a:ln>
        </p:spPr>
      </p:cxnSp>
      <p:sp>
        <p:nvSpPr>
          <p:cNvPr id="59" name="text-b   Regime-local specialist">
            <a:extLst xmlns:a="http://schemas.openxmlformats.org/drawingml/2006/main">
              <a:ext uri="{FF2B5EF4-FFF2-40B4-BE49-F238E27FC236}">
                <a16:creationId xmlns:a16="http://schemas.microsoft.com/office/drawing/2014/main" id="{FB12F11B-7B01-455F-8DBC-EEF7AAF6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958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   Regime-local specialist</a:t>
            </a:r>
          </a:p>
        </p:txBody>
      </p:sp>
      <p:sp>
        <p:nvSpPr>
          <p:cNvPr id="60" name="History">
            <a:extLst xmlns:a="http://schemas.openxmlformats.org/drawingml/2006/main">
              <a:ext uri="{FF2B5EF4-FFF2-40B4-BE49-F238E27FC236}">
                <a16:creationId xmlns:a16="http://schemas.microsoft.com/office/drawing/2014/main" id="{E930C0A3-2028-4FC5-BA1F-F77F8B0F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76950"/>
            <a:ext cx="9429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History</a:t>
            </a:r>
          </a:p>
          <a:p xmlns:a="http://schemas.openxmlformats.org/drawingml/2006/main">
            <a:pPr algn="ctr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Hₙ</a:t>
            </a:r>
          </a:p>
        </p:txBody>
      </p:sp>
      <p:sp>
        <p:nvSpPr>
          <p:cNvPr id="61" name="POD encode">
            <a:extLst xmlns:a="http://schemas.openxmlformats.org/drawingml/2006/main">
              <a:ext uri="{FF2B5EF4-FFF2-40B4-BE49-F238E27FC236}">
                <a16:creationId xmlns:a16="http://schemas.microsoft.com/office/drawing/2014/main" id="{92B7D482-B87B-4543-8DFF-464E006F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00750"/>
            <a:ext cx="14954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POD encode</a:t>
            </a:r>
          </a:p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chart-local</a:t>
            </a:r>
          </a:p>
        </p:txBody>
      </p:sp>
      <p:sp>
        <p:nvSpPr>
          <p:cNvPr id="62" name="Local history">
            <a:extLst xmlns:a="http://schemas.openxmlformats.org/drawingml/2006/main">
              <a:ext uri="{FF2B5EF4-FFF2-40B4-BE49-F238E27FC236}">
                <a16:creationId xmlns:a16="http://schemas.microsoft.com/office/drawing/2014/main" id="{A76E5763-98C4-4876-A39B-3136B49E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000750"/>
            <a:ext cx="1600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Local history</a:t>
            </a:r>
          </a:p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(aₙ, bₙ)</a:t>
            </a:r>
          </a:p>
        </p:txBody>
      </p:sp>
      <p:sp>
        <p:nvSpPr>
          <p:cNvPr id="63" name="Galerkin backbone">
            <a:extLst xmlns:a="http://schemas.openxmlformats.org/drawingml/2006/main">
              <a:ext uri="{FF2B5EF4-FFF2-40B4-BE49-F238E27FC236}">
                <a16:creationId xmlns:a16="http://schemas.microsoft.com/office/drawing/2014/main" id="{A6D580A1-BB82-456F-819E-E53CB4F8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486400"/>
            <a:ext cx="25146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Galerkin backbone</a:t>
            </a:r>
          </a:p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Fᵣᴳ</a:t>
            </a:r>
          </a:p>
        </p:txBody>
      </p:sp>
      <p:sp>
        <p:nvSpPr>
          <p:cNvPr id="64" name="Sparse MoE">
            <a:extLst xmlns:a="http://schemas.openxmlformats.org/drawingml/2006/main">
              <a:ext uri="{FF2B5EF4-FFF2-40B4-BE49-F238E27FC236}">
                <a16:creationId xmlns:a16="http://schemas.microsoft.com/office/drawing/2014/main" id="{A3B40C8D-74EC-43AC-A81F-04E341BB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838950"/>
            <a:ext cx="25146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3811">
            <a:solidFill>
              <a:srgbClr val="D88C53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Sparse MoE</a:t>
            </a:r>
          </a:p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velocity correction ρᵘ</a:t>
            </a:r>
          </a:p>
        </p:txBody>
      </p:sp>
      <p:sp>
        <p:nvSpPr>
          <p:cNvPr id="65" name="sum-+">
            <a:extLst xmlns:a="http://schemas.openxmlformats.org/drawingml/2006/main">
              <a:ext uri="{FF2B5EF4-FFF2-40B4-BE49-F238E27FC236}">
                <a16:creationId xmlns:a16="http://schemas.microsoft.com/office/drawing/2014/main" id="{DFC31837-8901-453C-ACFC-08A3F121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296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63B40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>
                <a:latin typeface="Arial"/>
                <a:ea typeface="Arial"/>
                <a:cs typeface="Arial"/>
              </a:defRPr>
            </a:pPr>
            <a:r>
              <a:rPr sz="2400"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66" name="Stepᵣ">
            <a:extLst xmlns:a="http://schemas.openxmlformats.org/drawingml/2006/main">
              <a:ext uri="{FF2B5EF4-FFF2-40B4-BE49-F238E27FC236}">
                <a16:creationId xmlns:a16="http://schemas.microsoft.com/office/drawing/2014/main" id="{86AECA51-9A2C-421B-8693-BEC35E2C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067425"/>
            <a:ext cx="15144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13811">
            <a:solidFill>
              <a:srgbClr val="969DA3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Stepᵣ</a:t>
            </a:r>
          </a:p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chart-specific</a:t>
            </a:r>
          </a:p>
        </p:txBody>
      </p:sp>
      <p:sp>
        <p:nvSpPr>
          <p:cNvPr id="67" name="Pressure map">
            <a:extLst xmlns:a="http://schemas.openxmlformats.org/drawingml/2006/main">
              <a:ext uri="{FF2B5EF4-FFF2-40B4-BE49-F238E27FC236}">
                <a16:creationId xmlns:a16="http://schemas.microsoft.com/office/drawing/2014/main" id="{4E8EDF17-6CE5-49F8-8F5A-3901D97C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943600"/>
            <a:ext cx="2057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b="1"/>
              <a:t>Pressure map</a:t>
            </a:r>
          </a:p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/>
              <a:t>algebraic</a:t>
            </a:r>
          </a:p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75">
                <a:latin typeface="Cambria Math"/>
                <a:ea typeface="Cambria Math"/>
                <a:cs typeface="Cambria Math"/>
              </a:rPr>
              <a:t>γ ⊙ Qᴾᴾ + ρᵖ</a:t>
            </a:r>
          </a:p>
        </p:txBody>
      </p:sp>
      <p:sp>
        <p:nvSpPr>
          <p:cNvPr id="68" name="text-bₙ₊₁">
            <a:extLst xmlns:a="http://schemas.openxmlformats.org/drawingml/2006/main">
              <a:ext uri="{FF2B5EF4-FFF2-40B4-BE49-F238E27FC236}">
                <a16:creationId xmlns:a16="http://schemas.microsoft.com/office/drawing/2014/main" id="{A323E8C3-63E0-409E-A9D0-9AB00235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238875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rPr>
              <a:t>bₙ₊₁</a:t>
            </a:r>
          </a:p>
        </p:txBody>
      </p:sp>
      <p:cxnSp>
        <p:nvCxnSpPr>
          <p:cNvPr id="213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1209675" y="649605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214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3095625" y="64960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71" name="shape-20">
            <a:extLst xmlns:a="http://schemas.openxmlformats.org/drawingml/2006/main">
              <a:ext uri="{FF2B5EF4-FFF2-40B4-BE49-F238E27FC236}">
                <a16:creationId xmlns:a16="http://schemas.microsoft.com/office/drawing/2014/main" id="{2B7A163C-FE3B-49AE-8170-F92E4961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498" y="6495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shape-21">
            <a:extLst xmlns:a="http://schemas.openxmlformats.org/drawingml/2006/main">
              <a:ext uri="{FF2B5EF4-FFF2-40B4-BE49-F238E27FC236}">
                <a16:creationId xmlns:a16="http://schemas.microsoft.com/office/drawing/2014/main" id="{B44F8D4E-1F83-4AD1-ABE5-7C921942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248" y="6495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5125403" y="6496051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74" name="shape-22">
            <a:extLst xmlns:a="http://schemas.openxmlformats.org/drawingml/2006/main">
              <a:ext uri="{FF2B5EF4-FFF2-40B4-BE49-F238E27FC236}">
                <a16:creationId xmlns:a16="http://schemas.microsoft.com/office/drawing/2014/main" id="{0065BB27-8810-4DBD-AE58-5F52E9DD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248" y="6495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shape-23">
            <a:extLst xmlns:a="http://schemas.openxmlformats.org/drawingml/2006/main">
              <a:ext uri="{FF2B5EF4-FFF2-40B4-BE49-F238E27FC236}">
                <a16:creationId xmlns:a16="http://schemas.microsoft.com/office/drawing/2014/main" id="{914611CF-1A73-43E0-A560-6A4A195E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248" y="5847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 flipH="1" flipV="1">
            <a:off x="5409248" y="5848351"/>
            <a:ext cx="1905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77" name="shape-24">
            <a:extLst xmlns:a="http://schemas.openxmlformats.org/drawingml/2006/main">
              <a:ext uri="{FF2B5EF4-FFF2-40B4-BE49-F238E27FC236}">
                <a16:creationId xmlns:a16="http://schemas.microsoft.com/office/drawing/2014/main" id="{CC192E3E-03C2-4A80-92A0-593FCDC4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248" y="5847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shape-25">
            <a:extLst xmlns:a="http://schemas.openxmlformats.org/drawingml/2006/main">
              <a:ext uri="{FF2B5EF4-FFF2-40B4-BE49-F238E27FC236}">
                <a16:creationId xmlns:a16="http://schemas.microsoft.com/office/drawing/2014/main" id="{24D934E3-31C9-4518-9934-EDCD6E91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098" y="5847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3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5411153" y="584835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80" name="shape-26">
            <a:extLst xmlns:a="http://schemas.openxmlformats.org/drawingml/2006/main">
              <a:ext uri="{FF2B5EF4-FFF2-40B4-BE49-F238E27FC236}">
                <a16:creationId xmlns:a16="http://schemas.microsoft.com/office/drawing/2014/main" id="{F8B7009C-239E-4476-A2F7-5AE5CC00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248" y="6495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" name="shape-27">
            <a:extLst xmlns:a="http://schemas.openxmlformats.org/drawingml/2006/main">
              <a:ext uri="{FF2B5EF4-FFF2-40B4-BE49-F238E27FC236}">
                <a16:creationId xmlns:a16="http://schemas.microsoft.com/office/drawing/2014/main" id="{DF8CC057-C582-4787-B4A7-A1D06642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248" y="7199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6" name=""/>
          <p:cNvCxnSpPr>
            <a:stCxn xmlns:a="http://schemas.openxmlformats.org/drawingml/2006/main" id="80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 flipH="1">
            <a:off x="5409248" y="6496051"/>
            <a:ext cx="1905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83" name="shape-28">
            <a:extLst xmlns:a="http://schemas.openxmlformats.org/drawingml/2006/main">
              <a:ext uri="{FF2B5EF4-FFF2-40B4-BE49-F238E27FC236}">
                <a16:creationId xmlns:a16="http://schemas.microsoft.com/office/drawing/2014/main" id="{0E6BB98B-16BF-440E-8D31-90E04D49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248" y="7199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shape-29">
            <a:extLst xmlns:a="http://schemas.openxmlformats.org/drawingml/2006/main">
              <a:ext uri="{FF2B5EF4-FFF2-40B4-BE49-F238E27FC236}">
                <a16:creationId xmlns:a16="http://schemas.microsoft.com/office/drawing/2014/main" id="{77186643-88A9-45F8-B334-26B22970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098" y="7199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9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5411153" y="720090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86" name="shape-30">
            <a:extLst xmlns:a="http://schemas.openxmlformats.org/drawingml/2006/main">
              <a:ext uri="{FF2B5EF4-FFF2-40B4-BE49-F238E27FC236}">
                <a16:creationId xmlns:a16="http://schemas.microsoft.com/office/drawing/2014/main" id="{B9B3D78A-FCDC-482A-9DFC-92E12C09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698" y="5847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shape-31">
            <a:extLst xmlns:a="http://schemas.openxmlformats.org/drawingml/2006/main">
              <a:ext uri="{FF2B5EF4-FFF2-40B4-BE49-F238E27FC236}">
                <a16:creationId xmlns:a16="http://schemas.microsoft.com/office/drawing/2014/main" id="{46714186-BF09-4504-97FF-1F222567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073" y="5847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" name=""/>
          <p:cNvCxnSpPr>
            <a:stCxn xmlns:a="http://schemas.openxmlformats.org/drawingml/2006/main" id="86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8249603" y="5848351"/>
            <a:ext cx="7124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89" name="shape-32">
            <a:extLst xmlns:a="http://schemas.openxmlformats.org/drawingml/2006/main">
              <a:ext uri="{FF2B5EF4-FFF2-40B4-BE49-F238E27FC236}">
                <a16:creationId xmlns:a16="http://schemas.microsoft.com/office/drawing/2014/main" id="{D80853CC-EE63-4801-B041-A5D47312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073" y="5847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shape-33">
            <a:extLst xmlns:a="http://schemas.openxmlformats.org/drawingml/2006/main">
              <a:ext uri="{FF2B5EF4-FFF2-40B4-BE49-F238E27FC236}">
                <a16:creationId xmlns:a16="http://schemas.microsoft.com/office/drawing/2014/main" id="{81C45698-CF7E-4589-8518-1A182C2C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073" y="62950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 flipH="1">
            <a:off x="8962073" y="5848351"/>
            <a:ext cx="1905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92" name="shape-34">
            <a:extLst xmlns:a="http://schemas.openxmlformats.org/drawingml/2006/main">
              <a:ext uri="{FF2B5EF4-FFF2-40B4-BE49-F238E27FC236}">
                <a16:creationId xmlns:a16="http://schemas.microsoft.com/office/drawing/2014/main" id="{5DADED7B-B19E-4CC8-AE7F-4936DFBC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698" y="7199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shape-35">
            <a:extLst xmlns:a="http://schemas.openxmlformats.org/drawingml/2006/main">
              <a:ext uri="{FF2B5EF4-FFF2-40B4-BE49-F238E27FC236}">
                <a16:creationId xmlns:a16="http://schemas.microsoft.com/office/drawing/2014/main" id="{B05C05E8-AD84-445F-9466-9B86A753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073" y="7199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" name=""/>
          <p:cNvCxnSpPr>
            <a:stCxn xmlns:a="http://schemas.openxmlformats.org/drawingml/2006/main" id="92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>
            <a:off x="8249603" y="7200901"/>
            <a:ext cx="7124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95" name="shape-36">
            <a:extLst xmlns:a="http://schemas.openxmlformats.org/drawingml/2006/main">
              <a:ext uri="{FF2B5EF4-FFF2-40B4-BE49-F238E27FC236}">
                <a16:creationId xmlns:a16="http://schemas.microsoft.com/office/drawing/2014/main" id="{5047654C-A067-49CE-A7FD-19DB4558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073" y="7199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shape-37">
            <a:extLst xmlns:a="http://schemas.openxmlformats.org/drawingml/2006/main">
              <a:ext uri="{FF2B5EF4-FFF2-40B4-BE49-F238E27FC236}">
                <a16:creationId xmlns:a16="http://schemas.microsoft.com/office/drawing/2014/main" id="{3C657ED7-499B-4836-93CB-29B25B8F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073" y="669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 flipH="1" flipV="1">
            <a:off x="8962073" y="6696076"/>
            <a:ext cx="1905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242" name=""/>
          <p:cNvCxnSpPr>
            <a:stCxn xmlns:a="http://schemas.openxmlformats.org/drawingml/2006/main" id="65" idx="6"/>
            <a:endCxn xmlns:a="http://schemas.openxmlformats.org/drawingml/2006/main" id="66" idx="1"/>
          </p:cNvCxnSpPr>
          <p:nvPr/>
        </p:nvCxnSpPr>
        <p:spPr>
          <a:xfrm xmlns:a="http://schemas.openxmlformats.org/drawingml/2006/main" flipV="1">
            <a:off x="9163050" y="6486525"/>
            <a:ext cx="4572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243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11134725" y="6486525"/>
            <a:ext cx="10572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244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14249400" y="649605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101" name="text-ȧ">
            <a:extLst xmlns:a="http://schemas.openxmlformats.org/drawingml/2006/main">
              <a:ext uri="{FF2B5EF4-FFF2-40B4-BE49-F238E27FC236}">
                <a16:creationId xmlns:a16="http://schemas.microsoft.com/office/drawing/2014/main" id="{FFE803F3-E77C-411F-86E0-5AD56FEE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610225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rPr>
              <a:t>ȧ</a:t>
            </a:r>
          </a:p>
        </p:txBody>
      </p:sp>
      <p:sp>
        <p:nvSpPr>
          <p:cNvPr id="102" name="text-aₙ₊₁">
            <a:extLst xmlns:a="http://schemas.openxmlformats.org/drawingml/2006/main">
              <a:ext uri="{FF2B5EF4-FFF2-40B4-BE49-F238E27FC236}">
                <a16:creationId xmlns:a16="http://schemas.microsoft.com/office/drawing/2014/main" id="{8DD89E66-6DD8-4628-8DE9-58204BD7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086475"/>
            <a:ext cx="1009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222222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222222"/>
                </a:solidFill>
                <a:latin typeface="Cambria Math"/>
                <a:ea typeface="Cambria Math"/>
                <a:cs typeface="Cambria Math"/>
              </a:rPr>
              <a:t>aₙ₊₁</a:t>
            </a:r>
          </a:p>
        </p:txBody>
      </p:sp>
      <p:sp>
        <p:nvSpPr>
          <p:cNvPr id="103" name="text-Velocity update">
            <a:extLst xmlns:a="http://schemas.openxmlformats.org/drawingml/2006/main">
              <a:ext uri="{FF2B5EF4-FFF2-40B4-BE49-F238E27FC236}">
                <a16:creationId xmlns:a16="http://schemas.microsoft.com/office/drawing/2014/main" id="{9C18EB58-D7F1-4FD1-BAF6-025717DE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7181850"/>
            <a:ext cx="2276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Velocity update</a:t>
            </a:r>
          </a:p>
        </p:txBody>
      </p:sp>
      <p:sp>
        <p:nvSpPr>
          <p:cNvPr id="104" name="text-Pressure reconstruction">
            <a:extLst xmlns:a="http://schemas.openxmlformats.org/drawingml/2006/main">
              <a:ext uri="{FF2B5EF4-FFF2-40B4-BE49-F238E27FC236}">
                <a16:creationId xmlns:a16="http://schemas.microsoft.com/office/drawing/2014/main" id="{1B8D15D4-CF33-4AA7-ABFE-B051E681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1818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Pressure reconstruction</a:t>
            </a:r>
          </a:p>
        </p:txBody>
      </p:sp>
      <p:sp>
        <p:nvSpPr>
          <p:cNvPr id="105" name="Sparse-MoE detail inset">
            <a:extLst xmlns:a="http://schemas.openxmlformats.org/drawingml/2006/main">
              <a:ext uri="{FF2B5EF4-FFF2-40B4-BE49-F238E27FC236}">
                <a16:creationId xmlns:a16="http://schemas.microsoft.com/office/drawing/2014/main" id="{6EFC491C-D6FA-4CEB-8282-AC22CA2C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7896225"/>
            <a:ext cx="6572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6"/>
          </a:solidFill>
          <a:ln xmlns:a="http://schemas.openxmlformats.org/drawingml/2006/main" w="9525">
            <a:solidFill>
              <a:srgbClr val="DDA271"/>
            </a:solidFill>
          </a:ln>
        </p:spPr>
      </p:sp>
      <p:sp>
        <p:nvSpPr>
          <p:cNvPr id="106" name="shape-38">
            <a:extLst xmlns:a="http://schemas.openxmlformats.org/drawingml/2006/main">
              <a:ext uri="{FF2B5EF4-FFF2-40B4-BE49-F238E27FC236}">
                <a16:creationId xmlns:a16="http://schemas.microsoft.com/office/drawing/2014/main" id="{2778AF31-83FD-4904-9AA3-127807A2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6923" y="7571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shape-39">
            <a:extLst xmlns:a="http://schemas.openxmlformats.org/drawingml/2006/main">
              <a:ext uri="{FF2B5EF4-FFF2-40B4-BE49-F238E27FC236}">
                <a16:creationId xmlns:a16="http://schemas.microsoft.com/office/drawing/2014/main" id="{36C0079E-67BD-4BD4-BED3-0AE4A4A8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048" y="7895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" name=""/>
          <p:cNvCxnSpPr>
            <a:stCxn xmlns:a="http://schemas.openxmlformats.org/drawingml/2006/main" id="106" idx="3"/>
            <a:endCxn xmlns:a="http://schemas.openxmlformats.org/drawingml/2006/main" id="107" idx="1"/>
          </p:cNvCxnSpPr>
          <p:nvPr/>
        </p:nvCxnSpPr>
        <p:spPr>
          <a:xfrm xmlns:a="http://schemas.openxmlformats.org/drawingml/2006/main" flipH="1">
            <a:off x="4571048" y="7572376"/>
            <a:ext cx="128778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363B40"/>
            </a:solidFill>
            <a:prstDash val="dash"/>
            <a:tailEnd type="none" w="sm" len="sm"/>
          </a:ln>
        </p:spPr>
      </p:cxnSp>
      <p:sp>
        <p:nvSpPr>
          <p:cNvPr id="109" name="shape-40">
            <a:extLst xmlns:a="http://schemas.openxmlformats.org/drawingml/2006/main">
              <a:ext uri="{FF2B5EF4-FFF2-40B4-BE49-F238E27FC236}">
                <a16:creationId xmlns:a16="http://schemas.microsoft.com/office/drawing/2014/main" id="{8C2BDB0A-B34F-47B0-B13F-11A4276E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348" y="7571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shape-41">
            <a:extLst xmlns:a="http://schemas.openxmlformats.org/drawingml/2006/main">
              <a:ext uri="{FF2B5EF4-FFF2-40B4-BE49-F238E27FC236}">
                <a16:creationId xmlns:a16="http://schemas.microsoft.com/office/drawing/2014/main" id="{F629E7AF-1A69-41C8-80F4-D7304523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4548" y="7895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5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8116253" y="7572376"/>
            <a:ext cx="1598295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363B40"/>
            </a:solidFill>
            <a:prstDash val="dash"/>
            <a:tailEnd type="none" w="sm" len="sm"/>
          </a:ln>
        </p:spPr>
      </p:cxnSp>
      <p:sp>
        <p:nvSpPr>
          <p:cNvPr id="112" name="text-ξₙ">
            <a:extLst xmlns:a="http://schemas.openxmlformats.org/drawingml/2006/main">
              <a:ext uri="{FF2B5EF4-FFF2-40B4-BE49-F238E27FC236}">
                <a16:creationId xmlns:a16="http://schemas.microsoft.com/office/drawing/2014/main" id="{D32EA903-CFEA-4687-94E9-0C64A0A3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855345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rPr>
              <a:t>ξₙ</a:t>
            </a:r>
          </a:p>
        </p:txBody>
      </p:sp>
      <p:sp>
        <p:nvSpPr>
          <p:cNvPr id="113" name="Group Top-1">
            <a:extLst xmlns:a="http://schemas.openxmlformats.org/drawingml/2006/main">
              <a:ext uri="{FF2B5EF4-FFF2-40B4-BE49-F238E27FC236}">
                <a16:creationId xmlns:a16="http://schemas.microsoft.com/office/drawing/2014/main" id="{16D2718D-1EA8-4B07-A6D6-3C7203E6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8448675"/>
            <a:ext cx="18002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8"/>
          </a:solidFill>
          <a:ln xmlns:a="http://schemas.openxmlformats.org/drawingml/2006/main" w="13811">
            <a:solidFill>
              <a:srgbClr val="9475AD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Group Top-1</a:t>
            </a:r>
          </a:p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channel Top-2</a:t>
            </a:r>
          </a:p>
        </p:txBody>
      </p:sp>
      <p:sp>
        <p:nvSpPr>
          <p:cNvPr id="114" name="Shared expert  E₀">
            <a:extLst xmlns:a="http://schemas.openxmlformats.org/drawingml/2006/main">
              <a:ext uri="{FF2B5EF4-FFF2-40B4-BE49-F238E27FC236}">
                <a16:creationId xmlns:a16="http://schemas.microsoft.com/office/drawing/2014/main" id="{21EDFC4A-1D29-4E14-A394-EAB71619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8010525"/>
            <a:ext cx="1990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3811">
            <a:solidFill>
              <a:srgbClr val="D88C53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Shared expert  E₀</a:t>
            </a:r>
          </a:p>
        </p:txBody>
      </p:sp>
      <p:sp>
        <p:nvSpPr>
          <p:cNvPr id="115" name="Top-2  Eₑ₁, Eₑ₂">
            <a:extLst xmlns:a="http://schemas.openxmlformats.org/drawingml/2006/main">
              <a:ext uri="{FF2B5EF4-FFF2-40B4-BE49-F238E27FC236}">
                <a16:creationId xmlns:a16="http://schemas.microsoft.com/office/drawing/2014/main" id="{BF314F24-ED6D-4728-AADA-12828310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8686800"/>
            <a:ext cx="1990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3811">
            <a:solidFill>
              <a:srgbClr val="D88C53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Top-2  Eₑ₁, Eₑ₂</a:t>
            </a:r>
          </a:p>
        </p:txBody>
      </p:sp>
      <p:sp>
        <p:nvSpPr>
          <p:cNvPr id="116" name="sum-Σω">
            <a:extLst xmlns:a="http://schemas.openxmlformats.org/drawingml/2006/main">
              <a:ext uri="{FF2B5EF4-FFF2-40B4-BE49-F238E27FC236}">
                <a16:creationId xmlns:a16="http://schemas.microsoft.com/office/drawing/2014/main" id="{5F87B515-1301-490F-9B00-53E22123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4201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63B40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>
                <a:latin typeface="Arial"/>
                <a:ea typeface="Arial"/>
                <a:cs typeface="Arial"/>
              </a:defRPr>
            </a:pPr>
            <a:r>
              <a:rPr sz="1800">
                <a:latin typeface="Arial"/>
                <a:ea typeface="Arial"/>
                <a:cs typeface="Arial"/>
              </a:rPr>
              <a:t>Σω</a:t>
            </a:r>
          </a:p>
        </p:txBody>
      </p:sp>
      <p:sp>
        <p:nvSpPr>
          <p:cNvPr id="117" name="shape-42">
            <a:extLst xmlns:a="http://schemas.openxmlformats.org/drawingml/2006/main">
              <a:ext uri="{FF2B5EF4-FFF2-40B4-BE49-F238E27FC236}">
                <a16:creationId xmlns:a16="http://schemas.microsoft.com/office/drawing/2014/main" id="{3ECBF4D7-F953-477D-BAFC-3D9F7360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323" y="8771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shape-43">
            <a:extLst xmlns:a="http://schemas.openxmlformats.org/drawingml/2006/main">
              <a:ext uri="{FF2B5EF4-FFF2-40B4-BE49-F238E27FC236}">
                <a16:creationId xmlns:a16="http://schemas.microsoft.com/office/drawing/2014/main" id="{10BDCD9F-C4E9-41A6-B8DA-2EEC0B3A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98" y="8771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" name=""/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4106228" y="8772526"/>
            <a:ext cx="64770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120" name="shape-44">
            <a:extLst xmlns:a="http://schemas.openxmlformats.org/drawingml/2006/main">
              <a:ext uri="{FF2B5EF4-FFF2-40B4-BE49-F238E27FC236}">
                <a16:creationId xmlns:a16="http://schemas.microsoft.com/office/drawing/2014/main" id="{143B33D9-87B0-469B-81C9-4EEA6EEE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98" y="8771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shape-45">
            <a:extLst xmlns:a="http://schemas.openxmlformats.org/drawingml/2006/main">
              <a:ext uri="{FF2B5EF4-FFF2-40B4-BE49-F238E27FC236}">
                <a16:creationId xmlns:a16="http://schemas.microsoft.com/office/drawing/2014/main" id="{F176306B-8B3B-4D32-AAAA-C441D641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98" y="8219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 flipH="1" flipV="1">
            <a:off x="4170998" y="8220076"/>
            <a:ext cx="1905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123" name="shape-46">
            <a:extLst xmlns:a="http://schemas.openxmlformats.org/drawingml/2006/main">
              <a:ext uri="{FF2B5EF4-FFF2-40B4-BE49-F238E27FC236}">
                <a16:creationId xmlns:a16="http://schemas.microsoft.com/office/drawing/2014/main" id="{18726FFB-F994-4652-A813-BAF295D1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98" y="8219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shape-47">
            <a:extLst xmlns:a="http://schemas.openxmlformats.org/drawingml/2006/main">
              <a:ext uri="{FF2B5EF4-FFF2-40B4-BE49-F238E27FC236}">
                <a16:creationId xmlns:a16="http://schemas.microsoft.com/office/drawing/2014/main" id="{FD5BA22D-1983-45F3-BC1A-D24D27B1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773" y="8219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9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4172903" y="8220076"/>
            <a:ext cx="2388870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270" name=""/>
          <p:cNvCxnSpPr>
            <a:stCxn xmlns:a="http://schemas.openxmlformats.org/drawingml/2006/main" id="112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4105275" y="877252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271" name=""/>
          <p:cNvCxnSpPr>
            <a:stCxn xmlns:a="http://schemas.openxmlformats.org/drawingml/2006/main" id="113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6105525" y="8772525"/>
            <a:ext cx="457200" cy="1285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716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128" name="shape-48">
            <a:extLst xmlns:a="http://schemas.openxmlformats.org/drawingml/2006/main">
              <a:ext uri="{FF2B5EF4-FFF2-40B4-BE49-F238E27FC236}">
                <a16:creationId xmlns:a16="http://schemas.microsoft.com/office/drawing/2014/main" id="{0FC88D9B-FD86-45EE-BB33-EC24B540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2498" y="8228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9" name="shape-49">
            <a:extLst xmlns:a="http://schemas.openxmlformats.org/drawingml/2006/main">
              <a:ext uri="{FF2B5EF4-FFF2-40B4-BE49-F238E27FC236}">
                <a16:creationId xmlns:a16="http://schemas.microsoft.com/office/drawing/2014/main" id="{062927F2-A887-4E9C-B487-87397B20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698" y="8228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4" name=""/>
          <p:cNvCxnSpPr>
            <a:stCxn xmlns:a="http://schemas.openxmlformats.org/drawingml/2006/main" id="128" idx="3"/>
            <a:endCxn xmlns:a="http://schemas.openxmlformats.org/drawingml/2006/main" id="129" idx="1"/>
          </p:cNvCxnSpPr>
          <p:nvPr/>
        </p:nvCxnSpPr>
        <p:spPr>
          <a:xfrm xmlns:a="http://schemas.openxmlformats.org/drawingml/2006/main">
            <a:off x="8554403" y="8229601"/>
            <a:ext cx="455295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131" name="shape-50">
            <a:extLst xmlns:a="http://schemas.openxmlformats.org/drawingml/2006/main">
              <a:ext uri="{FF2B5EF4-FFF2-40B4-BE49-F238E27FC236}">
                <a16:creationId xmlns:a16="http://schemas.microsoft.com/office/drawing/2014/main" id="{5ECA63F4-9B9D-4180-B47D-C3ED3A59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698" y="8228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2" name="shape-51">
            <a:extLst xmlns:a="http://schemas.openxmlformats.org/drawingml/2006/main">
              <a:ext uri="{FF2B5EF4-FFF2-40B4-BE49-F238E27FC236}">
                <a16:creationId xmlns:a16="http://schemas.microsoft.com/office/drawing/2014/main" id="{3AC162C8-9B43-4621-A2A1-811794F9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698" y="8609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7" name=""/>
          <p:cNvCxnSpPr>
            <a:stCxn xmlns:a="http://schemas.openxmlformats.org/drawingml/2006/main" id="131" idx="3"/>
            <a:endCxn xmlns:a="http://schemas.openxmlformats.org/drawingml/2006/main" id="132" idx="1"/>
          </p:cNvCxnSpPr>
          <p:nvPr/>
        </p:nvCxnSpPr>
        <p:spPr>
          <a:xfrm xmlns:a="http://schemas.openxmlformats.org/drawingml/2006/main" flipH="1">
            <a:off x="9009698" y="8229601"/>
            <a:ext cx="1905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134" name="shape-52">
            <a:extLst xmlns:a="http://schemas.openxmlformats.org/drawingml/2006/main">
              <a:ext uri="{FF2B5EF4-FFF2-40B4-BE49-F238E27FC236}">
                <a16:creationId xmlns:a16="http://schemas.microsoft.com/office/drawing/2014/main" id="{67301607-DA08-440B-AD53-A6F3FFC3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698" y="8609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5" name="shape-53">
            <a:extLst xmlns:a="http://schemas.openxmlformats.org/drawingml/2006/main">
              <a:ext uri="{FF2B5EF4-FFF2-40B4-BE49-F238E27FC236}">
                <a16:creationId xmlns:a16="http://schemas.microsoft.com/office/drawing/2014/main" id="{1A42E11C-BB50-4D44-A0DD-FDD74E14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498" y="8609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0" name=""/>
          <p:cNvCxnSpPr>
            <a:stCxn xmlns:a="http://schemas.openxmlformats.org/drawingml/2006/main" id="134" idx="3"/>
            <a:endCxn xmlns:a="http://schemas.openxmlformats.org/drawingml/2006/main" id="135" idx="1"/>
          </p:cNvCxnSpPr>
          <p:nvPr/>
        </p:nvCxnSpPr>
        <p:spPr>
          <a:xfrm xmlns:a="http://schemas.openxmlformats.org/drawingml/2006/main">
            <a:off x="9011603" y="8610601"/>
            <a:ext cx="302895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137" name="shape-54">
            <a:extLst xmlns:a="http://schemas.openxmlformats.org/drawingml/2006/main">
              <a:ext uri="{FF2B5EF4-FFF2-40B4-BE49-F238E27FC236}">
                <a16:creationId xmlns:a16="http://schemas.microsoft.com/office/drawing/2014/main" id="{A6D49EC5-F852-444B-ABD0-8369F81E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2498" y="8904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8" name="shape-55">
            <a:extLst xmlns:a="http://schemas.openxmlformats.org/drawingml/2006/main">
              <a:ext uri="{FF2B5EF4-FFF2-40B4-BE49-F238E27FC236}">
                <a16:creationId xmlns:a16="http://schemas.microsoft.com/office/drawing/2014/main" id="{06D7FDF7-7580-4853-B1AF-83F69D62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698" y="8904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3" name=""/>
          <p:cNvCxnSpPr>
            <a:stCxn xmlns:a="http://schemas.openxmlformats.org/drawingml/2006/main" id="137" idx="3"/>
            <a:endCxn xmlns:a="http://schemas.openxmlformats.org/drawingml/2006/main" id="138" idx="1"/>
          </p:cNvCxnSpPr>
          <p:nvPr/>
        </p:nvCxnSpPr>
        <p:spPr>
          <a:xfrm xmlns:a="http://schemas.openxmlformats.org/drawingml/2006/main">
            <a:off x="8554403" y="8905876"/>
            <a:ext cx="455295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140" name="shape-56">
            <a:extLst xmlns:a="http://schemas.openxmlformats.org/drawingml/2006/main">
              <a:ext uri="{FF2B5EF4-FFF2-40B4-BE49-F238E27FC236}">
                <a16:creationId xmlns:a16="http://schemas.microsoft.com/office/drawing/2014/main" id="{6FAE06A6-61E8-4907-BE0D-D92ED8C4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698" y="8904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1" name="shape-57">
            <a:extLst xmlns:a="http://schemas.openxmlformats.org/drawingml/2006/main">
              <a:ext uri="{FF2B5EF4-FFF2-40B4-BE49-F238E27FC236}">
                <a16:creationId xmlns:a16="http://schemas.microsoft.com/office/drawing/2014/main" id="{9AF3F6FA-FAA8-48AE-81B5-BB579088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698" y="8609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6" name=""/>
          <p:cNvCxnSpPr>
            <a:stCxn xmlns:a="http://schemas.openxmlformats.org/drawingml/2006/main" id="140" idx="3"/>
            <a:endCxn xmlns:a="http://schemas.openxmlformats.org/drawingml/2006/main" id="141" idx="1"/>
          </p:cNvCxnSpPr>
          <p:nvPr/>
        </p:nvCxnSpPr>
        <p:spPr>
          <a:xfrm xmlns:a="http://schemas.openxmlformats.org/drawingml/2006/main" flipH="1" flipV="1">
            <a:off x="9009698" y="8610601"/>
            <a:ext cx="1905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143" name="text-Structured expert responses">
            <a:extLst xmlns:a="http://schemas.openxmlformats.org/drawingml/2006/main">
              <a:ext uri="{FF2B5EF4-FFF2-40B4-BE49-F238E27FC236}">
                <a16:creationId xmlns:a16="http://schemas.microsoft.com/office/drawing/2014/main" id="{10AB1471-52EB-4DE1-A71D-9BDE4A99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8096250"/>
            <a:ext cx="414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Structured expert responses</a:t>
            </a:r>
          </a:p>
        </p:txBody>
      </p:sp>
      <p:sp>
        <p:nvSpPr>
          <p:cNvPr id="144" name="text-nonlinear + linear + low-rank quadratic">
            <a:extLst xmlns:a="http://schemas.openxmlformats.org/drawingml/2006/main">
              <a:ext uri="{FF2B5EF4-FFF2-40B4-BE49-F238E27FC236}">
                <a16:creationId xmlns:a16="http://schemas.microsoft.com/office/drawing/2014/main" id="{5513E4F9-7701-4190-A481-2ECBF938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8543925"/>
            <a:ext cx="4143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nonlinear + linear</a:t>
            </a:r>
          </a:p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 low-rank quadratic</a:t>
            </a:r>
          </a:p>
        </p:txBody>
      </p:sp>
    </p:spTree>
    <p:extLst>
      <p:ext uri="{BB962C8B-B14F-4D97-AF65-F5344CB8AC3E}">
        <p14:creationId xmlns:p14="http://schemas.microsoft.com/office/powerpoint/2010/main" val="8822225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2026-09-13T14:26:16.5580000Z</dcterms:created>
  <dcterms:modified xsi:type="dcterms:W3CDTF">2026-09-13T14:26:16.5580000Z</dcterms:modified>
</coreProperties>
</file>