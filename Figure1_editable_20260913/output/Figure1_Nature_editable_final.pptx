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da3de990ee44c3" /><Relationship Type="http://schemas.openxmlformats.org/officeDocument/2006/relationships/extended-properties" Target="/docProps/app.xml" Id="R61e2d98eca884893" /><Relationship Type="http://schemas.openxmlformats.org/officeDocument/2006/relationships/officeDocument" Target="/ppt/presentation.xml" Id="R060204b77a624c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26c84472514215"/>
  </p:sldMasterIdLst>
  <p:notesMasterIdLst>
    <p:notesMasterId xmlns:r="http://schemas.openxmlformats.org/officeDocument/2006/relationships" r:id="R9b4bc9057f974377"/>
  </p:notesMasterIdLst>
  <p:sldIdLst>
    <p:sldId xmlns:r="http://schemas.openxmlformats.org/officeDocument/2006/relationships" id="256" r:id="R0c534b70fbd24a3d"/>
  </p:sldIdLst>
  <p:sldSz cx="15240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797289df4547f8" /><Relationship Type="http://schemas.openxmlformats.org/officeDocument/2006/relationships/slideMaster" Target="/ppt/slideMasters/slideMaster1.xml" Id="Ra326c84472514215" /><Relationship Type="http://schemas.openxmlformats.org/officeDocument/2006/relationships/notesMaster" Target="/ppt/notesMasters/notesMaster1.xml" Id="R9b4bc9057f974377" /><Relationship Type="http://schemas.openxmlformats.org/officeDocument/2006/relationships/presProps" Target="/ppt/presProps.xml" Id="R86fc1ccd8ec24866" /><Relationship Type="http://schemas.openxmlformats.org/officeDocument/2006/relationships/tableStyles" Target="/ppt/tableStyles.xml" Id="R3ef9934c044745b7" /><Relationship Type="http://schemas.openxmlformats.org/officeDocument/2006/relationships/slide" Target="/ppt/slides/slide1.xml" Id="R0c534b70fbd24a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78f7a1c9e54a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389ab6dbb244cf" /><Relationship Type="http://schemas.openxmlformats.org/officeDocument/2006/relationships/notesMaster" Target="/ppt/notesMasters/notesMaster1.xml" Id="Rdc3b03b9cc1c4cf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RAL-MoE-ROM method schematic. Native editable text, shapes and connectors. Three circular-cylinder reference images are native crops of existing CFD-reference velocity panels, not newly computed results or T2-C predictions. Sources: C:/Users/panxy1019/Documents/CHANNEL/RAL_MOE_ROM_ICLR2027/figures/original/steady_physical_fields.png; C:/Users/panxy1019/Documents/CHANNEL/RAL_MOE_ROM_ICLR2027/figures/original/hopf_physical_fields.png; C:/Users/panxy1019/Documents/CHANNEL/RAL_MOE_ROM_ICLR2027/figures/original/periodic_physical_fields.png. The Hopf reference is near onset and weakly perturbed. Color bars are omitted for qualitative regime identification; these thumbnails are not a quantitative cross-regime magnitude comparison.</a:t>
            </a:r>
          </a:p>
          <a:p xmlns:a="http://schemas.openxmlformats.org/drawingml/2006/main">
            <a:r>
              <a:t>Method source: C:/Users/panxy1019/Documents/CHANNEL/PMD_Galerkin_Pan_ICLR (1)/sections/method.tex. Gamma pressure gating retained from current manuscript. Group Top-1 and channel Top-2 refer to hierarchical sparse routing; the shared expert bypasses sparse selection. The two selected specialists retain independent native states. Physical-space assembly is identity for Top-1 and T2-C for an adjacent Top-2 pair. No fused-state feedback.</a:t>
            </a:r>
          </a:p>
          <a:p xmlns:a="http://schemas.openxmlformats.org/drawingml/2006/main">
            <a:r>
              <a:t>Design brief: C:/Users/panxy1019/Downloads/RAL_MoE_ROM_Figure1_Nature_style_redraw_plan.md. User requested three regime thumbnails, overriding the brief's thumbnail-removal recommendation.</a:t>
            </a:r>
          </a:p>
          <a:p xmlns:a="http://schemas.openxmlformats.org/drawingml/2006/main">
            <a:r>
              <a:t>Visual references supplied by user: https://www.nature.com/articles/s41467-021-26434-1 ; https://www.nature.com/articles/s42256-023-00685-7 ; https://www.nature.com/articles/s42256-024-00938-z ; https://www.nature.com/articles/s43588-025-00904-8 ; https://www.nature.com/articles/s41467-026-70245-1 . Article pages for PINN-SR and S3GM were accessible; several dedicated figure pages returned access redirects. No published artwork is reproduced.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65c6c0a7954d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3466ed222834a3f" /><Relationship Type="http://schemas.openxmlformats.org/officeDocument/2006/relationships/slideLayout" Target="/ppt/slideLayouts/slideLayout1.xml" Id="R3fbcf4c058f045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bcf4c058f045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bf391f6b1470b" /><Relationship Type="http://schemas.openxmlformats.org/officeDocument/2006/relationships/image" Target="/ppt/media/image.png" Id="Rd9635cc2f37148fc" /><Relationship Type="http://schemas.openxmlformats.org/officeDocument/2006/relationships/image" Target="/ppt/media/image2.png" Id="R065bc2a8c4c94861" /><Relationship Type="http://schemas.openxmlformats.org/officeDocument/2006/relationships/image" Target="/ppt/media/image3.png" Id="Rb5867ce7f9de4b63" /><Relationship Type="http://schemas.openxmlformats.org/officeDocument/2006/relationships/notesSlide" Target="/ppt/notesSlides/notesSlide1.xml" Id="Rb02169d78c174f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" name="text-a   Two-level hierarchy">
            <a:extLst xmlns:a="http://schemas.openxmlformats.org/drawingml/2006/main">
              <a:ext uri="{FF2B5EF4-FFF2-40B4-BE49-F238E27FC236}">
                <a16:creationId xmlns:a16="http://schemas.microsoft.com/office/drawing/2014/main" id="{AF3C8397-B630-4551-81E8-3957F4BD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09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a   Two-level hierarchy</a:t>
            </a:r>
          </a:p>
        </p:txBody>
      </p:sp>
      <p:sp>
        <p:nvSpPr>
          <p:cNvPr id="2" name="text-μ">
            <a:extLst xmlns:a="http://schemas.openxmlformats.org/drawingml/2006/main">
              <a:ext uri="{FF2B5EF4-FFF2-40B4-BE49-F238E27FC236}">
                <a16:creationId xmlns:a16="http://schemas.microsoft.com/office/drawing/2014/main" id="{C754AD5E-ABF8-4BDB-AF94-E679C61B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1343025"/>
            <a:ext cx="61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222222"/>
                </a:solidFill>
                <a:latin typeface="Cambria Math"/>
                <a:ea typeface="Cambria Math"/>
                <a:cs typeface="Cambria Math"/>
              </a:defRPr>
            </a:pPr>
            <a:r>
              <a:rPr sz="3150" b="0">
                <a:solidFill>
                  <a:srgbClr val="222222"/>
                </a:solidFill>
                <a:latin typeface="Cambria Math"/>
                <a:ea typeface="Cambria Math"/>
                <a:cs typeface="Cambria Math"/>
              </a:rPr>
              <a:t>μ</a:t>
            </a:r>
          </a:p>
        </p:txBody>
      </p:sp>
      <p:sp>
        <p:nvSpPr>
          <p:cNvPr id="3" name="E2 router">
            <a:extLst xmlns:a="http://schemas.openxmlformats.org/drawingml/2006/main">
              <a:ext uri="{FF2B5EF4-FFF2-40B4-BE49-F238E27FC236}">
                <a16:creationId xmlns:a16="http://schemas.microsoft.com/office/drawing/2014/main" id="{8C5286FC-EA65-4060-BF47-99408D09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1152525"/>
            <a:ext cx="1590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8"/>
          </a:solidFill>
          <a:ln xmlns:a="http://schemas.openxmlformats.org/drawingml/2006/main" w="13811">
            <a:solidFill>
              <a:srgbClr val="9475AD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E2 router</a:t>
            </a:r>
          </a:p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parameter-only</a:t>
            </a:r>
          </a:p>
        </p:txBody>
      </p:sp>
      <p:sp>
        <p:nvSpPr>
          <p:cNvPr id="4" name="Applicability +&#10;selection">
            <a:extLst xmlns:a="http://schemas.openxmlformats.org/drawingml/2006/main">
              <a:ext uri="{FF2B5EF4-FFF2-40B4-BE49-F238E27FC236}">
                <a16:creationId xmlns:a16="http://schemas.microsoft.com/office/drawing/2014/main" id="{949C5FB2-334C-4405-BB04-A96BD64E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152525"/>
            <a:ext cx="23241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8"/>
          </a:solidFill>
          <a:ln xmlns:a="http://schemas.openxmlformats.org/drawingml/2006/main" w="13811">
            <a:solidFill>
              <a:srgbClr val="9475AD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Applicability +
selection</a:t>
            </a:r>
          </a:p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Top-1 / adj. Top-2</a:t>
            </a:r>
          </a:p>
        </p:txBody>
      </p:sp>
      <p:sp>
        <p:nvSpPr>
          <p:cNvPr id="5" name="Independent rollout">
            <a:extLst xmlns:a="http://schemas.openxmlformats.org/drawingml/2006/main">
              <a:ext uri="{FF2B5EF4-FFF2-40B4-BE49-F238E27FC236}">
                <a16:creationId xmlns:a16="http://schemas.microsoft.com/office/drawing/2014/main" id="{1B29CACD-C7BC-4552-9B84-C894FCF4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914400"/>
            <a:ext cx="22574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3811">
            <a:solidFill>
              <a:srgbClr val="D88C53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1"/>
              <a:t>Selected r / (r, s)</a:t>
            </a:r>
          </a:p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/>
              <a:t>Independent</a:t>
            </a:r>
          </a:p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/>
              <a:t>rollout</a:t>
            </a:r>
          </a:p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/>
              <a:t>native coordinates</a:t>
            </a:r>
          </a:p>
        </p:txBody>
      </p:sp>
      <p:sp>
        <p:nvSpPr>
          <p:cNvPr id="6" name="Decode">
            <a:extLst xmlns:a="http://schemas.openxmlformats.org/drawingml/2006/main">
              <a:ext uri="{FF2B5EF4-FFF2-40B4-BE49-F238E27FC236}">
                <a16:creationId xmlns:a16="http://schemas.microsoft.com/office/drawing/2014/main" id="{0B1CA188-FE64-404F-8B70-B65F3F5A3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152525"/>
            <a:ext cx="15525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3811">
            <a:solidFill>
              <a:srgbClr val="638CAC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Decode</a:t>
            </a:r>
          </a:p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physical space</a:t>
            </a:r>
          </a:p>
        </p:txBody>
      </p:sp>
      <p:sp>
        <p:nvSpPr>
          <p:cNvPr id="7" name="T2-C fusion">
            <a:extLst xmlns:a="http://schemas.openxmlformats.org/drawingml/2006/main">
              <a:ext uri="{FF2B5EF4-FFF2-40B4-BE49-F238E27FC236}">
                <a16:creationId xmlns:a16="http://schemas.microsoft.com/office/drawing/2014/main" id="{FC5451D9-BCDA-4687-9E82-63BBDBDF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095375"/>
            <a:ext cx="20097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13811">
            <a:solidFill>
              <a:srgbClr val="71A07B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T2-C fusion</a:t>
            </a:r>
          </a:p>
          <a:p xmlns:a="http://schemas.openxmlformats.org/drawingml/2006/main">
            <a:pPr algn="ctr">
              <a:defRPr sz="21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α(μ̃, π̄, dₙ)</a:t>
            </a:r>
          </a:p>
        </p:txBody>
      </p:sp>
      <p:sp>
        <p:nvSpPr>
          <p:cNvPr id="8" name="Predicted fields">
            <a:extLst xmlns:a="http://schemas.openxmlformats.org/drawingml/2006/main">
              <a:ext uri="{FF2B5EF4-FFF2-40B4-BE49-F238E27FC236}">
                <a16:creationId xmlns:a16="http://schemas.microsoft.com/office/drawing/2014/main" id="{27E15A48-56C9-4FAA-9985-813107B99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1152525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13811">
            <a:solidFill>
              <a:srgbClr val="71A07B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Predicted fields</a:t>
            </a:r>
          </a:p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û(t), p̂°(t)</a:t>
            </a:r>
          </a:p>
        </p:txBody>
      </p:sp>
      <p:cxnSp>
        <p:nvCxnSpPr>
          <p:cNvPr id="165" name="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866775" y="16287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166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838450" y="16287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167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572125" y="1628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16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8305800" y="16287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169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0315575" y="16287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170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2734925" y="1628775"/>
            <a:ext cx="409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15" name="text-π(μ)">
            <a:extLst xmlns:a="http://schemas.openxmlformats.org/drawingml/2006/main">
              <a:ext uri="{FF2B5EF4-FFF2-40B4-BE49-F238E27FC236}">
                <a16:creationId xmlns:a16="http://schemas.microsoft.com/office/drawing/2014/main" id="{05B75082-E707-4EFB-AC8A-D757F010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762000"/>
            <a:ext cx="809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22222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222222"/>
                </a:solidFill>
                <a:latin typeface="Cambria Math"/>
                <a:ea typeface="Cambria Math"/>
                <a:cs typeface="Cambria Math"/>
              </a:rPr>
              <a:t>π(μ)</a:t>
            </a:r>
          </a:p>
        </p:txBody>
      </p:sp>
      <p:sp>
        <p:nvSpPr>
          <p:cNvPr id="16" name="text-Top-1: identity Top-2: fusion">
            <a:extLst xmlns:a="http://schemas.openxmlformats.org/drawingml/2006/main">
              <a:ext uri="{FF2B5EF4-FFF2-40B4-BE49-F238E27FC236}">
                <a16:creationId xmlns:a16="http://schemas.microsoft.com/office/drawing/2014/main" id="{68129E64-213C-41A2-A535-82CE8B6E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5900" y="2276475"/>
            <a:ext cx="214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Top-1: identity</a:t>
            </a:r>
          </a:p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Top-2: fusion</a:t>
            </a:r>
          </a:p>
        </p:txBody>
      </p:sp>
      <p:sp>
        <p:nvSpPr>
          <p:cNvPr id="17" name="text-Regime-local specialists">
            <a:extLst xmlns:a="http://schemas.openxmlformats.org/drawingml/2006/main">
              <a:ext uri="{FF2B5EF4-FFF2-40B4-BE49-F238E27FC236}">
                <a16:creationId xmlns:a16="http://schemas.microsoft.com/office/drawing/2014/main" id="{45F25ED0-AD7C-45C9-97D0-1CED8E6C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09850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Regime-local specialists</a:t>
            </a:r>
          </a:p>
        </p:txBody>
      </p:sp>
      <p:sp>
        <p:nvSpPr>
          <p:cNvPr id="18" name="Steady specialist card">
            <a:extLst xmlns:a="http://schemas.openxmlformats.org/drawingml/2006/main">
              <a:ext uri="{FF2B5EF4-FFF2-40B4-BE49-F238E27FC236}">
                <a16:creationId xmlns:a16="http://schemas.microsoft.com/office/drawing/2014/main" id="{2B6DC024-2614-4FF9-BD29-4E492FFD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57525"/>
            <a:ext cx="16097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BEC4"/>
            </a:solidFill>
          </a:ln>
        </p:spPr>
      </p:sp>
      <p:sp>
        <p:nvSpPr>
          <p:cNvPr id="19" name="shape-1">
            <a:extLst xmlns:a="http://schemas.openxmlformats.org/drawingml/2006/main">
              <a:ext uri="{FF2B5EF4-FFF2-40B4-BE49-F238E27FC236}">
                <a16:creationId xmlns:a16="http://schemas.microsoft.com/office/drawing/2014/main" id="{12729C21-7697-4F03-BE11-D317AE65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57525"/>
            <a:ext cx="16097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8CAB"/>
          </a:solidFill>
          <a:ln xmlns:a="http://schemas.openxmlformats.org/drawingml/2006/main" w="0">
            <a:noFill/>
          </a:ln>
        </p:spPr>
      </p:sp>
      <p:sp>
        <p:nvSpPr>
          <p:cNvPr id="20" name="text-Steady  S">
            <a:extLst xmlns:a="http://schemas.openxmlformats.org/drawingml/2006/main">
              <a:ext uri="{FF2B5EF4-FFF2-40B4-BE49-F238E27FC236}">
                <a16:creationId xmlns:a16="http://schemas.microsoft.com/office/drawing/2014/main" id="{B7F676F4-12AA-49EA-8E29-914D1E5A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3372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Steady  S</a:t>
            </a:r>
          </a:p>
        </p:txBody>
      </p:sp>
      <p:pic>
        <p:nvPicPr>
          <p:cNvPr id="1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35cc2f37148fc"/>
          <a:srcRect xmlns:a="http://schemas.openxmlformats.org/drawingml/2006/main" l="12250" t="7500" r="58500" b="76400"/>
          <a:stretch xmlns:a="http://schemas.openxmlformats.org/drawingml/2006/main"/>
        </p:blipFill>
        <p:spPr>
          <a:xfrm xmlns:a="http://schemas.openxmlformats.org/drawingml/2006/main">
            <a:off x="790575" y="3486150"/>
            <a:ext cx="1457325" cy="642461"/>
          </a:xfrm>
          <a:prstGeom xmlns:a="http://schemas.openxmlformats.org/drawingml/2006/main" prst="rect">
            <a:avLst/>
          </a:prstGeom>
        </p:spPr>
      </p:pic>
      <p:sp>
        <p:nvSpPr>
          <p:cNvPr id="22" name="Hopf specialist card">
            <a:extLst xmlns:a="http://schemas.openxmlformats.org/drawingml/2006/main">
              <a:ext uri="{FF2B5EF4-FFF2-40B4-BE49-F238E27FC236}">
                <a16:creationId xmlns:a16="http://schemas.microsoft.com/office/drawing/2014/main" id="{55F05B41-34FA-4858-AEE1-51A7709A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57525"/>
            <a:ext cx="16097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BEC4"/>
            </a:solidFill>
          </a:ln>
        </p:spPr>
      </p:sp>
      <p:sp>
        <p:nvSpPr>
          <p:cNvPr id="23" name="shape-2">
            <a:extLst xmlns:a="http://schemas.openxmlformats.org/drawingml/2006/main">
              <a:ext uri="{FF2B5EF4-FFF2-40B4-BE49-F238E27FC236}">
                <a16:creationId xmlns:a16="http://schemas.microsoft.com/office/drawing/2014/main" id="{514F741B-F6A8-49EF-AA53-25A3B4AC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57525"/>
            <a:ext cx="16097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B52"/>
          </a:solidFill>
          <a:ln xmlns:a="http://schemas.openxmlformats.org/drawingml/2006/main" w="0">
            <a:noFill/>
          </a:ln>
        </p:spPr>
      </p:sp>
      <p:sp>
        <p:nvSpPr>
          <p:cNvPr id="24" name="text-Hopf  H">
            <a:extLst xmlns:a="http://schemas.openxmlformats.org/drawingml/2006/main">
              <a:ext uri="{FF2B5EF4-FFF2-40B4-BE49-F238E27FC236}">
                <a16:creationId xmlns:a16="http://schemas.microsoft.com/office/drawing/2014/main" id="{BBF9DD19-0446-4FCF-9DFB-9572DA8A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3372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Hopf  H</a:t>
            </a:r>
          </a:p>
        </p:txBody>
      </p:sp>
      <p:pic>
        <p:nvPicPr>
          <p:cNvPr id="1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bc2a8c4c94861"/>
          <a:srcRect xmlns:a="http://schemas.openxmlformats.org/drawingml/2006/main" l="12250" t="7500" r="58500" b="76400"/>
          <a:stretch xmlns:a="http://schemas.openxmlformats.org/drawingml/2006/main"/>
        </p:blipFill>
        <p:spPr>
          <a:xfrm xmlns:a="http://schemas.openxmlformats.org/drawingml/2006/main">
            <a:off x="2552700" y="3486150"/>
            <a:ext cx="1457325" cy="642461"/>
          </a:xfrm>
          <a:prstGeom xmlns:a="http://schemas.openxmlformats.org/drawingml/2006/main" prst="rect">
            <a:avLst/>
          </a:prstGeom>
        </p:spPr>
      </p:pic>
      <p:sp>
        <p:nvSpPr>
          <p:cNvPr id="26" name="Periodic specialist card">
            <a:extLst xmlns:a="http://schemas.openxmlformats.org/drawingml/2006/main">
              <a:ext uri="{FF2B5EF4-FFF2-40B4-BE49-F238E27FC236}">
                <a16:creationId xmlns:a16="http://schemas.microsoft.com/office/drawing/2014/main" id="{EEE36849-C3C2-4D7A-8AAD-ECB02E5F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57525"/>
            <a:ext cx="16097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B8BEC4"/>
            </a:solidFill>
          </a:ln>
        </p:spPr>
      </p:sp>
      <p:sp>
        <p:nvSpPr>
          <p:cNvPr id="27" name="shape-3">
            <a:extLst xmlns:a="http://schemas.openxmlformats.org/drawingml/2006/main">
              <a:ext uri="{FF2B5EF4-FFF2-40B4-BE49-F238E27FC236}">
                <a16:creationId xmlns:a16="http://schemas.microsoft.com/office/drawing/2014/main" id="{9E4FDC03-3DDE-47A7-8961-0875E735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57525"/>
            <a:ext cx="16097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277"/>
          </a:solidFill>
          <a:ln xmlns:a="http://schemas.openxmlformats.org/drawingml/2006/main" w="0">
            <a:noFill/>
          </a:ln>
        </p:spPr>
      </p:sp>
      <p:sp>
        <p:nvSpPr>
          <p:cNvPr id="28" name="text-Periodic  P">
            <a:extLst xmlns:a="http://schemas.openxmlformats.org/drawingml/2006/main">
              <a:ext uri="{FF2B5EF4-FFF2-40B4-BE49-F238E27FC236}">
                <a16:creationId xmlns:a16="http://schemas.microsoft.com/office/drawing/2014/main" id="{1642D15E-0A6E-4E9D-BE14-1F07EC5E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3372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Periodic  P</a:t>
            </a:r>
          </a:p>
        </p:txBody>
      </p:sp>
      <p:pic>
        <p:nvPicPr>
          <p:cNvPr id="1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867ce7f9de4b63"/>
          <a:srcRect xmlns:a="http://schemas.openxmlformats.org/drawingml/2006/main" l="12250" t="7500" r="58500" b="76400"/>
          <a:stretch xmlns:a="http://schemas.openxmlformats.org/drawingml/2006/main"/>
        </p:blipFill>
        <p:spPr>
          <a:xfrm xmlns:a="http://schemas.openxmlformats.org/drawingml/2006/main">
            <a:off x="4314825" y="3486150"/>
            <a:ext cx="1457325" cy="642461"/>
          </a:xfrm>
          <a:prstGeom xmlns:a="http://schemas.openxmlformats.org/drawingml/2006/main" prst="rect">
            <a:avLst/>
          </a:prstGeom>
        </p:spPr>
      </p:pic>
      <p:sp>
        <p:nvSpPr>
          <p:cNvPr id="30" name="shape-4">
            <a:extLst xmlns:a="http://schemas.openxmlformats.org/drawingml/2006/main">
              <a:ext uri="{FF2B5EF4-FFF2-40B4-BE49-F238E27FC236}">
                <a16:creationId xmlns:a16="http://schemas.microsoft.com/office/drawing/2014/main" id="{85E27F42-598E-4C96-890E-3B345D84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23" y="2989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1" name="shape-5">
            <a:extLst xmlns:a="http://schemas.openxmlformats.org/drawingml/2006/main">
              <a:ext uri="{FF2B5EF4-FFF2-40B4-BE49-F238E27FC236}">
                <a16:creationId xmlns:a16="http://schemas.microsoft.com/office/drawing/2014/main" id="{A481A909-0665-4A65-BA95-7E37BBD7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148" y="2989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1515428" y="2990851"/>
            <a:ext cx="423672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33" name="shape-6">
            <a:extLst xmlns:a="http://schemas.openxmlformats.org/drawingml/2006/main">
              <a:ext uri="{FF2B5EF4-FFF2-40B4-BE49-F238E27FC236}">
                <a16:creationId xmlns:a16="http://schemas.microsoft.com/office/drawing/2014/main" id="{5DD0ECFE-2905-4231-9426-E6E807BD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23" y="2989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shape-7">
            <a:extLst xmlns:a="http://schemas.openxmlformats.org/drawingml/2006/main">
              <a:ext uri="{FF2B5EF4-FFF2-40B4-BE49-F238E27FC236}">
                <a16:creationId xmlns:a16="http://schemas.microsoft.com/office/drawing/2014/main" id="{409974C4-253A-4EE1-98A6-0AB2B843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23" y="3056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1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 flipH="1">
            <a:off x="1513523" y="2990851"/>
            <a:ext cx="1905" cy="666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36" name="shape-8">
            <a:extLst xmlns:a="http://schemas.openxmlformats.org/drawingml/2006/main">
              <a:ext uri="{FF2B5EF4-FFF2-40B4-BE49-F238E27FC236}">
                <a16:creationId xmlns:a16="http://schemas.microsoft.com/office/drawing/2014/main" id="{26D17332-E4E9-44BA-B01D-2F5D782E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648" y="2989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7" name="shape-9">
            <a:extLst xmlns:a="http://schemas.openxmlformats.org/drawingml/2006/main">
              <a:ext uri="{FF2B5EF4-FFF2-40B4-BE49-F238E27FC236}">
                <a16:creationId xmlns:a16="http://schemas.microsoft.com/office/drawing/2014/main" id="{5F508BF9-49FF-4495-999C-3140C4DF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5648" y="3056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4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 flipH="1">
            <a:off x="3275648" y="2990851"/>
            <a:ext cx="1905" cy="666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39" name="shape-10">
            <a:extLst xmlns:a="http://schemas.openxmlformats.org/drawingml/2006/main">
              <a:ext uri="{FF2B5EF4-FFF2-40B4-BE49-F238E27FC236}">
                <a16:creationId xmlns:a16="http://schemas.microsoft.com/office/drawing/2014/main" id="{622BE247-9AAE-4770-8793-5D7B7A8C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7773" y="2989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shape-11">
            <a:extLst xmlns:a="http://schemas.openxmlformats.org/drawingml/2006/main">
              <a:ext uri="{FF2B5EF4-FFF2-40B4-BE49-F238E27FC236}">
                <a16:creationId xmlns:a16="http://schemas.microsoft.com/office/drawing/2014/main" id="{BA3114BF-5B47-43FD-98C7-8FDB2AA5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7773" y="3056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7" name=""/>
          <p:cNvCxnSpPr>
            <a:stCxn xmlns:a="http://schemas.openxmlformats.org/drawingml/2006/main" id="39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H="1">
            <a:off x="5037773" y="2990851"/>
            <a:ext cx="1905" cy="666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42" name="shape-12">
            <a:extLst xmlns:a="http://schemas.openxmlformats.org/drawingml/2006/main">
              <a:ext uri="{FF2B5EF4-FFF2-40B4-BE49-F238E27FC236}">
                <a16:creationId xmlns:a16="http://schemas.microsoft.com/office/drawing/2014/main" id="{A507590A-FDD5-4238-A536-58CF04CE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148" y="29898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3" name="shape-13">
            <a:extLst xmlns:a="http://schemas.openxmlformats.org/drawingml/2006/main">
              <a:ext uri="{FF2B5EF4-FFF2-40B4-BE49-F238E27FC236}">
                <a16:creationId xmlns:a16="http://schemas.microsoft.com/office/drawing/2014/main" id="{6C9FAB6F-EB69-4A40-9018-9E54A4A2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148" y="2523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0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H="1" flipV="1">
            <a:off x="5752148" y="2524126"/>
            <a:ext cx="1905" cy="4667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45" name="shape-14">
            <a:extLst xmlns:a="http://schemas.openxmlformats.org/drawingml/2006/main">
              <a:ext uri="{FF2B5EF4-FFF2-40B4-BE49-F238E27FC236}">
                <a16:creationId xmlns:a16="http://schemas.microsoft.com/office/drawing/2014/main" id="{ADCB1972-B3B4-440D-AE6B-6EE32BCE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2148" y="2523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6" name="shape-15">
            <a:extLst xmlns:a="http://schemas.openxmlformats.org/drawingml/2006/main">
              <a:ext uri="{FF2B5EF4-FFF2-40B4-BE49-F238E27FC236}">
                <a16:creationId xmlns:a16="http://schemas.microsoft.com/office/drawing/2014/main" id="{491CA05C-BB67-43A5-B5D5-192A2560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123" y="2523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3" name="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 flipH="1">
            <a:off x="4409123" y="2524126"/>
            <a:ext cx="134493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48" name="shape-16">
            <a:extLst xmlns:a="http://schemas.openxmlformats.org/drawingml/2006/main">
              <a:ext uri="{FF2B5EF4-FFF2-40B4-BE49-F238E27FC236}">
                <a16:creationId xmlns:a16="http://schemas.microsoft.com/office/drawing/2014/main" id="{A83015EE-438C-463C-AB64-D4BA1246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123" y="2523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shape-17">
            <a:extLst xmlns:a="http://schemas.openxmlformats.org/drawingml/2006/main">
              <a:ext uri="{FF2B5EF4-FFF2-40B4-BE49-F238E27FC236}">
                <a16:creationId xmlns:a16="http://schemas.microsoft.com/office/drawing/2014/main" id="{31773FD0-9C86-4BBE-A11D-046E0BC8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9123" y="21040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6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 flipH="1" flipV="1">
            <a:off x="4409123" y="2105026"/>
            <a:ext cx="1905" cy="4191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51" name="text-Admissible pairs: S–H or H–P">
            <a:extLst xmlns:a="http://schemas.openxmlformats.org/drawingml/2006/main">
              <a:ext uri="{FF2B5EF4-FFF2-40B4-BE49-F238E27FC236}">
                <a16:creationId xmlns:a16="http://schemas.microsoft.com/office/drawing/2014/main" id="{4B88E311-6B62-4C50-BCCB-16A68AAA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504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Admissible pairs: S–H or H–P</a:t>
            </a:r>
          </a:p>
        </p:txBody>
      </p:sp>
      <p:sp>
        <p:nvSpPr>
          <p:cNvPr id="52" name="Physical history">
            <a:extLst xmlns:a="http://schemas.openxmlformats.org/drawingml/2006/main">
              <a:ext uri="{FF2B5EF4-FFF2-40B4-BE49-F238E27FC236}">
                <a16:creationId xmlns:a16="http://schemas.microsoft.com/office/drawing/2014/main" id="{96D3A243-2D3B-41D2-AB46-F9F1B9CB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533775"/>
            <a:ext cx="22764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3811">
            <a:solidFill>
              <a:srgbClr val="638CAC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Physical history</a:t>
            </a:r>
          </a:p>
          <a:p xmlns:a="http://schemas.openxmlformats.org/drawingml/2006/main">
            <a:pPr algn="ctr"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Hₙ</a:t>
            </a:r>
          </a:p>
        </p:txBody>
      </p:sp>
      <p:sp>
        <p:nvSpPr>
          <p:cNvPr id="53" name="History descriptor">
            <a:extLst xmlns:a="http://schemas.openxmlformats.org/drawingml/2006/main">
              <a:ext uri="{FF2B5EF4-FFF2-40B4-BE49-F238E27FC236}">
                <a16:creationId xmlns:a16="http://schemas.microsoft.com/office/drawing/2014/main" id="{3F02124B-C85E-4A28-8504-87707D84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3533775"/>
            <a:ext cx="2400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3811">
            <a:solidFill>
              <a:srgbClr val="638CAC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History descriptor</a:t>
            </a:r>
          </a:p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dₙ (chart-independent)</a:t>
            </a:r>
          </a:p>
        </p:txBody>
      </p:sp>
      <p:sp>
        <p:nvSpPr>
          <p:cNvPr id="54" name="shape-18">
            <a:extLst xmlns:a="http://schemas.openxmlformats.org/drawingml/2006/main">
              <a:ext uri="{FF2B5EF4-FFF2-40B4-BE49-F238E27FC236}">
                <a16:creationId xmlns:a16="http://schemas.microsoft.com/office/drawing/2014/main" id="{72C0100F-0F5F-49F2-AC2F-40EFA919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973" y="3532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shape-19">
            <a:extLst xmlns:a="http://schemas.openxmlformats.org/drawingml/2006/main">
              <a:ext uri="{FF2B5EF4-FFF2-40B4-BE49-F238E27FC236}">
                <a16:creationId xmlns:a16="http://schemas.microsoft.com/office/drawing/2014/main" id="{C7C48371-16A1-4432-8544-1D8574B1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973" y="2818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2" name=""/>
          <p:cNvCxnSpPr>
            <a:stCxn xmlns:a="http://schemas.openxmlformats.org/drawingml/2006/main" id="54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 flipH="1" flipV="1">
            <a:off x="7780973" y="2819401"/>
            <a:ext cx="1905" cy="7143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57" name="shape-20">
            <a:extLst xmlns:a="http://schemas.openxmlformats.org/drawingml/2006/main">
              <a:ext uri="{FF2B5EF4-FFF2-40B4-BE49-F238E27FC236}">
                <a16:creationId xmlns:a16="http://schemas.microsoft.com/office/drawing/2014/main" id="{FFCEF00F-2B84-470C-A212-DE0CCAE7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0973" y="2818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shape-21">
            <a:extLst xmlns:a="http://schemas.openxmlformats.org/drawingml/2006/main">
              <a:ext uri="{FF2B5EF4-FFF2-40B4-BE49-F238E27FC236}">
                <a16:creationId xmlns:a16="http://schemas.microsoft.com/office/drawing/2014/main" id="{8B1D961B-9C76-47AF-8889-DB975D88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373" y="2818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5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 flipH="1">
            <a:off x="7171373" y="2819401"/>
            <a:ext cx="61150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60" name="shape-22">
            <a:extLst xmlns:a="http://schemas.openxmlformats.org/drawingml/2006/main">
              <a:ext uri="{FF2B5EF4-FFF2-40B4-BE49-F238E27FC236}">
                <a16:creationId xmlns:a16="http://schemas.microsoft.com/office/drawing/2014/main" id="{057F9CC2-1899-4FF8-8096-58567CE0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373" y="2818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shape-23">
            <a:extLst xmlns:a="http://schemas.openxmlformats.org/drawingml/2006/main">
              <a:ext uri="{FF2B5EF4-FFF2-40B4-BE49-F238E27FC236}">
                <a16:creationId xmlns:a16="http://schemas.microsoft.com/office/drawing/2014/main" id="{30126094-368E-4EDD-8A5D-2403C31D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1373" y="2342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8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 flipH="1" flipV="1">
            <a:off x="7171373" y="2343151"/>
            <a:ext cx="1905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63" name="text-initialization">
            <a:extLst xmlns:a="http://schemas.openxmlformats.org/drawingml/2006/main">
              <a:ext uri="{FF2B5EF4-FFF2-40B4-BE49-F238E27FC236}">
                <a16:creationId xmlns:a16="http://schemas.microsoft.com/office/drawing/2014/main" id="{F9AAFB5D-8894-4EC7-9EBE-AF7F83BE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43225"/>
            <a:ext cx="2085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initialization</a:t>
            </a:r>
          </a:p>
        </p:txBody>
      </p:sp>
      <p:cxnSp>
        <p:nvCxnSpPr>
          <p:cNvPr id="220" name=""/>
          <p:cNvCxnSpPr>
            <a:stCxn xmlns:a="http://schemas.openxmlformats.org/drawingml/2006/main" id="5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8924925" y="3867150"/>
            <a:ext cx="15621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65" name="shape-24">
            <a:extLst xmlns:a="http://schemas.openxmlformats.org/drawingml/2006/main">
              <a:ext uri="{FF2B5EF4-FFF2-40B4-BE49-F238E27FC236}">
                <a16:creationId xmlns:a16="http://schemas.microsoft.com/office/drawing/2014/main" id="{25547552-0D93-4739-BE99-71FCABC3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6223" y="3532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shape-25">
            <a:extLst xmlns:a="http://schemas.openxmlformats.org/drawingml/2006/main">
              <a:ext uri="{FF2B5EF4-FFF2-40B4-BE49-F238E27FC236}">
                <a16:creationId xmlns:a16="http://schemas.microsoft.com/office/drawing/2014/main" id="{0207E9C1-08E2-4DD6-8ADB-DF0BC10F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6223" y="21612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3" name=""/>
          <p:cNvCxnSpPr>
            <a:stCxn xmlns:a="http://schemas.openxmlformats.org/drawingml/2006/main" id="65" idx="3"/>
            <a:endCxn xmlns:a="http://schemas.openxmlformats.org/drawingml/2006/main" id="66" idx="1"/>
          </p:cNvCxnSpPr>
          <p:nvPr/>
        </p:nvCxnSpPr>
        <p:spPr>
          <a:xfrm xmlns:a="http://schemas.openxmlformats.org/drawingml/2006/main" flipH="1" flipV="1">
            <a:off x="11686223" y="2162176"/>
            <a:ext cx="1905" cy="13716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68" name="shape-26">
            <a:extLst xmlns:a="http://schemas.openxmlformats.org/drawingml/2006/main">
              <a:ext uri="{FF2B5EF4-FFF2-40B4-BE49-F238E27FC236}">
                <a16:creationId xmlns:a16="http://schemas.microsoft.com/office/drawing/2014/main" id="{11D2FC38-DFFF-4F4B-B3D2-E50955E5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9348" y="2446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shape-27">
            <a:extLst xmlns:a="http://schemas.openxmlformats.org/drawingml/2006/main">
              <a:ext uri="{FF2B5EF4-FFF2-40B4-BE49-F238E27FC236}">
                <a16:creationId xmlns:a16="http://schemas.microsoft.com/office/drawing/2014/main" id="{0A853E04-9715-4014-AD72-95F0E332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3123" y="47234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6" name=""/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 flipH="1">
            <a:off x="5933123" y="2447926"/>
            <a:ext cx="278130" cy="2276475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63B40"/>
            </a:solidFill>
            <a:prstDash val="dash"/>
            <a:tailEnd type="none" w="sm" len="sm"/>
          </a:ln>
        </p:spPr>
      </p:cxnSp>
      <p:sp>
        <p:nvSpPr>
          <p:cNvPr id="71" name="text-b   Regime-local specialist">
            <a:extLst xmlns:a="http://schemas.openxmlformats.org/drawingml/2006/main">
              <a:ext uri="{FF2B5EF4-FFF2-40B4-BE49-F238E27FC236}">
                <a16:creationId xmlns:a16="http://schemas.microsoft.com/office/drawing/2014/main" id="{B5577FCE-1495-4AEA-BDB9-66A2D4C1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8958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b   Regime-local specialist</a:t>
            </a:r>
          </a:p>
        </p:txBody>
      </p:sp>
      <p:sp>
        <p:nvSpPr>
          <p:cNvPr id="72" name="History">
            <a:extLst xmlns:a="http://schemas.openxmlformats.org/drawingml/2006/main">
              <a:ext uri="{FF2B5EF4-FFF2-40B4-BE49-F238E27FC236}">
                <a16:creationId xmlns:a16="http://schemas.microsoft.com/office/drawing/2014/main" id="{7CD35F13-60AA-4D58-B16D-22E6E35C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76950"/>
            <a:ext cx="9429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3811">
            <a:solidFill>
              <a:srgbClr val="638CAC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History</a:t>
            </a:r>
          </a:p>
          <a:p xmlns:a="http://schemas.openxmlformats.org/drawingml/2006/main">
            <a:pPr algn="ctr">
              <a:defRPr sz="202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Hₙ</a:t>
            </a:r>
          </a:p>
        </p:txBody>
      </p:sp>
      <p:sp>
        <p:nvSpPr>
          <p:cNvPr id="73" name="POD encode">
            <a:extLst xmlns:a="http://schemas.openxmlformats.org/drawingml/2006/main">
              <a:ext uri="{FF2B5EF4-FFF2-40B4-BE49-F238E27FC236}">
                <a16:creationId xmlns:a16="http://schemas.microsoft.com/office/drawing/2014/main" id="{F2FAF9A9-4E20-4375-B29A-B6D96B76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00750"/>
            <a:ext cx="14954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3811">
            <a:solidFill>
              <a:srgbClr val="638CAC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POD encode</a:t>
            </a:r>
          </a:p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chart-local</a:t>
            </a:r>
          </a:p>
        </p:txBody>
      </p:sp>
      <p:sp>
        <p:nvSpPr>
          <p:cNvPr id="74" name="Local history">
            <a:extLst xmlns:a="http://schemas.openxmlformats.org/drawingml/2006/main">
              <a:ext uri="{FF2B5EF4-FFF2-40B4-BE49-F238E27FC236}">
                <a16:creationId xmlns:a16="http://schemas.microsoft.com/office/drawing/2014/main" id="{EF7D0D5F-C623-4140-B9D4-75FD6AC4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000750"/>
            <a:ext cx="1600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3811">
            <a:solidFill>
              <a:srgbClr val="638CAC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Local history</a:t>
            </a:r>
          </a:p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(aₙ, bₙ)</a:t>
            </a:r>
          </a:p>
        </p:txBody>
      </p:sp>
      <p:sp>
        <p:nvSpPr>
          <p:cNvPr id="75" name="Galerkin backbone">
            <a:extLst xmlns:a="http://schemas.openxmlformats.org/drawingml/2006/main">
              <a:ext uri="{FF2B5EF4-FFF2-40B4-BE49-F238E27FC236}">
                <a16:creationId xmlns:a16="http://schemas.microsoft.com/office/drawing/2014/main" id="{9E21A2A7-0012-4816-9B01-A857232E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486400"/>
            <a:ext cx="25146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3811">
            <a:solidFill>
              <a:srgbClr val="638CAC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Galerkin backbone</a:t>
            </a:r>
          </a:p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Fᵣᴳ</a:t>
            </a:r>
          </a:p>
        </p:txBody>
      </p:sp>
      <p:sp>
        <p:nvSpPr>
          <p:cNvPr id="76" name="Sparse MoE">
            <a:extLst xmlns:a="http://schemas.openxmlformats.org/drawingml/2006/main">
              <a:ext uri="{FF2B5EF4-FFF2-40B4-BE49-F238E27FC236}">
                <a16:creationId xmlns:a16="http://schemas.microsoft.com/office/drawing/2014/main" id="{59BA63D1-25D0-4527-B119-CA12D730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6838950"/>
            <a:ext cx="25146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3811">
            <a:solidFill>
              <a:srgbClr val="D88C53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Sparse MoE</a:t>
            </a:r>
          </a:p>
          <a:p xmlns:a="http://schemas.openxmlformats.org/drawingml/2006/main">
            <a:pPr algn="ctr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velocity correction ρᵘ</a:t>
            </a:r>
          </a:p>
        </p:txBody>
      </p:sp>
      <p:sp>
        <p:nvSpPr>
          <p:cNvPr id="77" name="sum-+">
            <a:extLst xmlns:a="http://schemas.openxmlformats.org/drawingml/2006/main">
              <a:ext uri="{FF2B5EF4-FFF2-40B4-BE49-F238E27FC236}">
                <a16:creationId xmlns:a16="http://schemas.microsoft.com/office/drawing/2014/main" id="{9F1EBB84-0D73-4220-B5E4-6AB8DCF0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296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63B40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>
                <a:latin typeface="Arial"/>
                <a:ea typeface="Arial"/>
                <a:cs typeface="Arial"/>
              </a:defRPr>
            </a:pPr>
            <a:r>
              <a:rPr sz="2400"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8" name="Stepᵣ">
            <a:extLst xmlns:a="http://schemas.openxmlformats.org/drawingml/2006/main">
              <a:ext uri="{FF2B5EF4-FFF2-40B4-BE49-F238E27FC236}">
                <a16:creationId xmlns:a16="http://schemas.microsoft.com/office/drawing/2014/main" id="{0C6E6499-D114-4FEC-90C6-BC5C5987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067425"/>
            <a:ext cx="15144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6"/>
          </a:solidFill>
          <a:ln xmlns:a="http://schemas.openxmlformats.org/drawingml/2006/main" w="13811">
            <a:solidFill>
              <a:srgbClr val="969DA3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Stepᵣ</a:t>
            </a:r>
          </a:p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chart-specific</a:t>
            </a:r>
          </a:p>
        </p:txBody>
      </p:sp>
      <p:sp>
        <p:nvSpPr>
          <p:cNvPr id="79" name="Pressure map">
            <a:extLst xmlns:a="http://schemas.openxmlformats.org/drawingml/2006/main">
              <a:ext uri="{FF2B5EF4-FFF2-40B4-BE49-F238E27FC236}">
                <a16:creationId xmlns:a16="http://schemas.microsoft.com/office/drawing/2014/main" id="{9B51442C-0F9E-4E0A-A70E-2D2400F4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943600"/>
            <a:ext cx="20574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A"/>
          </a:solidFill>
          <a:ln xmlns:a="http://schemas.openxmlformats.org/drawingml/2006/main" w="13811">
            <a:solidFill>
              <a:srgbClr val="638CAC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b="1"/>
              <a:t>Pressure map</a:t>
            </a:r>
          </a:p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/>
              <a:t>algebraic</a:t>
            </a:r>
          </a:p>
          <a:p xmlns:a="http://schemas.openxmlformats.org/drawingml/2006/main">
            <a:pPr algn="ctr"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75">
                <a:latin typeface="Cambria Math"/>
                <a:ea typeface="Cambria Math"/>
                <a:cs typeface="Cambria Math"/>
              </a:rPr>
              <a:t>γ ⊙ Qᴾᴾ + ρᵖ</a:t>
            </a:r>
          </a:p>
        </p:txBody>
      </p:sp>
      <p:sp>
        <p:nvSpPr>
          <p:cNvPr id="80" name="text-bₙ₊₁">
            <a:extLst xmlns:a="http://schemas.openxmlformats.org/drawingml/2006/main">
              <a:ext uri="{FF2B5EF4-FFF2-40B4-BE49-F238E27FC236}">
                <a16:creationId xmlns:a16="http://schemas.microsoft.com/office/drawing/2014/main" id="{E2FE70E0-C569-41AB-A912-C1741D1A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6238875"/>
            <a:ext cx="714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222222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222222"/>
                </a:solidFill>
                <a:latin typeface="Cambria Math"/>
                <a:ea typeface="Cambria Math"/>
                <a:cs typeface="Cambria Math"/>
              </a:rPr>
              <a:t>bₙ₊₁</a:t>
            </a:r>
          </a:p>
        </p:txBody>
      </p:sp>
      <p:cxnSp>
        <p:nvCxnSpPr>
          <p:cNvPr id="237" name=""/>
          <p:cNvCxnSpPr>
            <a:stCxn xmlns:a="http://schemas.openxmlformats.org/drawingml/2006/main" id="72" idx="3"/>
            <a:endCxn xmlns:a="http://schemas.openxmlformats.org/drawingml/2006/main" id="73" idx="1"/>
          </p:cNvCxnSpPr>
          <p:nvPr/>
        </p:nvCxnSpPr>
        <p:spPr>
          <a:xfrm xmlns:a="http://schemas.openxmlformats.org/drawingml/2006/main">
            <a:off x="1209675" y="649605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238" name=""/>
          <p:cNvCxnSpPr>
            <a:stCxn xmlns:a="http://schemas.openxmlformats.org/drawingml/2006/main" id="73" idx="3"/>
            <a:endCxn xmlns:a="http://schemas.openxmlformats.org/drawingml/2006/main" id="74" idx="1"/>
          </p:cNvCxnSpPr>
          <p:nvPr/>
        </p:nvCxnSpPr>
        <p:spPr>
          <a:xfrm xmlns:a="http://schemas.openxmlformats.org/drawingml/2006/main">
            <a:off x="3095625" y="64960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83" name="shape-28">
            <a:extLst xmlns:a="http://schemas.openxmlformats.org/drawingml/2006/main">
              <a:ext uri="{FF2B5EF4-FFF2-40B4-BE49-F238E27FC236}">
                <a16:creationId xmlns:a16="http://schemas.microsoft.com/office/drawing/2014/main" id="{44DF6444-FB32-4CAA-8B77-E0F31A00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3498" y="6495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4" name="shape-29">
            <a:extLst xmlns:a="http://schemas.openxmlformats.org/drawingml/2006/main">
              <a:ext uri="{FF2B5EF4-FFF2-40B4-BE49-F238E27FC236}">
                <a16:creationId xmlns:a16="http://schemas.microsoft.com/office/drawing/2014/main" id="{2CFF8D95-693F-4E76-9338-79DD2E59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248" y="6495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1" name=""/>
          <p:cNvCxnSpPr>
            <a:stCxn xmlns:a="http://schemas.openxmlformats.org/drawingml/2006/main" id="83" idx="3"/>
            <a:endCxn xmlns:a="http://schemas.openxmlformats.org/drawingml/2006/main" id="84" idx="1"/>
          </p:cNvCxnSpPr>
          <p:nvPr/>
        </p:nvCxnSpPr>
        <p:spPr>
          <a:xfrm xmlns:a="http://schemas.openxmlformats.org/drawingml/2006/main">
            <a:off x="5125403" y="6496051"/>
            <a:ext cx="28384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86" name="shape-30">
            <a:extLst xmlns:a="http://schemas.openxmlformats.org/drawingml/2006/main">
              <a:ext uri="{FF2B5EF4-FFF2-40B4-BE49-F238E27FC236}">
                <a16:creationId xmlns:a16="http://schemas.microsoft.com/office/drawing/2014/main" id="{21275127-860A-4D8E-9AF0-829FF450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248" y="6495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shape-31">
            <a:extLst xmlns:a="http://schemas.openxmlformats.org/drawingml/2006/main">
              <a:ext uri="{FF2B5EF4-FFF2-40B4-BE49-F238E27FC236}">
                <a16:creationId xmlns:a16="http://schemas.microsoft.com/office/drawing/2014/main" id="{A4AE5E01-83C6-461C-8B2E-8637C145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248" y="5847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4" name=""/>
          <p:cNvCxnSpPr>
            <a:stCxn xmlns:a="http://schemas.openxmlformats.org/drawingml/2006/main" id="86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 flipH="1" flipV="1">
            <a:off x="5409248" y="5848351"/>
            <a:ext cx="1905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89" name="shape-32">
            <a:extLst xmlns:a="http://schemas.openxmlformats.org/drawingml/2006/main">
              <a:ext uri="{FF2B5EF4-FFF2-40B4-BE49-F238E27FC236}">
                <a16:creationId xmlns:a16="http://schemas.microsoft.com/office/drawing/2014/main" id="{54B5AF5B-2473-4972-A5FC-81DA78D1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248" y="5847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shape-33">
            <a:extLst xmlns:a="http://schemas.openxmlformats.org/drawingml/2006/main">
              <a:ext uri="{FF2B5EF4-FFF2-40B4-BE49-F238E27FC236}">
                <a16:creationId xmlns:a16="http://schemas.microsoft.com/office/drawing/2014/main" id="{D189B25D-2B06-4E6E-B3F7-C642659E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098" y="5847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7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5411153" y="5848351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92" name="shape-34">
            <a:extLst xmlns:a="http://schemas.openxmlformats.org/drawingml/2006/main">
              <a:ext uri="{FF2B5EF4-FFF2-40B4-BE49-F238E27FC236}">
                <a16:creationId xmlns:a16="http://schemas.microsoft.com/office/drawing/2014/main" id="{CF0766A8-A4A6-4C0B-88F0-D17337EC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248" y="6495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3" name="shape-35">
            <a:extLst xmlns:a="http://schemas.openxmlformats.org/drawingml/2006/main">
              <a:ext uri="{FF2B5EF4-FFF2-40B4-BE49-F238E27FC236}">
                <a16:creationId xmlns:a16="http://schemas.microsoft.com/office/drawing/2014/main" id="{ECA4ED96-D2EE-4FE4-A23F-CC3DC2B5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248" y="7199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0" name=""/>
          <p:cNvCxnSpPr>
            <a:stCxn xmlns:a="http://schemas.openxmlformats.org/drawingml/2006/main" id="92" idx="3"/>
            <a:endCxn xmlns:a="http://schemas.openxmlformats.org/drawingml/2006/main" id="93" idx="1"/>
          </p:cNvCxnSpPr>
          <p:nvPr/>
        </p:nvCxnSpPr>
        <p:spPr>
          <a:xfrm xmlns:a="http://schemas.openxmlformats.org/drawingml/2006/main" flipH="1">
            <a:off x="5409248" y="6496051"/>
            <a:ext cx="1905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95" name="shape-36">
            <a:extLst xmlns:a="http://schemas.openxmlformats.org/drawingml/2006/main">
              <a:ext uri="{FF2B5EF4-FFF2-40B4-BE49-F238E27FC236}">
                <a16:creationId xmlns:a16="http://schemas.microsoft.com/office/drawing/2014/main" id="{6C188887-4937-43E8-8E62-482E8ABB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248" y="7199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shape-37">
            <a:extLst xmlns:a="http://schemas.openxmlformats.org/drawingml/2006/main">
              <a:ext uri="{FF2B5EF4-FFF2-40B4-BE49-F238E27FC236}">
                <a16:creationId xmlns:a16="http://schemas.microsoft.com/office/drawing/2014/main" id="{B8D01C94-FE4F-4DBC-9709-3C04AC85A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098" y="7199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3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5411153" y="7200901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98" name="shape-38">
            <a:extLst xmlns:a="http://schemas.openxmlformats.org/drawingml/2006/main">
              <a:ext uri="{FF2B5EF4-FFF2-40B4-BE49-F238E27FC236}">
                <a16:creationId xmlns:a16="http://schemas.microsoft.com/office/drawing/2014/main" id="{57D3DE4D-0DDB-48CD-9A61-3E048466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698" y="5847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shape-39">
            <a:extLst xmlns:a="http://schemas.openxmlformats.org/drawingml/2006/main">
              <a:ext uri="{FF2B5EF4-FFF2-40B4-BE49-F238E27FC236}">
                <a16:creationId xmlns:a16="http://schemas.microsoft.com/office/drawing/2014/main" id="{686186A1-99C2-4FF8-9D10-302FECC6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073" y="5847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6" name=""/>
          <p:cNvCxnSpPr>
            <a:stCxn xmlns:a="http://schemas.openxmlformats.org/drawingml/2006/main" id="98" idx="3"/>
            <a:endCxn xmlns:a="http://schemas.openxmlformats.org/drawingml/2006/main" id="99" idx="1"/>
          </p:cNvCxnSpPr>
          <p:nvPr/>
        </p:nvCxnSpPr>
        <p:spPr>
          <a:xfrm xmlns:a="http://schemas.openxmlformats.org/drawingml/2006/main">
            <a:off x="8249603" y="5848351"/>
            <a:ext cx="7124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101" name="shape-40">
            <a:extLst xmlns:a="http://schemas.openxmlformats.org/drawingml/2006/main">
              <a:ext uri="{FF2B5EF4-FFF2-40B4-BE49-F238E27FC236}">
                <a16:creationId xmlns:a16="http://schemas.microsoft.com/office/drawing/2014/main" id="{58EB432E-5463-4ABA-BEF1-7B437140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073" y="5847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shape-41">
            <a:extLst xmlns:a="http://schemas.openxmlformats.org/drawingml/2006/main">
              <a:ext uri="{FF2B5EF4-FFF2-40B4-BE49-F238E27FC236}">
                <a16:creationId xmlns:a16="http://schemas.microsoft.com/office/drawing/2014/main" id="{C2465169-3D1C-4DE1-9655-510FBACF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073" y="62950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9" name=""/>
          <p:cNvCxnSpPr>
            <a:stCxn xmlns:a="http://schemas.openxmlformats.org/drawingml/2006/main" id="101" idx="3"/>
            <a:endCxn xmlns:a="http://schemas.openxmlformats.org/drawingml/2006/main" id="102" idx="1"/>
          </p:cNvCxnSpPr>
          <p:nvPr/>
        </p:nvCxnSpPr>
        <p:spPr>
          <a:xfrm xmlns:a="http://schemas.openxmlformats.org/drawingml/2006/main" flipH="1">
            <a:off x="8962073" y="5848351"/>
            <a:ext cx="1905" cy="447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104" name="shape-42">
            <a:extLst xmlns:a="http://schemas.openxmlformats.org/drawingml/2006/main">
              <a:ext uri="{FF2B5EF4-FFF2-40B4-BE49-F238E27FC236}">
                <a16:creationId xmlns:a16="http://schemas.microsoft.com/office/drawing/2014/main" id="{03ADF8B5-D0A9-4344-A1AB-4266BBCF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698" y="7199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5" name="shape-43">
            <a:extLst xmlns:a="http://schemas.openxmlformats.org/drawingml/2006/main">
              <a:ext uri="{FF2B5EF4-FFF2-40B4-BE49-F238E27FC236}">
                <a16:creationId xmlns:a16="http://schemas.microsoft.com/office/drawing/2014/main" id="{325880EE-203A-4A32-8637-62DACABF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073" y="7199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2" name=""/>
          <p:cNvCxnSpPr>
            <a:stCxn xmlns:a="http://schemas.openxmlformats.org/drawingml/2006/main" id="104" idx="3"/>
            <a:endCxn xmlns:a="http://schemas.openxmlformats.org/drawingml/2006/main" id="105" idx="1"/>
          </p:cNvCxnSpPr>
          <p:nvPr/>
        </p:nvCxnSpPr>
        <p:spPr>
          <a:xfrm xmlns:a="http://schemas.openxmlformats.org/drawingml/2006/main">
            <a:off x="8249603" y="7200901"/>
            <a:ext cx="71247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107" name="shape-44">
            <a:extLst xmlns:a="http://schemas.openxmlformats.org/drawingml/2006/main">
              <a:ext uri="{FF2B5EF4-FFF2-40B4-BE49-F238E27FC236}">
                <a16:creationId xmlns:a16="http://schemas.microsoft.com/office/drawing/2014/main" id="{F4320394-4D4B-465E-A421-72B8EE60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073" y="7199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8" name="shape-45">
            <a:extLst xmlns:a="http://schemas.openxmlformats.org/drawingml/2006/main">
              <a:ext uri="{FF2B5EF4-FFF2-40B4-BE49-F238E27FC236}">
                <a16:creationId xmlns:a16="http://schemas.microsoft.com/office/drawing/2014/main" id="{0B5B8956-F9A3-4FE6-A187-04C6FDE7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2073" y="6695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5" name=""/>
          <p:cNvCxnSpPr>
            <a:stCxn xmlns:a="http://schemas.openxmlformats.org/drawingml/2006/main" id="107" idx="3"/>
            <a:endCxn xmlns:a="http://schemas.openxmlformats.org/drawingml/2006/main" id="108" idx="1"/>
          </p:cNvCxnSpPr>
          <p:nvPr/>
        </p:nvCxnSpPr>
        <p:spPr>
          <a:xfrm xmlns:a="http://schemas.openxmlformats.org/drawingml/2006/main" flipH="1" flipV="1">
            <a:off x="8962073" y="6696076"/>
            <a:ext cx="1905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266" name=""/>
          <p:cNvCxnSpPr>
            <a:stCxn xmlns:a="http://schemas.openxmlformats.org/drawingml/2006/main" id="77" idx="6"/>
            <a:endCxn xmlns:a="http://schemas.openxmlformats.org/drawingml/2006/main" id="78" idx="1"/>
          </p:cNvCxnSpPr>
          <p:nvPr/>
        </p:nvCxnSpPr>
        <p:spPr>
          <a:xfrm xmlns:a="http://schemas.openxmlformats.org/drawingml/2006/main" flipV="1">
            <a:off x="9163050" y="6486525"/>
            <a:ext cx="4572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267" name=""/>
          <p:cNvCxnSpPr>
            <a:stCxn xmlns:a="http://schemas.openxmlformats.org/drawingml/2006/main" id="78" idx="3"/>
            <a:endCxn xmlns:a="http://schemas.openxmlformats.org/drawingml/2006/main" id="79" idx="1"/>
          </p:cNvCxnSpPr>
          <p:nvPr/>
        </p:nvCxnSpPr>
        <p:spPr>
          <a:xfrm xmlns:a="http://schemas.openxmlformats.org/drawingml/2006/main">
            <a:off x="11134725" y="6486525"/>
            <a:ext cx="1057275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268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14249400" y="649605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113" name="text-ȧ">
            <a:extLst xmlns:a="http://schemas.openxmlformats.org/drawingml/2006/main">
              <a:ext uri="{FF2B5EF4-FFF2-40B4-BE49-F238E27FC236}">
                <a16:creationId xmlns:a16="http://schemas.microsoft.com/office/drawing/2014/main" id="{B8A6B153-1263-4EF5-A5EF-86557FC8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610225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222222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222222"/>
                </a:solidFill>
                <a:latin typeface="Cambria Math"/>
                <a:ea typeface="Cambria Math"/>
                <a:cs typeface="Cambria Math"/>
              </a:rPr>
              <a:t>ȧ</a:t>
            </a:r>
          </a:p>
        </p:txBody>
      </p:sp>
      <p:sp>
        <p:nvSpPr>
          <p:cNvPr id="114" name="text-aₙ₊₁">
            <a:extLst xmlns:a="http://schemas.openxmlformats.org/drawingml/2006/main">
              <a:ext uri="{FF2B5EF4-FFF2-40B4-BE49-F238E27FC236}">
                <a16:creationId xmlns:a16="http://schemas.microsoft.com/office/drawing/2014/main" id="{2C2CF6EF-58A4-4300-AB29-41F01D6C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086475"/>
            <a:ext cx="1009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222222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222222"/>
                </a:solidFill>
                <a:latin typeface="Cambria Math"/>
                <a:ea typeface="Cambria Math"/>
                <a:cs typeface="Cambria Math"/>
              </a:rPr>
              <a:t>aₙ₊₁</a:t>
            </a:r>
          </a:p>
        </p:txBody>
      </p:sp>
      <p:sp>
        <p:nvSpPr>
          <p:cNvPr id="115" name="text-Velocity update">
            <a:extLst xmlns:a="http://schemas.openxmlformats.org/drawingml/2006/main">
              <a:ext uri="{FF2B5EF4-FFF2-40B4-BE49-F238E27FC236}">
                <a16:creationId xmlns:a16="http://schemas.microsoft.com/office/drawing/2014/main" id="{A7BDEDB6-0B76-4A7F-A4C7-599E7FC5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7181850"/>
            <a:ext cx="2276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Velocity update</a:t>
            </a:r>
          </a:p>
        </p:txBody>
      </p:sp>
      <p:sp>
        <p:nvSpPr>
          <p:cNvPr id="116" name="text-Pressure reconstruction">
            <a:extLst xmlns:a="http://schemas.openxmlformats.org/drawingml/2006/main">
              <a:ext uri="{FF2B5EF4-FFF2-40B4-BE49-F238E27FC236}">
                <a16:creationId xmlns:a16="http://schemas.microsoft.com/office/drawing/2014/main" id="{CE90944F-21BD-43D4-B07D-811A7564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1818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Pressure reconstruction</a:t>
            </a:r>
          </a:p>
        </p:txBody>
      </p:sp>
      <p:sp>
        <p:nvSpPr>
          <p:cNvPr id="117" name="Sparse-MoE detail inset">
            <a:extLst xmlns:a="http://schemas.openxmlformats.org/drawingml/2006/main">
              <a:ext uri="{FF2B5EF4-FFF2-40B4-BE49-F238E27FC236}">
                <a16:creationId xmlns:a16="http://schemas.microsoft.com/office/drawing/2014/main" id="{41AFDF57-D061-41E5-8153-48086C02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7896225"/>
            <a:ext cx="6572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6"/>
          </a:solidFill>
          <a:ln xmlns:a="http://schemas.openxmlformats.org/drawingml/2006/main" w="9525">
            <a:solidFill>
              <a:srgbClr val="DDA271"/>
            </a:solidFill>
          </a:ln>
        </p:spPr>
      </p:sp>
      <p:sp>
        <p:nvSpPr>
          <p:cNvPr id="118" name="shape-46">
            <a:extLst xmlns:a="http://schemas.openxmlformats.org/drawingml/2006/main">
              <a:ext uri="{FF2B5EF4-FFF2-40B4-BE49-F238E27FC236}">
                <a16:creationId xmlns:a16="http://schemas.microsoft.com/office/drawing/2014/main" id="{F91818A1-E60B-48B5-B6F6-DDCD0175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6923" y="7571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shape-47">
            <a:extLst xmlns:a="http://schemas.openxmlformats.org/drawingml/2006/main">
              <a:ext uri="{FF2B5EF4-FFF2-40B4-BE49-F238E27FC236}">
                <a16:creationId xmlns:a16="http://schemas.microsoft.com/office/drawing/2014/main" id="{93862482-5887-4398-B771-A3B5380C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1048" y="7895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6" name=""/>
          <p:cNvCxnSpPr>
            <a:stCxn xmlns:a="http://schemas.openxmlformats.org/drawingml/2006/main" id="118" idx="3"/>
            <a:endCxn xmlns:a="http://schemas.openxmlformats.org/drawingml/2006/main" id="119" idx="1"/>
          </p:cNvCxnSpPr>
          <p:nvPr/>
        </p:nvCxnSpPr>
        <p:spPr>
          <a:xfrm xmlns:a="http://schemas.openxmlformats.org/drawingml/2006/main" flipH="1">
            <a:off x="4571048" y="7572376"/>
            <a:ext cx="128778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363B40"/>
            </a:solidFill>
            <a:prstDash val="dash"/>
            <a:tailEnd type="none" w="sm" len="sm"/>
          </a:ln>
        </p:spPr>
      </p:cxnSp>
      <p:sp>
        <p:nvSpPr>
          <p:cNvPr id="121" name="shape-48">
            <a:extLst xmlns:a="http://schemas.openxmlformats.org/drawingml/2006/main">
              <a:ext uri="{FF2B5EF4-FFF2-40B4-BE49-F238E27FC236}">
                <a16:creationId xmlns:a16="http://schemas.microsoft.com/office/drawing/2014/main" id="{49FF2F27-9C26-406D-AAE4-0E1933D2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4348" y="7571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2" name="shape-49">
            <a:extLst xmlns:a="http://schemas.openxmlformats.org/drawingml/2006/main">
              <a:ext uri="{FF2B5EF4-FFF2-40B4-BE49-F238E27FC236}">
                <a16:creationId xmlns:a16="http://schemas.microsoft.com/office/drawing/2014/main" id="{9F8CABDE-1CC7-4E6B-A87A-C9C25568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4548" y="7895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9" name=""/>
          <p:cNvCxnSpPr>
            <a:stCxn xmlns:a="http://schemas.openxmlformats.org/drawingml/2006/main" id="121" idx="3"/>
            <a:endCxn xmlns:a="http://schemas.openxmlformats.org/drawingml/2006/main" id="122" idx="1"/>
          </p:cNvCxnSpPr>
          <p:nvPr/>
        </p:nvCxnSpPr>
        <p:spPr>
          <a:xfrm xmlns:a="http://schemas.openxmlformats.org/drawingml/2006/main">
            <a:off x="8116253" y="7572376"/>
            <a:ext cx="1598295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0001">
            <a:solidFill>
              <a:srgbClr val="363B40"/>
            </a:solidFill>
            <a:prstDash val="dash"/>
            <a:tailEnd type="none" w="sm" len="sm"/>
          </a:ln>
        </p:spPr>
      </p:cxnSp>
      <p:sp>
        <p:nvSpPr>
          <p:cNvPr id="124" name="text-ξₙ">
            <a:extLst xmlns:a="http://schemas.openxmlformats.org/drawingml/2006/main">
              <a:ext uri="{FF2B5EF4-FFF2-40B4-BE49-F238E27FC236}">
                <a16:creationId xmlns:a16="http://schemas.microsoft.com/office/drawing/2014/main" id="{19A1341E-6885-467F-9E87-41301234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8553450"/>
            <a:ext cx="533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222222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222222"/>
                </a:solidFill>
                <a:latin typeface="Cambria Math"/>
                <a:ea typeface="Cambria Math"/>
                <a:cs typeface="Cambria Math"/>
              </a:rPr>
              <a:t>ξₙ</a:t>
            </a:r>
          </a:p>
        </p:txBody>
      </p:sp>
      <p:sp>
        <p:nvSpPr>
          <p:cNvPr id="125" name="Group Top-1">
            <a:extLst xmlns:a="http://schemas.openxmlformats.org/drawingml/2006/main">
              <a:ext uri="{FF2B5EF4-FFF2-40B4-BE49-F238E27FC236}">
                <a16:creationId xmlns:a16="http://schemas.microsoft.com/office/drawing/2014/main" id="{C93E4982-F32C-4728-9BED-95F829B8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8448675"/>
            <a:ext cx="18002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FF8"/>
          </a:solidFill>
          <a:ln xmlns:a="http://schemas.openxmlformats.org/drawingml/2006/main" w="13811">
            <a:solidFill>
              <a:srgbClr val="9475AD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Group Top-1</a:t>
            </a:r>
          </a:p>
          <a:p xmlns:a="http://schemas.openxmlformats.org/drawingml/2006/main">
            <a:pPr algn="ctr"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channel Top-2</a:t>
            </a:r>
          </a:p>
        </p:txBody>
      </p:sp>
      <p:sp>
        <p:nvSpPr>
          <p:cNvPr id="126" name="Shared expert  E₀">
            <a:extLst xmlns:a="http://schemas.openxmlformats.org/drawingml/2006/main">
              <a:ext uri="{FF2B5EF4-FFF2-40B4-BE49-F238E27FC236}">
                <a16:creationId xmlns:a16="http://schemas.microsoft.com/office/drawing/2014/main" id="{7FBA5AC3-9262-4BE2-AB61-DC896E7D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8010525"/>
            <a:ext cx="1990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3811">
            <a:solidFill>
              <a:srgbClr val="D88C53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Shared expert  E₀</a:t>
            </a:r>
          </a:p>
        </p:txBody>
      </p:sp>
      <p:sp>
        <p:nvSpPr>
          <p:cNvPr id="127" name="Top-2  Eₑ₁, Eₑ₂">
            <a:extLst xmlns:a="http://schemas.openxmlformats.org/drawingml/2006/main">
              <a:ext uri="{FF2B5EF4-FFF2-40B4-BE49-F238E27FC236}">
                <a16:creationId xmlns:a16="http://schemas.microsoft.com/office/drawing/2014/main" id="{52D92FF7-F669-46AC-9E26-ADF27C3F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8686800"/>
            <a:ext cx="19907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9"/>
          </a:solidFill>
          <a:ln xmlns:a="http://schemas.openxmlformats.org/drawingml/2006/main" w="13811">
            <a:solidFill>
              <a:srgbClr val="D88C53"/>
            </a:solidFill>
          </a:ln>
        </p:spPr>
        <p:txBody>
          <a:bodyPr xmlns:a="http://schemas.openxmlformats.org/drawingml/2006/main" wrap="non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Top-2  Eₑ₁, Eₑ₂</a:t>
            </a:r>
          </a:p>
        </p:txBody>
      </p:sp>
      <p:sp>
        <p:nvSpPr>
          <p:cNvPr id="128" name="sum-Σω">
            <a:extLst xmlns:a="http://schemas.openxmlformats.org/drawingml/2006/main">
              <a:ext uri="{FF2B5EF4-FFF2-40B4-BE49-F238E27FC236}">
                <a16:creationId xmlns:a16="http://schemas.microsoft.com/office/drawing/2014/main" id="{FA871B55-85A2-4570-AF7E-47ADE7154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84201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363B40"/>
            </a:solidFill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>
                <a:latin typeface="Arial"/>
                <a:ea typeface="Arial"/>
                <a:cs typeface="Arial"/>
              </a:defRPr>
            </a:pPr>
            <a:r>
              <a:rPr sz="1650">
                <a:latin typeface="Arial"/>
                <a:ea typeface="Arial"/>
                <a:cs typeface="Arial"/>
              </a:rPr>
              <a:t>Σω</a:t>
            </a:r>
          </a:p>
        </p:txBody>
      </p:sp>
      <p:sp>
        <p:nvSpPr>
          <p:cNvPr id="129" name="shape-50">
            <a:extLst xmlns:a="http://schemas.openxmlformats.org/drawingml/2006/main">
              <a:ext uri="{FF2B5EF4-FFF2-40B4-BE49-F238E27FC236}">
                <a16:creationId xmlns:a16="http://schemas.microsoft.com/office/drawing/2014/main" id="{2A2A1AFC-99FC-4C7A-8F11-BBA8B26F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323" y="8771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0" name="shape-51">
            <a:extLst xmlns:a="http://schemas.openxmlformats.org/drawingml/2006/main">
              <a:ext uri="{FF2B5EF4-FFF2-40B4-BE49-F238E27FC236}">
                <a16:creationId xmlns:a16="http://schemas.microsoft.com/office/drawing/2014/main" id="{477D6CEC-C2C6-4A5B-A9B8-D0B37962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98" y="8771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7" name=""/>
          <p:cNvCxnSpPr>
            <a:stCxn xmlns:a="http://schemas.openxmlformats.org/drawingml/2006/main" id="129" idx="3"/>
            <a:endCxn xmlns:a="http://schemas.openxmlformats.org/drawingml/2006/main" id="130" idx="1"/>
          </p:cNvCxnSpPr>
          <p:nvPr/>
        </p:nvCxnSpPr>
        <p:spPr>
          <a:xfrm xmlns:a="http://schemas.openxmlformats.org/drawingml/2006/main">
            <a:off x="4106228" y="8772526"/>
            <a:ext cx="64770" cy="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132" name="shape-52">
            <a:extLst xmlns:a="http://schemas.openxmlformats.org/drawingml/2006/main">
              <a:ext uri="{FF2B5EF4-FFF2-40B4-BE49-F238E27FC236}">
                <a16:creationId xmlns:a16="http://schemas.microsoft.com/office/drawing/2014/main" id="{9EF29EAE-9482-42F3-9322-D973DF5EA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98" y="8771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3" name="shape-53">
            <a:extLst xmlns:a="http://schemas.openxmlformats.org/drawingml/2006/main">
              <a:ext uri="{FF2B5EF4-FFF2-40B4-BE49-F238E27FC236}">
                <a16:creationId xmlns:a16="http://schemas.microsoft.com/office/drawing/2014/main" id="{78167E73-EE74-4573-A61C-6FC63D12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98" y="8219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132" idx="3"/>
            <a:endCxn xmlns:a="http://schemas.openxmlformats.org/drawingml/2006/main" id="133" idx="1"/>
          </p:cNvCxnSpPr>
          <p:nvPr/>
        </p:nvCxnSpPr>
        <p:spPr>
          <a:xfrm xmlns:a="http://schemas.openxmlformats.org/drawingml/2006/main" flipH="1" flipV="1">
            <a:off x="4170998" y="8220076"/>
            <a:ext cx="1905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135" name="shape-54">
            <a:extLst xmlns:a="http://schemas.openxmlformats.org/drawingml/2006/main">
              <a:ext uri="{FF2B5EF4-FFF2-40B4-BE49-F238E27FC236}">
                <a16:creationId xmlns:a16="http://schemas.microsoft.com/office/drawing/2014/main" id="{27513E0A-0696-401B-B3B3-C079776C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0998" y="8219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6" name="shape-55">
            <a:extLst xmlns:a="http://schemas.openxmlformats.org/drawingml/2006/main">
              <a:ext uri="{FF2B5EF4-FFF2-40B4-BE49-F238E27FC236}">
                <a16:creationId xmlns:a16="http://schemas.microsoft.com/office/drawing/2014/main" id="{6A33B391-62A1-496E-82AC-15014FDB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773" y="8219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3" name=""/>
          <p:cNvCxnSpPr>
            <a:stCxn xmlns:a="http://schemas.openxmlformats.org/drawingml/2006/main" id="135" idx="3"/>
            <a:endCxn xmlns:a="http://schemas.openxmlformats.org/drawingml/2006/main" id="136" idx="1"/>
          </p:cNvCxnSpPr>
          <p:nvPr/>
        </p:nvCxnSpPr>
        <p:spPr>
          <a:xfrm xmlns:a="http://schemas.openxmlformats.org/drawingml/2006/main">
            <a:off x="4172903" y="8220076"/>
            <a:ext cx="2388870" cy="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294" name=""/>
          <p:cNvCxnSpPr>
            <a:stCxn xmlns:a="http://schemas.openxmlformats.org/drawingml/2006/main" id="124" idx="3"/>
            <a:endCxn xmlns:a="http://schemas.openxmlformats.org/drawingml/2006/main" id="125" idx="1"/>
          </p:cNvCxnSpPr>
          <p:nvPr/>
        </p:nvCxnSpPr>
        <p:spPr>
          <a:xfrm xmlns:a="http://schemas.openxmlformats.org/drawingml/2006/main">
            <a:off x="4105275" y="8772525"/>
            <a:ext cx="200025" cy="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triangle" w="sm" len="sm"/>
          </a:ln>
        </p:spPr>
      </p:cxnSp>
      <p:cxnSp>
        <p:nvCxnSpPr>
          <p:cNvPr id="295" name=""/>
          <p:cNvCxnSpPr>
            <a:stCxn xmlns:a="http://schemas.openxmlformats.org/drawingml/2006/main" id="125" idx="3"/>
            <a:endCxn xmlns:a="http://schemas.openxmlformats.org/drawingml/2006/main" id="127" idx="1"/>
          </p:cNvCxnSpPr>
          <p:nvPr/>
        </p:nvCxnSpPr>
        <p:spPr>
          <a:xfrm xmlns:a="http://schemas.openxmlformats.org/drawingml/2006/main">
            <a:off x="6105525" y="8772525"/>
            <a:ext cx="457200" cy="1285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716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140" name="shape-56">
            <a:extLst xmlns:a="http://schemas.openxmlformats.org/drawingml/2006/main">
              <a:ext uri="{FF2B5EF4-FFF2-40B4-BE49-F238E27FC236}">
                <a16:creationId xmlns:a16="http://schemas.microsoft.com/office/drawing/2014/main" id="{A064465C-CCB7-473C-9FD2-4628D404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2498" y="8228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1" name="shape-57">
            <a:extLst xmlns:a="http://schemas.openxmlformats.org/drawingml/2006/main">
              <a:ext uri="{FF2B5EF4-FFF2-40B4-BE49-F238E27FC236}">
                <a16:creationId xmlns:a16="http://schemas.microsoft.com/office/drawing/2014/main" id="{D41ADD40-1774-42DD-9CAA-705360D8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698" y="8228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8" name=""/>
          <p:cNvCxnSpPr>
            <a:stCxn xmlns:a="http://schemas.openxmlformats.org/drawingml/2006/main" id="140" idx="3"/>
            <a:endCxn xmlns:a="http://schemas.openxmlformats.org/drawingml/2006/main" id="141" idx="1"/>
          </p:cNvCxnSpPr>
          <p:nvPr/>
        </p:nvCxnSpPr>
        <p:spPr>
          <a:xfrm xmlns:a="http://schemas.openxmlformats.org/drawingml/2006/main">
            <a:off x="8554403" y="8229601"/>
            <a:ext cx="455295" cy="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143" name="shape-58">
            <a:extLst xmlns:a="http://schemas.openxmlformats.org/drawingml/2006/main">
              <a:ext uri="{FF2B5EF4-FFF2-40B4-BE49-F238E27FC236}">
                <a16:creationId xmlns:a16="http://schemas.microsoft.com/office/drawing/2014/main" id="{B7A9D387-3413-4AAA-93DD-998F705F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698" y="8228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4" name="shape-59">
            <a:extLst xmlns:a="http://schemas.openxmlformats.org/drawingml/2006/main">
              <a:ext uri="{FF2B5EF4-FFF2-40B4-BE49-F238E27FC236}">
                <a16:creationId xmlns:a16="http://schemas.microsoft.com/office/drawing/2014/main" id="{0245CE66-046D-48A3-B800-4DE4FC5B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698" y="8609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1" name=""/>
          <p:cNvCxnSpPr>
            <a:stCxn xmlns:a="http://schemas.openxmlformats.org/drawingml/2006/main" id="143" idx="3"/>
            <a:endCxn xmlns:a="http://schemas.openxmlformats.org/drawingml/2006/main" id="144" idx="1"/>
          </p:cNvCxnSpPr>
          <p:nvPr/>
        </p:nvCxnSpPr>
        <p:spPr>
          <a:xfrm xmlns:a="http://schemas.openxmlformats.org/drawingml/2006/main" flipH="1">
            <a:off x="9009698" y="8229601"/>
            <a:ext cx="1905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146" name="shape-60">
            <a:extLst xmlns:a="http://schemas.openxmlformats.org/drawingml/2006/main">
              <a:ext uri="{FF2B5EF4-FFF2-40B4-BE49-F238E27FC236}">
                <a16:creationId xmlns:a16="http://schemas.microsoft.com/office/drawing/2014/main" id="{DC4B74D8-55CA-4894-A89D-8AFC4A54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698" y="8609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7" name="shape-61">
            <a:extLst xmlns:a="http://schemas.openxmlformats.org/drawingml/2006/main">
              <a:ext uri="{FF2B5EF4-FFF2-40B4-BE49-F238E27FC236}">
                <a16:creationId xmlns:a16="http://schemas.microsoft.com/office/drawing/2014/main" id="{9ECA5AA8-A74B-472F-924A-4B1A725B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4498" y="8609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4" name=""/>
          <p:cNvCxnSpPr>
            <a:stCxn xmlns:a="http://schemas.openxmlformats.org/drawingml/2006/main" id="146" idx="3"/>
            <a:endCxn xmlns:a="http://schemas.openxmlformats.org/drawingml/2006/main" id="147" idx="1"/>
          </p:cNvCxnSpPr>
          <p:nvPr/>
        </p:nvCxnSpPr>
        <p:spPr>
          <a:xfrm xmlns:a="http://schemas.openxmlformats.org/drawingml/2006/main">
            <a:off x="9011603" y="8610601"/>
            <a:ext cx="302895" cy="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triangle" w="sm" len="sm"/>
          </a:ln>
        </p:spPr>
      </p:cxnSp>
      <p:sp>
        <p:nvSpPr>
          <p:cNvPr id="149" name="shape-62">
            <a:extLst xmlns:a="http://schemas.openxmlformats.org/drawingml/2006/main">
              <a:ext uri="{FF2B5EF4-FFF2-40B4-BE49-F238E27FC236}">
                <a16:creationId xmlns:a16="http://schemas.microsoft.com/office/drawing/2014/main" id="{6F4640A7-6EFB-419F-8D52-15A284D5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2498" y="8904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0" name="shape-63">
            <a:extLst xmlns:a="http://schemas.openxmlformats.org/drawingml/2006/main">
              <a:ext uri="{FF2B5EF4-FFF2-40B4-BE49-F238E27FC236}">
                <a16:creationId xmlns:a16="http://schemas.microsoft.com/office/drawing/2014/main" id="{15B2976C-48FC-49BA-A544-D95F4B44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698" y="8904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7" name=""/>
          <p:cNvCxnSpPr>
            <a:stCxn xmlns:a="http://schemas.openxmlformats.org/drawingml/2006/main" id="149" idx="3"/>
            <a:endCxn xmlns:a="http://schemas.openxmlformats.org/drawingml/2006/main" id="150" idx="1"/>
          </p:cNvCxnSpPr>
          <p:nvPr/>
        </p:nvCxnSpPr>
        <p:spPr>
          <a:xfrm xmlns:a="http://schemas.openxmlformats.org/drawingml/2006/main">
            <a:off x="8554403" y="8905876"/>
            <a:ext cx="455295" cy="0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152" name="shape-64">
            <a:extLst xmlns:a="http://schemas.openxmlformats.org/drawingml/2006/main">
              <a:ext uri="{FF2B5EF4-FFF2-40B4-BE49-F238E27FC236}">
                <a16:creationId xmlns:a16="http://schemas.microsoft.com/office/drawing/2014/main" id="{E06F6AEF-3C9A-4C29-83C5-83F0F101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698" y="89049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3" name="shape-65">
            <a:extLst xmlns:a="http://schemas.openxmlformats.org/drawingml/2006/main">
              <a:ext uri="{FF2B5EF4-FFF2-40B4-BE49-F238E27FC236}">
                <a16:creationId xmlns:a16="http://schemas.microsoft.com/office/drawing/2014/main" id="{F97FBD41-4B6C-4957-B30B-C0CC45BA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698" y="8609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0" name=""/>
          <p:cNvCxnSpPr>
            <a:stCxn xmlns:a="http://schemas.openxmlformats.org/drawingml/2006/main" id="152" idx="3"/>
            <a:endCxn xmlns:a="http://schemas.openxmlformats.org/drawingml/2006/main" id="153" idx="1"/>
          </p:cNvCxnSpPr>
          <p:nvPr/>
        </p:nvCxnSpPr>
        <p:spPr>
          <a:xfrm xmlns:a="http://schemas.openxmlformats.org/drawingml/2006/main" flipH="1" flipV="1">
            <a:off x="9009698" y="8610601"/>
            <a:ext cx="1905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5716">
            <a:solidFill>
              <a:srgbClr val="363B40"/>
            </a:solidFill>
            <a:prstDash val="solid"/>
            <a:tailEnd type="none" w="sm" len="sm"/>
          </a:ln>
        </p:spPr>
      </p:cxnSp>
      <p:sp>
        <p:nvSpPr>
          <p:cNvPr id="155" name="text-Structured expert responses">
            <a:extLst xmlns:a="http://schemas.openxmlformats.org/drawingml/2006/main">
              <a:ext uri="{FF2B5EF4-FFF2-40B4-BE49-F238E27FC236}">
                <a16:creationId xmlns:a16="http://schemas.microsoft.com/office/drawing/2014/main" id="{D949720B-3F25-4002-9D54-D4E02228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8096250"/>
            <a:ext cx="4143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Structured expert responses</a:t>
            </a:r>
          </a:p>
        </p:txBody>
      </p:sp>
      <p:sp>
        <p:nvSpPr>
          <p:cNvPr id="156" name="text-nonlinear + linear + low-rank quadratic">
            <a:extLst xmlns:a="http://schemas.openxmlformats.org/drawingml/2006/main">
              <a:ext uri="{FF2B5EF4-FFF2-40B4-BE49-F238E27FC236}">
                <a16:creationId xmlns:a16="http://schemas.microsoft.com/office/drawing/2014/main" id="{C4AC0E2B-F02E-46BA-B549-B7E1B6D1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8543925"/>
            <a:ext cx="4143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nonlinear + linear</a:t>
            </a:r>
          </a:p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+ low-rank quadratic</a:t>
            </a:r>
          </a:p>
        </p:txBody>
      </p:sp>
    </p:spTree>
    <p:extLst>
      <p:ext uri="{BB962C8B-B14F-4D97-AF65-F5344CB8AC3E}">
        <p14:creationId xmlns:p14="http://schemas.microsoft.com/office/powerpoint/2010/main" val="5351230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2026-09-13T14:27:15.8820000Z</dcterms:created>
  <dcterms:modified xsi:type="dcterms:W3CDTF">2026-09-13T14:27:15.8820000Z</dcterms:modified>
</coreProperties>
</file>