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9ef6f71e4d414e" /><Relationship Type="http://schemas.openxmlformats.org/officeDocument/2006/relationships/extended-properties" Target="/docProps/app.xml" Id="Rdd8e2007e3b84f0a" /><Relationship Type="http://schemas.openxmlformats.org/officeDocument/2006/relationships/officeDocument" Target="/ppt/presentation.xml" Id="R6cae4b7385ee4f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175dbfb97d4033"/>
  </p:sldMasterIdLst>
  <p:notesMasterIdLst>
    <p:notesMasterId xmlns:r="http://schemas.openxmlformats.org/officeDocument/2006/relationships" r:id="R564f67e889c840e4"/>
  </p:notesMasterIdLst>
  <p:sldIdLst>
    <p:sldId xmlns:r="http://schemas.openxmlformats.org/officeDocument/2006/relationships" id="256" r:id="R503f8a2bd4504234"/>
  </p:sldIdLst>
  <p:sldSz cx="17345025" cy="8915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607a0766d940cd" /><Relationship Type="http://schemas.openxmlformats.org/officeDocument/2006/relationships/slideMaster" Target="/ppt/slideMasters/slideMaster1.xml" Id="R0b175dbfb97d4033" /><Relationship Type="http://schemas.openxmlformats.org/officeDocument/2006/relationships/notesMaster" Target="/ppt/notesMasters/notesMaster1.xml" Id="R564f67e889c840e4" /><Relationship Type="http://schemas.openxmlformats.org/officeDocument/2006/relationships/presProps" Target="/ppt/presProps.xml" Id="R8553d6976f204651" /><Relationship Type="http://schemas.openxmlformats.org/officeDocument/2006/relationships/tableStyles" Target="/ppt/tableStyles.xml" Id="R26e4f50c590a439c" /><Relationship Type="http://schemas.openxmlformats.org/officeDocument/2006/relationships/slide" Target="/ppt/slides/slide1.xml" Id="R503f8a2bd45042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00d0fba8fc42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c9bdefd0044246" /><Relationship Type="http://schemas.openxmlformats.org/officeDocument/2006/relationships/notesMaster" Target="/ppt/notesMasters/notesMaster1.xml" Id="R548e88084a2d4a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from flowchart_refined_v4_final.pptx. E2 consumes parameter only. Physical history initializes selected specialists and supplies the T2-C descriptor. Gate inputs include parameter and selected-pair preference; weighted fusion is after physical reconstruction. Lower panel depicts velocity correction and algebraic pressure reconstruction. Expert response formulas and pressure-specific routing follow the manuscript. All diagram elements are editable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0938a2d0e4e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48d52ec0e94404" /><Relationship Type="http://schemas.openxmlformats.org/officeDocument/2006/relationships/slideLayout" Target="/ppt/slideLayouts/slideLayout1.xml" Id="Rb40a173941774e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0a173941774e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a244090c64250" /><Relationship Type="http://schemas.openxmlformats.org/officeDocument/2006/relationships/notesSlide" Target="/ppt/notesSlides/notesSlide1.xml" Id="R2b5820c3e1ae40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level2">
            <a:extLst xmlns:a="http://schemas.openxmlformats.org/drawingml/2006/main">
              <a:ext uri="{FF2B5EF4-FFF2-40B4-BE49-F238E27FC236}">
                <a16:creationId xmlns:a16="http://schemas.microsoft.com/office/drawing/2014/main" id="{159B67D1-466E-4392-8B34-2D619341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7116425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3B7FF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level1">
            <a:extLst xmlns:a="http://schemas.openxmlformats.org/drawingml/2006/main">
              <a:ext uri="{FF2B5EF4-FFF2-40B4-BE49-F238E27FC236}">
                <a16:creationId xmlns:a16="http://schemas.microsoft.com/office/drawing/2014/main" id="{6EA13758-EB00-4EC5-89D6-10B6D148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543425"/>
            <a:ext cx="17116425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3B7FF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itlea">
            <a:extLst xmlns:a="http://schemas.openxmlformats.org/drawingml/2006/main">
              <a:ext uri="{FF2B5EF4-FFF2-40B4-BE49-F238E27FC236}">
                <a16:creationId xmlns:a16="http://schemas.microsoft.com/office/drawing/2014/main" id="{314B6A3E-F677-4FEB-AB11-980FF7F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8600"/>
            <a:ext cx="68580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(a)  Routing and physical-space fusion</a:t>
            </a:r>
          </a:p>
        </p:txBody>
      </p:sp>
      <p:sp>
        <p:nvSpPr>
          <p:cNvPr id="4" name="subtitlea">
            <a:extLst xmlns:a="http://schemas.openxmlformats.org/drawingml/2006/main">
              <a:ext uri="{FF2B5EF4-FFF2-40B4-BE49-F238E27FC236}">
                <a16:creationId xmlns:a16="http://schemas.microsoft.com/office/drawing/2014/main" id="{9CB6BEC8-F774-4B95-9221-9CAD00B2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6286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rPr>
              <a:t>Level 2: selection among regime-local specialists</a:t>
            </a:r>
          </a:p>
        </p:txBody>
      </p:sp>
      <p:sp>
        <p:nvSpPr>
          <p:cNvPr id="5" name="parameter">
            <a:extLst xmlns:a="http://schemas.openxmlformats.org/drawingml/2006/main">
              <a:ext uri="{FF2B5EF4-FFF2-40B4-BE49-F238E27FC236}">
                <a16:creationId xmlns:a16="http://schemas.microsoft.com/office/drawing/2014/main" id="{458BC0B4-8E70-4C71-A903-9ADBEAAE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90675"/>
            <a:ext cx="133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E6FF"/>
          </a:solidFill>
          <a:ln xmlns:a="http://schemas.openxmlformats.org/drawingml/2006/main" w="12383">
            <a:solidFill>
              <a:srgbClr val="9857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Parameter</a:t>
            </a:r>
          </a:p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μ</a:t>
            </a:r>
          </a:p>
        </p:txBody>
      </p:sp>
      <p:sp>
        <p:nvSpPr>
          <p:cNvPr id="6" name="outer-router">
            <a:extLst xmlns:a="http://schemas.openxmlformats.org/drawingml/2006/main">
              <a:ext uri="{FF2B5EF4-FFF2-40B4-BE49-F238E27FC236}">
                <a16:creationId xmlns:a16="http://schemas.microsoft.com/office/drawing/2014/main" id="{35747C39-6460-4436-A791-B6F329E2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AF4F2"/>
          </a:solidFill>
          <a:ln xmlns:a="http://schemas.openxmlformats.org/drawingml/2006/main" w="12383">
            <a:solidFill>
              <a:srgbClr val="16A0A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E2 router</a:t>
            </a:r>
          </a:p>
          <a:p xmlns:a="http://schemas.openxmlformats.org/drawingml/2006/main">
            <a:pPr algn="ctr">
              <a:def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Parameter only</a:t>
            </a:r>
          </a:p>
        </p:txBody>
      </p:sp>
      <p:sp>
        <p:nvSpPr>
          <p:cNvPr id="7" name="selection">
            <a:extLst xmlns:a="http://schemas.openxmlformats.org/drawingml/2006/main">
              <a:ext uri="{FF2B5EF4-FFF2-40B4-BE49-F238E27FC236}">
                <a16:creationId xmlns:a16="http://schemas.microsoft.com/office/drawing/2014/main" id="{694C8F84-2002-4658-A36E-0B2AFFB8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81125"/>
            <a:ext cx="2238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F0F4"/>
          </a:solidFill>
          <a:ln xmlns:a="http://schemas.openxmlformats.org/drawingml/2006/main" w="12383">
            <a:solidFill>
              <a:srgbClr val="7F94A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Masked selection</a:t>
            </a:r>
          </a:p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Top-1 or adjacent Top-2</a:t>
            </a:r>
          </a:p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S–H / H–P</a:t>
            </a:r>
          </a:p>
        </p:txBody>
      </p:sp>
      <p:sp>
        <p:nvSpPr>
          <p:cNvPr id="8" name="selected-rollouts">
            <a:extLst xmlns:a="http://schemas.openxmlformats.org/drawingml/2006/main">
              <a:ext uri="{FF2B5EF4-FFF2-40B4-BE49-F238E27FC236}">
                <a16:creationId xmlns:a16="http://schemas.microsoft.com/office/drawing/2014/main" id="{DB80D38F-B04F-4848-B200-18178974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573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2383">
            <a:solidFill>
              <a:srgbClr val="FF8A3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Selected specialist(s)</a:t>
            </a:r>
          </a:p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Independent rollouts</a:t>
            </a:r>
          </a:p>
        </p:txBody>
      </p:sp>
      <p:sp>
        <p:nvSpPr>
          <p:cNvPr id="9" name="candidates">
            <a:extLst xmlns:a="http://schemas.openxmlformats.org/drawingml/2006/main">
              <a:ext uri="{FF2B5EF4-FFF2-40B4-BE49-F238E27FC236}">
                <a16:creationId xmlns:a16="http://schemas.microsoft.com/office/drawing/2014/main" id="{4E2410DA-54EC-406F-95B6-E98FF754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6680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Candidates: Steady S / Hopf H / Periodic P</a:t>
            </a:r>
          </a:p>
        </p:txBody>
      </p:sp>
      <p:sp>
        <p:nvSpPr>
          <p:cNvPr id="10" name="reconstruction">
            <a:extLst xmlns:a="http://schemas.openxmlformats.org/drawingml/2006/main">
              <a:ext uri="{FF2B5EF4-FFF2-40B4-BE49-F238E27FC236}">
                <a16:creationId xmlns:a16="http://schemas.microsoft.com/office/drawing/2014/main" id="{FB47D789-AE4C-4F74-832D-245BE20E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533525"/>
            <a:ext cx="1905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Physical</a:t>
            </a:r>
          </a:p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reconstruction</a:t>
            </a:r>
          </a:p>
        </p:txBody>
      </p:sp>
      <p:sp>
        <p:nvSpPr>
          <p:cNvPr id="11" name="assembly">
            <a:extLst xmlns:a="http://schemas.openxmlformats.org/drawingml/2006/main">
              <a:ext uri="{FF2B5EF4-FFF2-40B4-BE49-F238E27FC236}">
                <a16:creationId xmlns:a16="http://schemas.microsoft.com/office/drawing/2014/main" id="{EB9DBBFD-A0F1-4C67-ADEE-833EE35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381125"/>
            <a:ext cx="2333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7EC"/>
          </a:solidFill>
          <a:ln xmlns:a="http://schemas.openxmlformats.org/drawingml/2006/main" w="12383">
            <a:solidFill>
              <a:srgbClr val="40A36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Physical-space assembly</a:t>
            </a:r>
          </a:p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Top-1: identity</a:t>
            </a:r>
          </a:p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Top-2: T2-C fusion</a:t>
            </a:r>
          </a:p>
        </p:txBody>
      </p:sp>
      <p:sp>
        <p:nvSpPr>
          <p:cNvPr id="12" name="fields">
            <a:extLst xmlns:a="http://schemas.openxmlformats.org/drawingml/2006/main">
              <a:ext uri="{FF2B5EF4-FFF2-40B4-BE49-F238E27FC236}">
                <a16:creationId xmlns:a16="http://schemas.microsoft.com/office/drawing/2014/main" id="{C5682815-F9F4-433C-AE6C-734131DA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600200"/>
            <a:ext cx="13811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2383">
            <a:solidFill>
              <a:srgbClr val="F0676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Predicted fields</a:t>
            </a:r>
          </a:p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û, p̂</a:t>
            </a:r>
          </a:p>
        </p:txBody>
      </p:sp>
      <p:cxnSp>
        <p:nvCxnSpPr>
          <p:cNvPr id="7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14500" y="19812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10000" y="19812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67500" y="19812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572625" y="1981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2049125" y="1981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4954250" y="1981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sp>
        <p:nvSpPr>
          <p:cNvPr id="19" name="preferences">
            <a:extLst xmlns:a="http://schemas.openxmlformats.org/drawingml/2006/main">
              <a:ext uri="{FF2B5EF4-FFF2-40B4-BE49-F238E27FC236}">
                <a16:creationId xmlns:a16="http://schemas.microsoft.com/office/drawing/2014/main" id="{7D366929-0369-46A9-B059-BD14CC0F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57350"/>
            <a:ext cx="6096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π(μ)</a:t>
            </a:r>
          </a:p>
        </p:txBody>
      </p:sp>
      <p:sp>
        <p:nvSpPr>
          <p:cNvPr id="20" name="history-a">
            <a:extLst xmlns:a="http://schemas.openxmlformats.org/drawingml/2006/main">
              <a:ext uri="{FF2B5EF4-FFF2-40B4-BE49-F238E27FC236}">
                <a16:creationId xmlns:a16="http://schemas.microsoft.com/office/drawing/2014/main" id="{75E3F6BF-908F-4375-A5F8-565DF8B7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2571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Physical history Hₙ</a:t>
            </a:r>
          </a:p>
        </p:txBody>
      </p:sp>
      <p:cxnSp>
        <p:nvCxnSpPr>
          <p:cNvPr id="82" name=""/>
          <p:cNvCxnSpPr>
            <a:stCxn xmlns:a="http://schemas.openxmlformats.org/drawingml/2006/main" id="20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3238500" y="2505075"/>
            <a:ext cx="5191125" cy="1104900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sp>
        <p:nvSpPr>
          <p:cNvPr id="22" name="init-label">
            <a:extLst xmlns:a="http://schemas.openxmlformats.org/drawingml/2006/main">
              <a:ext uri="{FF2B5EF4-FFF2-40B4-BE49-F238E27FC236}">
                <a16:creationId xmlns:a16="http://schemas.microsoft.com/office/drawing/2014/main" id="{37C083AD-82DB-46C5-8FFC-15F7C3FA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860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Initialization</a:t>
            </a:r>
          </a:p>
        </p:txBody>
      </p:sp>
      <p:sp>
        <p:nvSpPr>
          <p:cNvPr id="23" name="descriptor">
            <a:extLst xmlns:a="http://schemas.openxmlformats.org/drawingml/2006/main">
              <a:ext uri="{FF2B5EF4-FFF2-40B4-BE49-F238E27FC236}">
                <a16:creationId xmlns:a16="http://schemas.microsoft.com/office/drawing/2014/main" id="{25F03E48-B6E4-4646-8D5C-87831895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67125"/>
            <a:ext cx="2571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History descriptor dₙ</a:t>
            </a:r>
          </a:p>
        </p:txBody>
      </p:sp>
      <p:cxnSp>
        <p:nvCxnSpPr>
          <p:cNvPr id="85" name=""/>
          <p:cNvCxnSpPr>
            <a:stCxn xmlns:a="http://schemas.openxmlformats.org/drawingml/2006/main" id="20" idx="2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1952625" y="3900488"/>
            <a:ext cx="5524500" cy="2381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sp>
        <p:nvSpPr>
          <p:cNvPr id="25" name="gate-context">
            <a:extLst xmlns:a="http://schemas.openxmlformats.org/drawingml/2006/main">
              <a:ext uri="{FF2B5EF4-FFF2-40B4-BE49-F238E27FC236}">
                <a16:creationId xmlns:a16="http://schemas.microsoft.com/office/drawing/2014/main" id="{21231410-3453-45AF-9B79-3F6CDFB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76550"/>
            <a:ext cx="2952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E6FF"/>
          </a:solidFill>
          <a:ln xmlns:a="http://schemas.openxmlformats.org/drawingml/2006/main" w="12383">
            <a:solidFill>
              <a:srgbClr val="9857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Parameter μ + pair preference π̄</a:t>
            </a:r>
          </a:p>
        </p:txBody>
      </p:sp>
      <p:sp>
        <p:nvSpPr>
          <p:cNvPr id="26" name="T2C-gate">
            <a:extLst xmlns:a="http://schemas.openxmlformats.org/drawingml/2006/main">
              <a:ext uri="{FF2B5EF4-FFF2-40B4-BE49-F238E27FC236}">
                <a16:creationId xmlns:a16="http://schemas.microsoft.com/office/drawing/2014/main" id="{9984B896-9CAB-4D2B-8DE9-E978B44F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20040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7EC"/>
          </a:solidFill>
          <a:ln xmlns:a="http://schemas.openxmlformats.org/drawingml/2006/main" w="12383">
            <a:solidFill>
              <a:srgbClr val="40A36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T2-C gate</a:t>
            </a:r>
          </a:p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cxnSp>
        <p:nvCxnSpPr>
          <p:cNvPr id="8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2668250" y="3086100"/>
            <a:ext cx="476250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10048875" y="3619500"/>
            <a:ext cx="3095625" cy="280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26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 flipV="1">
            <a:off x="13787438" y="2581275"/>
            <a:ext cx="214313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sp>
        <p:nvSpPr>
          <p:cNvPr id="30" name="titleb">
            <a:extLst xmlns:a="http://schemas.openxmlformats.org/drawingml/2006/main">
              <a:ext uri="{FF2B5EF4-FFF2-40B4-BE49-F238E27FC236}">
                <a16:creationId xmlns:a16="http://schemas.microsoft.com/office/drawing/2014/main" id="{6C0D70F4-5F95-40D8-A412-4B6EA885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76775"/>
            <a:ext cx="5286375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(b)  Regime-local specialist</a:t>
            </a:r>
          </a:p>
        </p:txBody>
      </p:sp>
      <p:sp>
        <p:nvSpPr>
          <p:cNvPr id="31" name="subtitleb">
            <a:extLst xmlns:a="http://schemas.openxmlformats.org/drawingml/2006/main">
              <a:ext uri="{FF2B5EF4-FFF2-40B4-BE49-F238E27FC236}">
                <a16:creationId xmlns:a16="http://schemas.microsoft.com/office/drawing/2014/main" id="{02C3E7AC-B757-43BF-B9C0-CF7944E5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5238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rPr>
              <a:t>Level 1: sparse correction within a local chart</a:t>
            </a:r>
          </a:p>
        </p:txBody>
      </p:sp>
      <p:sp>
        <p:nvSpPr>
          <p:cNvPr id="32" name="history-b">
            <a:extLst xmlns:a="http://schemas.openxmlformats.org/drawingml/2006/main">
              <a:ext uri="{FF2B5EF4-FFF2-40B4-BE49-F238E27FC236}">
                <a16:creationId xmlns:a16="http://schemas.microsoft.com/office/drawing/2014/main" id="{956BA42A-9F59-4918-9077-9B0C88BD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1428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Physical history</a:t>
            </a:r>
          </a:p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Hₙ</a:t>
            </a:r>
          </a:p>
        </p:txBody>
      </p:sp>
      <p:sp>
        <p:nvSpPr>
          <p:cNvPr id="33" name="POD-encoder">
            <a:extLst xmlns:a="http://schemas.openxmlformats.org/drawingml/2006/main">
              <a:ext uri="{FF2B5EF4-FFF2-40B4-BE49-F238E27FC236}">
                <a16:creationId xmlns:a16="http://schemas.microsoft.com/office/drawing/2014/main" id="{BC2B755E-8473-460F-B7B1-A31DF758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467475"/>
            <a:ext cx="13811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2383">
            <a:solidFill>
              <a:srgbClr val="FF8A3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Local POD</a:t>
            </a:r>
          </a:p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encoding</a:t>
            </a:r>
          </a:p>
        </p:txBody>
      </p:sp>
      <p:sp>
        <p:nvSpPr>
          <p:cNvPr id="34" name="local-state">
            <a:extLst xmlns:a="http://schemas.openxmlformats.org/drawingml/2006/main">
              <a:ext uri="{FF2B5EF4-FFF2-40B4-BE49-F238E27FC236}">
                <a16:creationId xmlns:a16="http://schemas.microsoft.com/office/drawing/2014/main" id="{1DF8C004-6CAD-48AA-8F54-3080EC66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372225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Local reduced</a:t>
            </a:r>
          </a:p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state + history</a:t>
            </a:r>
          </a:p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(aₙ, bₙ)</a:t>
            </a:r>
          </a:p>
        </p:txBody>
      </p:sp>
      <p:cxnSp>
        <p:nvCxnSpPr>
          <p:cNvPr id="96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809750" y="69008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3619500" y="6896100"/>
            <a:ext cx="428625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sp>
        <p:nvSpPr>
          <p:cNvPr id="37" name="moe-boundary">
            <a:extLst xmlns:a="http://schemas.openxmlformats.org/drawingml/2006/main">
              <a:ext uri="{FF2B5EF4-FFF2-40B4-BE49-F238E27FC236}">
                <a16:creationId xmlns:a16="http://schemas.microsoft.com/office/drawing/2014/main" id="{9273D93C-3E10-44DC-BD6C-31421A72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124575"/>
            <a:ext cx="49530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F8A30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moe-title">
            <a:extLst xmlns:a="http://schemas.openxmlformats.org/drawingml/2006/main">
              <a:ext uri="{FF2B5EF4-FFF2-40B4-BE49-F238E27FC236}">
                <a16:creationId xmlns:a16="http://schemas.microsoft.com/office/drawing/2014/main" id="{5423D75A-7D39-458E-85D7-08409063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00775"/>
            <a:ext cx="4667250" cy="314325"/>
          </a:xfrm>
          <a:prstGeom xmlns:a="http://schemas.openxmlformats.org/drawingml/2006/main" prst="roundRect">
            <a:avLst>
              <a:gd name="adj" fmla="val 24242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8A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8A30"/>
                </a:solidFill>
                <a:latin typeface="Times New Roman"/>
                <a:ea typeface="Times New Roman"/>
                <a:cs typeface="Times New Roman"/>
              </a:rPr>
              <a:t>Velocity sparse MoE correction</a:t>
            </a:r>
          </a:p>
        </p:txBody>
      </p:sp>
      <p:sp>
        <p:nvSpPr>
          <p:cNvPr id="39" name="galerkin">
            <a:extLst xmlns:a="http://schemas.openxmlformats.org/drawingml/2006/main">
              <a:ext uri="{FF2B5EF4-FFF2-40B4-BE49-F238E27FC236}">
                <a16:creationId xmlns:a16="http://schemas.microsoft.com/office/drawing/2014/main" id="{D73CC3A0-0B64-42B5-B3F7-D755498E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9592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Projected Galerkin ROM</a:t>
            </a:r>
          </a:p>
        </p:txBody>
      </p:sp>
      <p:sp>
        <p:nvSpPr>
          <p:cNvPr id="40" name="internal-routing">
            <a:extLst xmlns:a="http://schemas.openxmlformats.org/drawingml/2006/main">
              <a:ext uri="{FF2B5EF4-FFF2-40B4-BE49-F238E27FC236}">
                <a16:creationId xmlns:a16="http://schemas.microsoft.com/office/drawing/2014/main" id="{FFE1FBA8-B1E5-4C27-B6F7-79154DB5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353300"/>
            <a:ext cx="157162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0E6FF"/>
          </a:solidFill>
          <a:ln xmlns:a="http://schemas.openxmlformats.org/drawingml/2006/main" w="12383">
            <a:solidFill>
              <a:srgbClr val="9857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Internal routing</a:t>
            </a:r>
          </a:p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Group Top-1</a:t>
            </a:r>
          </a:p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Channel Top-2</a:t>
            </a:r>
          </a:p>
        </p:txBody>
      </p:sp>
      <p:sp>
        <p:nvSpPr>
          <p:cNvPr id="41" name="shared">
            <a:extLst xmlns:a="http://schemas.openxmlformats.org/drawingml/2006/main">
              <a:ext uri="{FF2B5EF4-FFF2-40B4-BE49-F238E27FC236}">
                <a16:creationId xmlns:a16="http://schemas.microsoft.com/office/drawing/2014/main" id="{FAC0375D-351A-42EE-8AD8-90F24BDD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600825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2383">
            <a:solidFill>
              <a:srgbClr val="F0676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Shared expert E₀</a:t>
            </a:r>
          </a:p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Always active</a:t>
            </a:r>
          </a:p>
        </p:txBody>
      </p:sp>
      <p:sp>
        <p:nvSpPr>
          <p:cNvPr id="42" name="routed">
            <a:extLst xmlns:a="http://schemas.openxmlformats.org/drawingml/2006/main">
              <a:ext uri="{FF2B5EF4-FFF2-40B4-BE49-F238E27FC236}">
                <a16:creationId xmlns:a16="http://schemas.microsoft.com/office/drawing/2014/main" id="{6468A246-6C01-423B-937D-32DCB693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572375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2383">
            <a:solidFill>
              <a:srgbClr val="F0676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Top-2 experts</a:t>
            </a:r>
          </a:p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Eₑ₁, Eₑ₂</a:t>
            </a:r>
          </a:p>
        </p:txBody>
      </p:sp>
      <p:sp>
        <p:nvSpPr>
          <p:cNvPr id="43" name="expert-sum">
            <a:extLst xmlns:a="http://schemas.openxmlformats.org/drawingml/2006/main">
              <a:ext uri="{FF2B5EF4-FFF2-40B4-BE49-F238E27FC236}">
                <a16:creationId xmlns:a16="http://schemas.microsoft.com/office/drawing/2014/main" id="{3475703F-DA63-4A85-BB88-3BAEA85A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038975"/>
            <a:ext cx="76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2383">
            <a:solidFill>
              <a:srgbClr val="F0676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Weighted</a:t>
            </a:r>
          </a:p>
          <a:p xmlns:a="http://schemas.openxmlformats.org/drawingml/2006/main">
            <a:pPr algn="ctr">
              <a:def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sum</a:t>
            </a:r>
          </a:p>
        </p:txBody>
      </p:sp>
      <p:sp>
        <p:nvSpPr>
          <p:cNvPr id="44" name="hybrid-sum">
            <a:extLst xmlns:a="http://schemas.openxmlformats.org/drawingml/2006/main">
              <a:ext uri="{FF2B5EF4-FFF2-40B4-BE49-F238E27FC236}">
                <a16:creationId xmlns:a16="http://schemas.microsoft.com/office/drawing/2014/main" id="{3745EA25-A793-4C1D-862D-8AC7F56E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572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163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45" name="integrator">
            <a:extLst xmlns:a="http://schemas.openxmlformats.org/drawingml/2006/main">
              <a:ext uri="{FF2B5EF4-FFF2-40B4-BE49-F238E27FC236}">
                <a16:creationId xmlns:a16="http://schemas.microsoft.com/office/drawing/2014/main" id="{1A2ECE3A-1398-4B0F-B660-B23CF7A1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96050"/>
            <a:ext cx="1857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DF0F4"/>
          </a:solidFill>
          <a:ln xmlns:a="http://schemas.openxmlformats.org/drawingml/2006/main" w="12383">
            <a:solidFill>
              <a:srgbClr val="7F94A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Time integration</a:t>
            </a:r>
          </a:p>
        </p:txBody>
      </p:sp>
      <p:sp>
        <p:nvSpPr>
          <p:cNvPr id="46" name="pressure-reconstruction">
            <a:extLst xmlns:a="http://schemas.openxmlformats.org/drawingml/2006/main">
              <a:ext uri="{FF2B5EF4-FFF2-40B4-BE49-F238E27FC236}">
                <a16:creationId xmlns:a16="http://schemas.microsoft.com/office/drawing/2014/main" id="{6618A9B0-61AE-40CE-A53E-AAC5B972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4008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Algebraic pressure</a:t>
            </a:r>
          </a:p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reconstruction</a:t>
            </a:r>
          </a:p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PPE + learned correction</a:t>
            </a:r>
          </a:p>
        </p:txBody>
      </p:sp>
      <p:cxnSp>
        <p:nvCxnSpPr>
          <p:cNvPr id="108" name=""/>
          <p:cNvCxnSpPr>
            <a:stCxn xmlns:a="http://schemas.openxmlformats.org/drawingml/2006/main" id="34" idx="0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4857750" y="5753100"/>
            <a:ext cx="1809750" cy="6191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109" name=""/>
          <p:cNvCxnSpPr>
            <a:stCxn xmlns:a="http://schemas.openxmlformats.org/drawingml/2006/main" id="34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667375" y="6896100"/>
            <a:ext cx="2667000" cy="142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110" name=""/>
          <p:cNvCxnSpPr>
            <a:stCxn xmlns:a="http://schemas.openxmlformats.org/drawingml/2006/main" id="34" idx="2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4857750" y="7419975"/>
            <a:ext cx="1524000" cy="40481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40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7953375" y="7824788"/>
            <a:ext cx="381000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9857FF"/>
            </a:solidFill>
            <a:prstDash val="dash"/>
            <a:head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41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906000" y="6910388"/>
            <a:ext cx="285750" cy="490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9906000" y="7400925"/>
            <a:ext cx="285750" cy="481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39" idx="3"/>
            <a:endCxn xmlns:a="http://schemas.openxmlformats.org/drawingml/2006/main" id="44" idx="2"/>
          </p:cNvCxnSpPr>
          <p:nvPr/>
        </p:nvCxnSpPr>
        <p:spPr>
          <a:xfrm xmlns:a="http://schemas.openxmlformats.org/drawingml/2006/main">
            <a:off x="10668000" y="5753100"/>
            <a:ext cx="78105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43" idx="3"/>
            <a:endCxn xmlns:a="http://schemas.openxmlformats.org/drawingml/2006/main" id="44" idx="4"/>
          </p:cNvCxnSpPr>
          <p:nvPr/>
        </p:nvCxnSpPr>
        <p:spPr>
          <a:xfrm xmlns:a="http://schemas.openxmlformats.org/drawingml/2006/main" flipV="1">
            <a:off x="10953750" y="6010275"/>
            <a:ext cx="714375" cy="1390650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44" idx="6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11887200" y="5791200"/>
            <a:ext cx="400050" cy="11096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144625" y="6900863"/>
            <a:ext cx="619125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headEnd type="triangle" w="sm" len="sm"/>
          </a:ln>
        </p:spPr>
      </p:cxnSp>
      <p:sp>
        <p:nvSpPr>
          <p:cNvPr id="57" name="a-next">
            <a:extLst xmlns:a="http://schemas.openxmlformats.org/drawingml/2006/main">
              <a:ext uri="{FF2B5EF4-FFF2-40B4-BE49-F238E27FC236}">
                <a16:creationId xmlns:a16="http://schemas.microsoft.com/office/drawing/2014/main" id="{781B3174-AF1E-482F-A5CE-D1622273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6477000"/>
            <a:ext cx="619125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rPr>
              <a:t>aₙ₊₁</a:t>
            </a:r>
          </a:p>
        </p:txBody>
      </p:sp>
      <p:sp>
        <p:nvSpPr>
          <p:cNvPr id="58" name="b-next">
            <a:extLst xmlns:a="http://schemas.openxmlformats.org/drawingml/2006/main">
              <a:ext uri="{FF2B5EF4-FFF2-40B4-BE49-F238E27FC236}">
                <a16:creationId xmlns:a16="http://schemas.microsoft.com/office/drawing/2014/main" id="{02D1F590-E6EC-449D-8D95-B9B623ED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7600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rPr>
              <a:t>Output: bₙ₊₁</a:t>
            </a:r>
          </a:p>
        </p:txBody>
      </p:sp>
      <p:sp>
        <p:nvSpPr>
          <p:cNvPr id="59" name="vel-label">
            <a:extLst xmlns:a="http://schemas.openxmlformats.org/drawingml/2006/main">
              <a:ext uri="{FF2B5EF4-FFF2-40B4-BE49-F238E27FC236}">
                <a16:creationId xmlns:a16="http://schemas.microsoft.com/office/drawing/2014/main" id="{30BC0321-FEE5-4433-BE6D-03EA944D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505700"/>
            <a:ext cx="1857375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rPr>
              <a:t>Velocity update</a:t>
            </a:r>
          </a:p>
        </p:txBody>
      </p:sp>
      <p:sp>
        <p:nvSpPr>
          <p:cNvPr id="60" name="branch-types">
            <a:extLst xmlns:a="http://schemas.openxmlformats.org/drawingml/2006/main">
              <a:ext uri="{FF2B5EF4-FFF2-40B4-BE49-F238E27FC236}">
                <a16:creationId xmlns:a16="http://schemas.microsoft.com/office/drawing/2014/main" id="{1E4D8C9E-36AE-4367-9BEE-3706C311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305800"/>
            <a:ext cx="4429125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nonlinear + affine + low-rank bilinear</a:t>
            </a:r>
          </a:p>
        </p:txBody>
      </p:sp>
      <p:sp>
        <p:nvSpPr>
          <p:cNvPr id="61" name="control-key">
            <a:extLst xmlns:a="http://schemas.openxmlformats.org/drawingml/2006/main">
              <a:ext uri="{FF2B5EF4-FFF2-40B4-BE49-F238E27FC236}">
                <a16:creationId xmlns:a16="http://schemas.microsoft.com/office/drawing/2014/main" id="{81B7FD58-8B5B-46CF-B920-7A121528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8239125"/>
            <a:ext cx="49530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65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7650A0"/>
                </a:solidFill>
                <a:latin typeface="Times New Roman"/>
                <a:ea typeface="Times New Roman"/>
                <a:cs typeface="Times New Roman"/>
              </a:rPr>
              <a:t>Dashed arrow: expert selection and weights</a:t>
            </a:r>
          </a:p>
        </p:txBody>
      </p:sp>
    </p:spTree>
    <p:extLst>
      <p:ext uri="{BB962C8B-B14F-4D97-AF65-F5344CB8AC3E}">
        <p14:creationId xmlns:p14="http://schemas.microsoft.com/office/powerpoint/2010/main" val="95214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2026-09-24T02:39:54.8640000Z</dcterms:created>
  <dcterms:modified xsi:type="dcterms:W3CDTF">2026-09-24T02:39:54.8640000Z</dcterms:modified>
</coreProperties>
</file>