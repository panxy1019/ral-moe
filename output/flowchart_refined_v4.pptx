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7345025" cy="89154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4" name="圆角矩形 153"/>
          <p:cNvSpPr>
            <a:spLocks noGrp="1"/>
          </p:cNvSpPr>
          <p:nvPr/>
        </p:nvSpPr>
        <p:spPr>
          <a:xfrm>
            <a:off x="114300" y="133350"/>
            <a:ext cx="17135475" cy="413385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1430">
            <a:solidFill>
              <a:srgbClr val="75B0FF"/>
            </a:solidFill>
            <a:prstDash val="dash"/>
          </a:ln>
        </p:spPr>
      </p:sp>
      <p:sp>
        <p:nvSpPr>
          <p:cNvPr id="2" name="圆角矩形 1"/>
          <p:cNvSpPr>
            <a:spLocks noGrp="1"/>
          </p:cNvSpPr>
          <p:nvPr/>
        </p:nvSpPr>
        <p:spPr>
          <a:xfrm>
            <a:off x="114300" y="4495800"/>
            <a:ext cx="17135475" cy="4210050"/>
          </a:xfrm>
          <a:prstGeom prst="roundRect">
            <a:avLst>
              <a:gd name="adj" fmla="val 5143"/>
            </a:avLst>
          </a:prstGeom>
          <a:solidFill>
            <a:srgbClr val="FFFEFC"/>
          </a:solidFill>
          <a:ln w="11430">
            <a:solidFill>
              <a:srgbClr val="75B0FF"/>
            </a:solidFill>
            <a:prstDash val="dash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76225" y="1428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52500" y="133350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A1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Global routing and physical-space assembly</a:t>
            </a:r>
            <a:endParaRPr sz="2400" b="1">
              <a:solidFill>
                <a:srgbClr val="080A1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00125" y="54292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2: regime routing and specialist assembly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76225" y="4533900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4533900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 b="1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One regime-local specialist </a:t>
            </a:r>
            <a:endParaRPr sz="2400" b="1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00125" y="49339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Level 1: sparse expert routing inside a specialist</a:t>
            </a:r>
            <a:endParaRPr sz="187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591300" y="5562600"/>
            <a:ext cx="4600575" cy="2838450"/>
          </a:xfrm>
          <a:prstGeom prst="roundRect">
            <a:avLst>
              <a:gd name="adj" fmla="val 3982"/>
            </a:avLst>
          </a:prstGeom>
          <a:gradFill>
            <a:gsLst>
              <a:gs pos="0">
                <a:srgbClr val="FFF5E9"/>
              </a:gs>
              <a:gs pos="100000">
                <a:srgbClr val="FFEEDC"/>
              </a:gs>
            </a:gsLst>
            <a:lin ang="6000000"/>
          </a:gradFill>
          <a:ln w="14288">
            <a:solidFill>
              <a:srgbClr val="FF8025"/>
            </a:solidFill>
            <a:prstDash val="dash"/>
          </a:ln>
        </p:spPr>
      </p:sp>
      <p:sp>
        <p:nvSpPr>
          <p:cNvPr id="10" name="任意多边形 9"/>
          <p:cNvSpPr>
            <a:spLocks noGrp="1"/>
          </p:cNvSpPr>
          <p:nvPr/>
        </p:nvSpPr>
        <p:spPr>
          <a:xfrm>
            <a:off x="2466975" y="1647825"/>
            <a:ext cx="685800" cy="523875"/>
          </a:xfrm>
          <a:custGeom>
            <a:avLst/>
            <a:gdLst/>
            <a:ahLst/>
            <a:cxnLst/>
            <a:pathLst>
              <a:path w="685800" h="523875">
                <a:moveTo>
                  <a:pt x="0" y="0"/>
                </a:moveTo>
                <a:lnTo>
                  <a:pt x="276225" y="0"/>
                </a:lnTo>
                <a:lnTo>
                  <a:pt x="276225" y="523875"/>
                </a:lnTo>
                <a:lnTo>
                  <a:pt x="685800" y="52387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1" name="任意多边形 10"/>
          <p:cNvSpPr>
            <a:spLocks noGrp="1"/>
          </p:cNvSpPr>
          <p:nvPr/>
        </p:nvSpPr>
        <p:spPr>
          <a:xfrm>
            <a:off x="3038475" y="21240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2" name="任意多边形 11"/>
          <p:cNvSpPr>
            <a:spLocks noGrp="1"/>
          </p:cNvSpPr>
          <p:nvPr/>
        </p:nvSpPr>
        <p:spPr>
          <a:xfrm>
            <a:off x="2466975" y="2714625"/>
            <a:ext cx="685800" cy="485775"/>
          </a:xfrm>
          <a:custGeom>
            <a:avLst/>
            <a:gdLst/>
            <a:ahLst/>
            <a:cxnLst/>
            <a:pathLst>
              <a:path w="685800" h="485775">
                <a:moveTo>
                  <a:pt x="0" y="485775"/>
                </a:moveTo>
                <a:lnTo>
                  <a:pt x="276225" y="485775"/>
                </a:lnTo>
                <a:lnTo>
                  <a:pt x="276225" y="0"/>
                </a:lnTo>
                <a:lnTo>
                  <a:pt x="6858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3" name="任意多边形 12"/>
          <p:cNvSpPr>
            <a:spLocks noGrp="1"/>
          </p:cNvSpPr>
          <p:nvPr/>
        </p:nvSpPr>
        <p:spPr>
          <a:xfrm>
            <a:off x="3038475" y="26670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4" name="任意多边形 13"/>
          <p:cNvSpPr>
            <a:spLocks noGrp="1"/>
          </p:cNvSpPr>
          <p:nvPr/>
        </p:nvSpPr>
        <p:spPr>
          <a:xfrm>
            <a:off x="4733925" y="2343150"/>
            <a:ext cx="504825" cy="9525"/>
          </a:xfrm>
          <a:custGeom>
            <a:avLst/>
            <a:gdLst/>
            <a:ahLst/>
            <a:cxnLst/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5" name="任意多边形 14"/>
          <p:cNvSpPr>
            <a:spLocks noGrp="1"/>
          </p:cNvSpPr>
          <p:nvPr/>
        </p:nvSpPr>
        <p:spPr>
          <a:xfrm>
            <a:off x="5124450" y="2295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6" name="任意多边形 15"/>
          <p:cNvSpPr>
            <a:spLocks noGrp="1"/>
          </p:cNvSpPr>
          <p:nvPr/>
        </p:nvSpPr>
        <p:spPr>
          <a:xfrm>
            <a:off x="6677025" y="1581150"/>
            <a:ext cx="571500" cy="723900"/>
          </a:xfrm>
          <a:custGeom>
            <a:avLst/>
            <a:gdLst/>
            <a:ahLst/>
            <a:cxnLst/>
            <a:pathLst>
              <a:path w="571500" h="723900">
                <a:moveTo>
                  <a:pt x="0" y="723900"/>
                </a:moveTo>
                <a:lnTo>
                  <a:pt x="238125" y="723900"/>
                </a:lnTo>
                <a:lnTo>
                  <a:pt x="238125" y="0"/>
                </a:lnTo>
                <a:lnTo>
                  <a:pt x="5715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17" name="任意多边形 16"/>
          <p:cNvSpPr>
            <a:spLocks noGrp="1"/>
          </p:cNvSpPr>
          <p:nvPr/>
        </p:nvSpPr>
        <p:spPr>
          <a:xfrm>
            <a:off x="7134225" y="1533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18" name="任意多边形 17"/>
          <p:cNvSpPr>
            <a:spLocks noGrp="1"/>
          </p:cNvSpPr>
          <p:nvPr/>
        </p:nvSpPr>
        <p:spPr>
          <a:xfrm>
            <a:off x="8639175" y="1581150"/>
            <a:ext cx="1219200" cy="9525"/>
          </a:xfrm>
          <a:custGeom>
            <a:avLst/>
            <a:gdLst/>
            <a:ahLst/>
            <a:cxnLst/>
            <a:pathLst>
              <a:path w="1219200" h="9525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9" name="任意多边形 18"/>
          <p:cNvSpPr>
            <a:spLocks noGrp="1"/>
          </p:cNvSpPr>
          <p:nvPr/>
        </p:nvSpPr>
        <p:spPr>
          <a:xfrm>
            <a:off x="9744075" y="1533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0" name="任意多边形 19"/>
          <p:cNvSpPr>
            <a:spLocks noGrp="1"/>
          </p:cNvSpPr>
          <p:nvPr/>
        </p:nvSpPr>
        <p:spPr>
          <a:xfrm>
            <a:off x="7924800" y="2324100"/>
            <a:ext cx="1790700" cy="685800"/>
          </a:xfrm>
          <a:custGeom>
            <a:avLst/>
            <a:gdLst/>
            <a:ahLst/>
            <a:cxnLst/>
            <a:pathLst>
              <a:path w="1790700" h="685800">
                <a:moveTo>
                  <a:pt x="0" y="0"/>
                </a:moveTo>
                <a:lnTo>
                  <a:pt x="0" y="685800"/>
                </a:lnTo>
                <a:lnTo>
                  <a:pt x="1790700" y="685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1" name="任意多边形 20"/>
          <p:cNvSpPr>
            <a:spLocks noGrp="1"/>
          </p:cNvSpPr>
          <p:nvPr/>
        </p:nvSpPr>
        <p:spPr>
          <a:xfrm>
            <a:off x="9601200" y="29622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2" name="任意多边形 21"/>
          <p:cNvSpPr>
            <a:spLocks noGrp="1"/>
          </p:cNvSpPr>
          <p:nvPr/>
        </p:nvSpPr>
        <p:spPr>
          <a:xfrm>
            <a:off x="12296775" y="1581150"/>
            <a:ext cx="3648075" cy="304800"/>
          </a:xfrm>
          <a:custGeom>
            <a:avLst/>
            <a:gdLst/>
            <a:ahLst/>
            <a:cxnLst/>
            <a:pathLst>
              <a:path w="3648075" h="304800">
                <a:moveTo>
                  <a:pt x="0" y="0"/>
                </a:moveTo>
                <a:lnTo>
                  <a:pt x="3648075" y="0"/>
                </a:lnTo>
                <a:lnTo>
                  <a:pt x="3648075" y="304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3" name="任意多边形 22"/>
          <p:cNvSpPr>
            <a:spLocks noGrp="1"/>
          </p:cNvSpPr>
          <p:nvPr/>
        </p:nvSpPr>
        <p:spPr>
          <a:xfrm>
            <a:off x="15897225" y="177165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24" name="任意多边形 23"/>
          <p:cNvSpPr>
            <a:spLocks noGrp="1"/>
          </p:cNvSpPr>
          <p:nvPr/>
        </p:nvSpPr>
        <p:spPr>
          <a:xfrm>
            <a:off x="2466975" y="3867150"/>
            <a:ext cx="7391400" cy="9525"/>
          </a:xfrm>
          <a:custGeom>
            <a:avLst/>
            <a:gdLst/>
            <a:ahLst/>
            <a:cxnLst/>
            <a:pathLst>
              <a:path w="7391400" h="9525">
                <a:moveTo>
                  <a:pt x="0" y="0"/>
                </a:moveTo>
                <a:lnTo>
                  <a:pt x="7391400" y="0"/>
                </a:lnTo>
              </a:path>
            </a:pathLst>
          </a:custGeom>
          <a:noFill/>
          <a:ln w="17145">
            <a:solidFill>
              <a:srgbClr val="638399"/>
            </a:solidFill>
          </a:ln>
        </p:spPr>
      </p:sp>
      <p:sp>
        <p:nvSpPr>
          <p:cNvPr id="25" name="任意多边形 24"/>
          <p:cNvSpPr>
            <a:spLocks noGrp="1"/>
          </p:cNvSpPr>
          <p:nvPr/>
        </p:nvSpPr>
        <p:spPr>
          <a:xfrm>
            <a:off x="9744075" y="38195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638399"/>
          </a:solidFill>
          <a:ln w="0">
            <a:solidFill>
              <a:srgbClr val="638399"/>
            </a:solidFill>
          </a:ln>
        </p:spPr>
      </p:sp>
      <p:sp>
        <p:nvSpPr>
          <p:cNvPr id="26" name="任意多边形 25"/>
          <p:cNvSpPr>
            <a:spLocks noGrp="1"/>
          </p:cNvSpPr>
          <p:nvPr/>
        </p:nvSpPr>
        <p:spPr>
          <a:xfrm>
            <a:off x="5962650" y="2733675"/>
            <a:ext cx="9525" cy="1123950"/>
          </a:xfrm>
          <a:custGeom>
            <a:avLst/>
            <a:gdLst/>
            <a:ahLst/>
            <a:cxnLst/>
            <a:pathLst>
              <a:path w="9525" h="1123950">
                <a:moveTo>
                  <a:pt x="0" y="1123950"/>
                </a:moveTo>
                <a:lnTo>
                  <a:pt x="0" y="0"/>
                </a:lnTo>
              </a:path>
            </a:pathLst>
          </a:custGeom>
          <a:noFill/>
          <a:ln w="17145">
            <a:solidFill>
              <a:srgbClr val="638399"/>
            </a:solidFill>
          </a:ln>
        </p:spPr>
      </p:sp>
      <p:sp>
        <p:nvSpPr>
          <p:cNvPr id="27" name="任意多边形 26"/>
          <p:cNvSpPr>
            <a:spLocks noGrp="1"/>
          </p:cNvSpPr>
          <p:nvPr/>
        </p:nvSpPr>
        <p:spPr>
          <a:xfrm>
            <a:off x="5915025" y="27336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638399"/>
          </a:solidFill>
          <a:ln w="0">
            <a:solidFill>
              <a:srgbClr val="638399"/>
            </a:solidFill>
          </a:ln>
        </p:spPr>
      </p:sp>
      <p:sp>
        <p:nvSpPr>
          <p:cNvPr id="28" name="任意多边形 27"/>
          <p:cNvSpPr>
            <a:spLocks noGrp="1"/>
          </p:cNvSpPr>
          <p:nvPr/>
        </p:nvSpPr>
        <p:spPr>
          <a:xfrm>
            <a:off x="12296775" y="2286000"/>
            <a:ext cx="1114425" cy="323850"/>
          </a:xfrm>
          <a:custGeom>
            <a:avLst/>
            <a:gdLst/>
            <a:ahLst/>
            <a:cxnLst/>
            <a:pathLst>
              <a:path w="1114425" h="323850">
                <a:moveTo>
                  <a:pt x="0" y="0"/>
                </a:moveTo>
                <a:lnTo>
                  <a:pt x="419100" y="0"/>
                </a:lnTo>
                <a:lnTo>
                  <a:pt x="419100" y="323850"/>
                </a:lnTo>
                <a:lnTo>
                  <a:pt x="1114425" y="32385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29" name="任意多边形 28"/>
          <p:cNvSpPr>
            <a:spLocks noGrp="1"/>
          </p:cNvSpPr>
          <p:nvPr/>
        </p:nvSpPr>
        <p:spPr>
          <a:xfrm>
            <a:off x="13296900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0" name="任意多边形 29"/>
          <p:cNvSpPr>
            <a:spLocks noGrp="1"/>
          </p:cNvSpPr>
          <p:nvPr/>
        </p:nvSpPr>
        <p:spPr>
          <a:xfrm>
            <a:off x="12296775" y="2886075"/>
            <a:ext cx="1390650" cy="981075"/>
          </a:xfrm>
          <a:custGeom>
            <a:avLst/>
            <a:gdLst/>
            <a:ahLst/>
            <a:cxnLst/>
            <a:pathLst>
              <a:path w="1390650" h="981075">
                <a:moveTo>
                  <a:pt x="0" y="981075"/>
                </a:moveTo>
                <a:lnTo>
                  <a:pt x="1390650" y="981075"/>
                </a:lnTo>
                <a:lnTo>
                  <a:pt x="139065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1" name="任意多边形 30"/>
          <p:cNvSpPr>
            <a:spLocks noGrp="1"/>
          </p:cNvSpPr>
          <p:nvPr/>
        </p:nvSpPr>
        <p:spPr>
          <a:xfrm>
            <a:off x="13639800" y="28860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2" name="任意多边形 31"/>
          <p:cNvSpPr>
            <a:spLocks noGrp="1"/>
          </p:cNvSpPr>
          <p:nvPr/>
        </p:nvSpPr>
        <p:spPr>
          <a:xfrm>
            <a:off x="13973175" y="2609850"/>
            <a:ext cx="990600" cy="9525"/>
          </a:xfrm>
          <a:custGeom>
            <a:avLst/>
            <a:gdLst/>
            <a:ahLst/>
            <a:cxnLst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3" name="任意多边形 32"/>
          <p:cNvSpPr>
            <a:spLocks noGrp="1"/>
          </p:cNvSpPr>
          <p:nvPr/>
        </p:nvSpPr>
        <p:spPr>
          <a:xfrm>
            <a:off x="14849475" y="25622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4" name="任意多边形 33"/>
          <p:cNvSpPr>
            <a:spLocks noGrp="1"/>
          </p:cNvSpPr>
          <p:nvPr/>
        </p:nvSpPr>
        <p:spPr>
          <a:xfrm>
            <a:off x="1981200" y="6953250"/>
            <a:ext cx="295275" cy="9525"/>
          </a:xfrm>
          <a:custGeom>
            <a:avLst/>
            <a:gdLst/>
            <a:ahLst/>
            <a:cxnLst/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5" name="任意多边形 34"/>
          <p:cNvSpPr>
            <a:spLocks noGrp="1"/>
          </p:cNvSpPr>
          <p:nvPr/>
        </p:nvSpPr>
        <p:spPr>
          <a:xfrm>
            <a:off x="2162175" y="69056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6" name="任意多边形 35"/>
          <p:cNvSpPr>
            <a:spLocks noGrp="1"/>
          </p:cNvSpPr>
          <p:nvPr/>
        </p:nvSpPr>
        <p:spPr>
          <a:xfrm>
            <a:off x="3562350" y="6953250"/>
            <a:ext cx="314325" cy="9525"/>
          </a:xfrm>
          <a:custGeom>
            <a:avLst/>
            <a:gdLst/>
            <a:ahLst/>
            <a:cxnLst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7" name="任意多边形 36"/>
          <p:cNvSpPr>
            <a:spLocks noGrp="1"/>
          </p:cNvSpPr>
          <p:nvPr/>
        </p:nvSpPr>
        <p:spPr>
          <a:xfrm>
            <a:off x="3762375" y="69056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38" name="任意多边形 37"/>
          <p:cNvSpPr>
            <a:spLocks noGrp="1"/>
          </p:cNvSpPr>
          <p:nvPr/>
        </p:nvSpPr>
        <p:spPr>
          <a:xfrm>
            <a:off x="6229350" y="5124450"/>
            <a:ext cx="1419225" cy="1828800"/>
          </a:xfrm>
          <a:custGeom>
            <a:avLst/>
            <a:gdLst/>
            <a:ahLst/>
            <a:cxnLst/>
            <a:pathLst>
              <a:path w="1419225" h="1828800">
                <a:moveTo>
                  <a:pt x="0" y="1828800"/>
                </a:moveTo>
                <a:lnTo>
                  <a:pt x="209550" y="1828800"/>
                </a:lnTo>
                <a:lnTo>
                  <a:pt x="209550" y="0"/>
                </a:lnTo>
                <a:lnTo>
                  <a:pt x="1419225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39" name="任意多边形 38"/>
          <p:cNvSpPr>
            <a:spLocks noGrp="1"/>
          </p:cNvSpPr>
          <p:nvPr/>
        </p:nvSpPr>
        <p:spPr>
          <a:xfrm>
            <a:off x="7534275" y="50768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0" name="任意多边形 39"/>
          <p:cNvSpPr>
            <a:spLocks noGrp="1"/>
          </p:cNvSpPr>
          <p:nvPr/>
        </p:nvSpPr>
        <p:spPr>
          <a:xfrm>
            <a:off x="6315075" y="6953250"/>
            <a:ext cx="476250" cy="152400"/>
          </a:xfrm>
          <a:custGeom>
            <a:avLst/>
            <a:gdLst/>
            <a:ahLst/>
            <a:cxnLst/>
            <a:pathLst>
              <a:path w="476250" h="152400">
                <a:moveTo>
                  <a:pt x="0" y="0"/>
                </a:moveTo>
                <a:lnTo>
                  <a:pt x="0" y="152400"/>
                </a:lnTo>
                <a:lnTo>
                  <a:pt x="476250" y="1524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1" name="任意多边形 40"/>
          <p:cNvSpPr>
            <a:spLocks noGrp="1"/>
          </p:cNvSpPr>
          <p:nvPr/>
        </p:nvSpPr>
        <p:spPr>
          <a:xfrm>
            <a:off x="6677025" y="70580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2" name="任意多边形 41"/>
          <p:cNvSpPr>
            <a:spLocks noGrp="1"/>
          </p:cNvSpPr>
          <p:nvPr/>
        </p:nvSpPr>
        <p:spPr>
          <a:xfrm>
            <a:off x="10734675" y="5124450"/>
            <a:ext cx="752475" cy="1066800"/>
          </a:xfrm>
          <a:custGeom>
            <a:avLst/>
            <a:gdLst/>
            <a:ahLst/>
            <a:cxnLst/>
            <a:pathLst>
              <a:path w="752475" h="1066800">
                <a:moveTo>
                  <a:pt x="0" y="0"/>
                </a:moveTo>
                <a:lnTo>
                  <a:pt x="752475" y="0"/>
                </a:lnTo>
                <a:lnTo>
                  <a:pt x="752475" y="106680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3" name="任意多边形 42"/>
          <p:cNvSpPr>
            <a:spLocks noGrp="1"/>
          </p:cNvSpPr>
          <p:nvPr/>
        </p:nvSpPr>
        <p:spPr>
          <a:xfrm>
            <a:off x="11439525" y="6076950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11430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4" name="任意多边形 43"/>
          <p:cNvSpPr>
            <a:spLocks noGrp="1"/>
          </p:cNvSpPr>
          <p:nvPr/>
        </p:nvSpPr>
        <p:spPr>
          <a:xfrm>
            <a:off x="7781925" y="6477000"/>
            <a:ext cx="533400" cy="285750"/>
          </a:xfrm>
          <a:custGeom>
            <a:avLst/>
            <a:gdLst/>
            <a:ahLst/>
            <a:cxnLst/>
            <a:pathLst>
              <a:path w="533400" h="285750">
                <a:moveTo>
                  <a:pt x="0" y="285750"/>
                </a:moveTo>
                <a:lnTo>
                  <a:pt x="257175" y="285750"/>
                </a:lnTo>
                <a:lnTo>
                  <a:pt x="257175" y="0"/>
                </a:lnTo>
                <a:lnTo>
                  <a:pt x="5334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5" name="任意多边形 44"/>
          <p:cNvSpPr>
            <a:spLocks noGrp="1"/>
          </p:cNvSpPr>
          <p:nvPr/>
        </p:nvSpPr>
        <p:spPr>
          <a:xfrm>
            <a:off x="8201025" y="642937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6" name="任意多边形 45"/>
          <p:cNvSpPr>
            <a:spLocks noGrp="1"/>
          </p:cNvSpPr>
          <p:nvPr/>
        </p:nvSpPr>
        <p:spPr>
          <a:xfrm>
            <a:off x="7781925" y="7172325"/>
            <a:ext cx="533400" cy="428625"/>
          </a:xfrm>
          <a:custGeom>
            <a:avLst/>
            <a:gdLst/>
            <a:ahLst/>
            <a:cxnLst/>
            <a:pathLst>
              <a:path w="533400" h="428625">
                <a:moveTo>
                  <a:pt x="0" y="0"/>
                </a:moveTo>
                <a:lnTo>
                  <a:pt x="257175" y="0"/>
                </a:lnTo>
                <a:lnTo>
                  <a:pt x="257175" y="428625"/>
                </a:lnTo>
                <a:lnTo>
                  <a:pt x="533400" y="42862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7" name="任意多边形 46"/>
          <p:cNvSpPr>
            <a:spLocks noGrp="1"/>
          </p:cNvSpPr>
          <p:nvPr/>
        </p:nvSpPr>
        <p:spPr>
          <a:xfrm>
            <a:off x="8201025" y="7553325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48" name="任意多边形 47"/>
          <p:cNvSpPr>
            <a:spLocks noGrp="1"/>
          </p:cNvSpPr>
          <p:nvPr/>
        </p:nvSpPr>
        <p:spPr>
          <a:xfrm>
            <a:off x="10144125" y="6477000"/>
            <a:ext cx="285750" cy="542925"/>
          </a:xfrm>
          <a:custGeom>
            <a:avLst/>
            <a:gdLst/>
            <a:ahLst/>
            <a:cxnLst/>
            <a:pathLst>
              <a:path w="285750" h="542925">
                <a:moveTo>
                  <a:pt x="0" y="0"/>
                </a:moveTo>
                <a:lnTo>
                  <a:pt x="142875" y="0"/>
                </a:lnTo>
                <a:lnTo>
                  <a:pt x="142875" y="542925"/>
                </a:lnTo>
                <a:lnTo>
                  <a:pt x="285750" y="542925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49" name="任意多边形 48"/>
          <p:cNvSpPr>
            <a:spLocks noGrp="1"/>
          </p:cNvSpPr>
          <p:nvPr/>
        </p:nvSpPr>
        <p:spPr>
          <a:xfrm>
            <a:off x="10315575" y="697230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0" name="任意多边形 49"/>
          <p:cNvSpPr>
            <a:spLocks noGrp="1"/>
          </p:cNvSpPr>
          <p:nvPr/>
        </p:nvSpPr>
        <p:spPr>
          <a:xfrm>
            <a:off x="10144125" y="7229475"/>
            <a:ext cx="285750" cy="371475"/>
          </a:xfrm>
          <a:custGeom>
            <a:avLst/>
            <a:gdLst/>
            <a:ahLst/>
            <a:cxnLst/>
            <a:pathLst>
              <a:path w="285750" h="371475">
                <a:moveTo>
                  <a:pt x="0" y="371475"/>
                </a:moveTo>
                <a:lnTo>
                  <a:pt x="142875" y="371475"/>
                </a:lnTo>
                <a:lnTo>
                  <a:pt x="142875" y="0"/>
                </a:lnTo>
                <a:lnTo>
                  <a:pt x="28575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1" name="任意多边形 50"/>
          <p:cNvSpPr>
            <a:spLocks noGrp="1"/>
          </p:cNvSpPr>
          <p:nvPr/>
        </p:nvSpPr>
        <p:spPr>
          <a:xfrm>
            <a:off x="10315575" y="7181850"/>
            <a:ext cx="114300" cy="95250"/>
          </a:xfrm>
          <a:custGeom>
            <a:avLst/>
            <a:gdLst/>
            <a:ahLst/>
            <a:cxnLst/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2" name="任意多边形 51"/>
          <p:cNvSpPr>
            <a:spLocks noGrp="1"/>
          </p:cNvSpPr>
          <p:nvPr/>
        </p:nvSpPr>
        <p:spPr>
          <a:xfrm>
            <a:off x="11029950" y="6619875"/>
            <a:ext cx="457200" cy="504825"/>
          </a:xfrm>
          <a:custGeom>
            <a:avLst/>
            <a:gdLst/>
            <a:ahLst/>
            <a:cxnLst/>
            <a:pathLst>
              <a:path w="457200" h="504825">
                <a:moveTo>
                  <a:pt x="0" y="504825"/>
                </a:moveTo>
                <a:lnTo>
                  <a:pt x="457200" y="504825"/>
                </a:lnTo>
                <a:lnTo>
                  <a:pt x="4572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53" name="任意多边形 52"/>
          <p:cNvSpPr>
            <a:spLocks noGrp="1"/>
          </p:cNvSpPr>
          <p:nvPr/>
        </p:nvSpPr>
        <p:spPr>
          <a:xfrm>
            <a:off x="11439525" y="6619875"/>
            <a:ext cx="95250" cy="114300"/>
          </a:xfrm>
          <a:custGeom>
            <a:avLst/>
            <a:gdLst/>
            <a:ahLst/>
            <a:cxnLst/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>
            <a:srgbClr val="080E36"/>
          </a:solidFill>
          <a:ln w="0">
            <a:solidFill>
              <a:srgbClr val="080E36"/>
            </a:solidFill>
          </a:ln>
        </p:spPr>
      </p:sp>
      <p:sp>
        <p:nvSpPr>
          <p:cNvPr id="54" name="任意多边形 53"/>
          <p:cNvSpPr>
            <a:spLocks noGrp="1"/>
          </p:cNvSpPr>
          <p:nvPr/>
        </p:nvSpPr>
        <p:spPr>
          <a:xfrm>
            <a:off x="11696700" y="6400800"/>
            <a:ext cx="304800" cy="552450"/>
          </a:xfrm>
          <a:custGeom>
            <a:avLst/>
            <a:gdLst/>
            <a:ahLst/>
            <a:cxnLst/>
            <a:pathLst>
              <a:path w="304800" h="552450">
                <a:moveTo>
                  <a:pt x="0" y="0"/>
                </a:moveTo>
                <a:lnTo>
                  <a:pt x="142875" y="0"/>
                </a:lnTo>
                <a:lnTo>
                  <a:pt x="142875" y="552450"/>
                </a:lnTo>
                <a:lnTo>
                  <a:pt x="304800" y="552450"/>
                </a:lnTo>
              </a:path>
            </a:pathLst>
          </a:custGeom>
          <a:noFill/>
          <a:ln w="28575">
            <a:solidFill>
              <a:srgbClr val="176CB1"/>
            </a:solidFill>
          </a:ln>
        </p:spPr>
      </p:sp>
      <p:sp>
        <p:nvSpPr>
          <p:cNvPr id="55" name="任意多边形 54"/>
          <p:cNvSpPr>
            <a:spLocks noGrp="1"/>
          </p:cNvSpPr>
          <p:nvPr/>
        </p:nvSpPr>
        <p:spPr>
          <a:xfrm>
            <a:off x="118681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CB1"/>
          </a:solidFill>
          <a:ln w="0">
            <a:solidFill>
              <a:srgbClr val="176CB1"/>
            </a:solidFill>
          </a:ln>
        </p:spPr>
      </p:sp>
      <p:sp>
        <p:nvSpPr>
          <p:cNvPr id="56" name="任意多边形 55"/>
          <p:cNvSpPr>
            <a:spLocks noGrp="1"/>
          </p:cNvSpPr>
          <p:nvPr/>
        </p:nvSpPr>
        <p:spPr>
          <a:xfrm>
            <a:off x="13525500" y="6953250"/>
            <a:ext cx="1428750" cy="9525"/>
          </a:xfrm>
          <a:custGeom>
            <a:avLst/>
            <a:gdLst/>
            <a:ahLst/>
            <a:cxnLst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176CB1"/>
            </a:solidFill>
          </a:ln>
        </p:spPr>
      </p:sp>
      <p:sp>
        <p:nvSpPr>
          <p:cNvPr id="57" name="任意多边形 56"/>
          <p:cNvSpPr>
            <a:spLocks noGrp="1"/>
          </p:cNvSpPr>
          <p:nvPr/>
        </p:nvSpPr>
        <p:spPr>
          <a:xfrm>
            <a:off x="1482090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CB1"/>
          </a:solidFill>
          <a:ln w="0">
            <a:solidFill>
              <a:srgbClr val="176CB1"/>
            </a:solidFill>
          </a:ln>
        </p:spPr>
      </p:sp>
      <p:sp>
        <p:nvSpPr>
          <p:cNvPr id="58" name="任意多边形 57"/>
          <p:cNvSpPr>
            <a:spLocks noGrp="1"/>
          </p:cNvSpPr>
          <p:nvPr/>
        </p:nvSpPr>
        <p:spPr>
          <a:xfrm>
            <a:off x="16687800" y="6953250"/>
            <a:ext cx="495300" cy="9525"/>
          </a:xfrm>
          <a:custGeom>
            <a:avLst/>
            <a:gdLst/>
            <a:ahLst/>
            <a:cxnLst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176CB1"/>
            </a:solidFill>
          </a:ln>
        </p:spPr>
      </p:sp>
      <p:sp>
        <p:nvSpPr>
          <p:cNvPr id="59" name="任意多边形 58"/>
          <p:cNvSpPr>
            <a:spLocks noGrp="1"/>
          </p:cNvSpPr>
          <p:nvPr/>
        </p:nvSpPr>
        <p:spPr>
          <a:xfrm>
            <a:off x="17049750" y="6896100"/>
            <a:ext cx="133350" cy="114300"/>
          </a:xfrm>
          <a:custGeom>
            <a:avLst/>
            <a:gdLst/>
            <a:ahLst/>
            <a:cxnLst/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CB1"/>
          </a:solidFill>
          <a:ln w="0">
            <a:solidFill>
              <a:srgbClr val="176CB1"/>
            </a:solidFill>
          </a:ln>
        </p:spPr>
      </p:sp>
      <p:sp>
        <p:nvSpPr>
          <p:cNvPr id="60" name="任意多边形 59"/>
          <p:cNvSpPr>
            <a:spLocks noGrp="1"/>
          </p:cNvSpPr>
          <p:nvPr/>
        </p:nvSpPr>
        <p:spPr>
          <a:xfrm>
            <a:off x="12296775" y="2609850"/>
            <a:ext cx="419100" cy="381000"/>
          </a:xfrm>
          <a:custGeom>
            <a:avLst/>
            <a:gdLst/>
            <a:ahLst/>
            <a:cxnLst/>
            <a:pathLst>
              <a:path w="419100" h="381000">
                <a:moveTo>
                  <a:pt x="0" y="381000"/>
                </a:moveTo>
                <a:lnTo>
                  <a:pt x="419100" y="381000"/>
                </a:lnTo>
                <a:lnTo>
                  <a:pt x="419100" y="0"/>
                </a:lnTo>
              </a:path>
            </a:pathLst>
          </a:custGeom>
          <a:noFill/>
          <a:ln w="16193">
            <a:solidFill>
              <a:srgbClr val="080E36"/>
            </a:solidFill>
          </a:ln>
        </p:spPr>
      </p:sp>
      <p:sp>
        <p:nvSpPr>
          <p:cNvPr id="61" name="圆角矩形 60"/>
          <p:cNvSpPr>
            <a:spLocks noGrp="1"/>
          </p:cNvSpPr>
          <p:nvPr/>
        </p:nvSpPr>
        <p:spPr>
          <a:xfrm>
            <a:off x="342900" y="1276350"/>
            <a:ext cx="2124075" cy="7239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2700">
            <a:solidFill>
              <a:srgbClr val="9360FF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428625" y="1343025"/>
            <a:ext cx="195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 descr="LaTeX: \mu"/>
              <p:cNvSpPr>
                <a:spLocks noGrp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𝜇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3" name="矩形 62" descr="LaTeX: \mu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619250"/>
                <a:ext cx="1485900" cy="304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圆角矩形 63"/>
          <p:cNvSpPr>
            <a:spLocks noGrp="1"/>
          </p:cNvSpPr>
          <p:nvPr/>
        </p:nvSpPr>
        <p:spPr>
          <a:xfrm>
            <a:off x="342900" y="2819400"/>
            <a:ext cx="2124075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2700">
            <a:solidFill>
              <a:srgbClr val="7D9FC0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400050" y="2847975"/>
            <a:ext cx="20097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矩形 65" descr="LaTeX: \mathcal{H}_n"/>
              <p:cNvSpPr>
                <a:spLocks noGrp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6" name="矩形 65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317182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任意多边形 72"/>
          <p:cNvSpPr>
            <a:spLocks noGrp="1"/>
          </p:cNvSpPr>
          <p:nvPr/>
        </p:nvSpPr>
        <p:spPr>
          <a:xfrm>
            <a:off x="3162300" y="1504950"/>
            <a:ext cx="1571625" cy="1876425"/>
          </a:xfrm>
          <a:custGeom>
            <a:avLst/>
            <a:gdLst/>
            <a:ahLst/>
            <a:cxnLst/>
            <a:pathLst>
              <a:path w="1571625" h="1876425">
                <a:moveTo>
                  <a:pt x="0" y="0"/>
                </a:moveTo>
                <a:lnTo>
                  <a:pt x="1571625" y="371475"/>
                </a:lnTo>
                <a:lnTo>
                  <a:pt x="1571625" y="1457325"/>
                </a:lnTo>
                <a:lnTo>
                  <a:pt x="0" y="1876425"/>
                </a:lnTo>
                <a:close/>
              </a:path>
            </a:pathLst>
          </a:custGeom>
          <a:gradFill>
            <a:gsLst>
              <a:gs pos="0">
                <a:srgbClr val="C9F2F0"/>
              </a:gs>
              <a:gs pos="100000">
                <a:srgbClr val="A9E6E5"/>
              </a:gs>
            </a:gsLst>
            <a:lin ang="6000000"/>
          </a:gradFill>
          <a:ln w="15240">
            <a:solidFill>
              <a:srgbClr val="00A1A8"/>
            </a:solidFill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3286125" y="2047875"/>
            <a:ext cx="1323975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Parameter</a:t>
            </a:r>
            <a:endParaRPr sz="1725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00131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725" b="1">
              <a:solidFill>
                <a:srgbClr val="00131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3657600" y="2886075"/>
            <a:ext cx="114300" cy="17145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6" name="圆角矩形 75"/>
          <p:cNvSpPr>
            <a:spLocks noGrp="1"/>
          </p:cNvSpPr>
          <p:nvPr/>
        </p:nvSpPr>
        <p:spPr>
          <a:xfrm>
            <a:off x="3838575" y="2762250"/>
            <a:ext cx="114300" cy="295275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7" name="圆角矩形 76"/>
          <p:cNvSpPr>
            <a:spLocks noGrp="1"/>
          </p:cNvSpPr>
          <p:nvPr/>
        </p:nvSpPr>
        <p:spPr>
          <a:xfrm>
            <a:off x="4019550" y="2638425"/>
            <a:ext cx="114300" cy="419100"/>
          </a:xfrm>
          <a:prstGeom prst="roundRect">
            <a:avLst>
              <a:gd name="adj" fmla="val 0"/>
            </a:avLst>
          </a:prstGeom>
          <a:solidFill>
            <a:srgbClr val="00A3AA"/>
          </a:solidFill>
          <a:ln w="14288">
            <a:solidFill>
              <a:srgbClr val="00A3AA"/>
            </a:solidFill>
            <a:prstDash val="solid"/>
          </a:ln>
        </p:spPr>
      </p:sp>
      <p:sp>
        <p:nvSpPr>
          <p:cNvPr id="78" name="圆角矩形 77"/>
          <p:cNvSpPr>
            <a:spLocks noGrp="1"/>
          </p:cNvSpPr>
          <p:nvPr/>
        </p:nvSpPr>
        <p:spPr>
          <a:xfrm>
            <a:off x="5238750" y="1981200"/>
            <a:ext cx="1438275" cy="733425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5324475" y="2047875"/>
            <a:ext cx="1276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Masked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selection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任意多边形 79"/>
          <p:cNvSpPr>
            <a:spLocks noGrp="1"/>
          </p:cNvSpPr>
          <p:nvPr/>
        </p:nvSpPr>
        <p:spPr>
          <a:xfrm>
            <a:off x="7248525" y="990600"/>
            <a:ext cx="1390650" cy="1343025"/>
          </a:xfrm>
          <a:custGeom>
            <a:avLst/>
            <a:gdLst/>
            <a:ahLst/>
            <a:cxnLst/>
            <a:pathLst>
              <a:path w="1390650" h="1343025">
                <a:moveTo>
                  <a:pt x="685800" y="0"/>
                </a:moveTo>
                <a:lnTo>
                  <a:pt x="1390650" y="590550"/>
                </a:lnTo>
                <a:lnTo>
                  <a:pt x="676275" y="1343025"/>
                </a:lnTo>
                <a:lnTo>
                  <a:pt x="0" y="600075"/>
                </a:lnTo>
                <a:close/>
              </a:path>
            </a:pathLst>
          </a:custGeom>
          <a:gradFill>
            <a:gsLst>
              <a:gs pos="0">
                <a:srgbClr val="FFF9E2"/>
              </a:gs>
              <a:gs pos="100000">
                <a:srgbClr val="FFF0BE"/>
              </a:gs>
            </a:gsLst>
            <a:lin ang="6600000"/>
          </a:gradFill>
          <a:ln w="19050">
            <a:solidFill>
              <a:srgbClr val="080E36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7391400" y="1238250"/>
            <a:ext cx="1076325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Top-2?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8791575" y="12192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Top-1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8239125" y="2428875"/>
            <a:ext cx="1247775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(adjacent)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9839325" y="809625"/>
            <a:ext cx="24955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regime-local 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9858375" y="129540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2700">
            <a:solidFill>
              <a:srgbClr val="FF7F29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0306050" y="140017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矩形 86" descr="LaTeX: s"/>
              <p:cNvSpPr>
                <a:spLocks noGrp="1"/>
              </p:cNvSpPr>
              <p:nvPr/>
            </p:nvSpPr>
            <p:spPr>
              <a:xfrm>
                <a:off x="11382375" y="140017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</m:oMath>
                  </m:oMathPara>
                </a14:m>
                <a:endParaRPr lang="en-US">
                  <a:latin typeface="Cambria Math" panose="02040503050406030204" charset="0"/>
                </a:endParaRPr>
              </a:p>
            </p:txBody>
          </p:sp>
        </mc:Choice>
        <mc:Fallback>
          <p:sp>
            <p:nvSpPr>
              <p:cNvPr id="87" name="矩形 86" descr="LaTeX: 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1400175"/>
                <a:ext cx="276225" cy="3619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圆角矩形 87"/>
          <p:cNvSpPr>
            <a:spLocks noGrp="1"/>
          </p:cNvSpPr>
          <p:nvPr/>
        </p:nvSpPr>
        <p:spPr>
          <a:xfrm>
            <a:off x="9715500" y="1181100"/>
            <a:ext cx="2705100" cy="2200275"/>
          </a:xfrm>
          <a:prstGeom prst="roundRect">
            <a:avLst>
              <a:gd name="adj" fmla="val 7643"/>
            </a:avLst>
          </a:prstGeom>
          <a:noFill/>
          <a:ln w="14288">
            <a:solidFill>
              <a:srgbClr val="FF8128"/>
            </a:solidFill>
            <a:prstDash val="dash"/>
          </a:ln>
        </p:spPr>
      </p:sp>
      <p:sp>
        <p:nvSpPr>
          <p:cNvPr id="89" name="圆角矩形 88"/>
          <p:cNvSpPr>
            <a:spLocks noGrp="1"/>
          </p:cNvSpPr>
          <p:nvPr/>
        </p:nvSpPr>
        <p:spPr>
          <a:xfrm>
            <a:off x="9858375" y="200025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10306050" y="210502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 descr="LaTeX: h"/>
              <p:cNvSpPr>
                <a:spLocks noGrp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h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1" name="矩形 90" descr="LaTeX: h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105025"/>
                <a:ext cx="276225" cy="361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圆角矩形 91"/>
          <p:cNvSpPr>
            <a:spLocks noGrp="1"/>
          </p:cNvSpPr>
          <p:nvPr/>
        </p:nvSpPr>
        <p:spPr>
          <a:xfrm>
            <a:off x="9858375" y="2705100"/>
            <a:ext cx="2438400" cy="571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F0"/>
              </a:gs>
              <a:gs pos="100000">
                <a:srgbClr val="FFDFE8"/>
              </a:gs>
            </a:gsLst>
            <a:lin ang="6000000"/>
          </a:gradFill>
          <a:ln w="12700">
            <a:solidFill>
              <a:srgbClr val="FF2981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10306050" y="2809875"/>
            <a:ext cx="11144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Specialist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 descr="LaTeX: t"/>
              <p:cNvSpPr>
                <a:spLocks noGrp="1"/>
              </p:cNvSpPr>
              <p:nvPr/>
            </p:nvSpPr>
            <p:spPr>
              <a:xfrm>
                <a:off x="11382375" y="2809875"/>
                <a:ext cx="276225" cy="3619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charset="0"/>
                        </a:rPr>
                        <m:t>t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4" name="矩形 93" descr="LaTeX: 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375" y="2809875"/>
                <a:ext cx="276225" cy="3619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圆角矩形 94"/>
          <p:cNvSpPr>
            <a:spLocks noGrp="1"/>
          </p:cNvSpPr>
          <p:nvPr/>
        </p:nvSpPr>
        <p:spPr>
          <a:xfrm>
            <a:off x="9858375" y="3562350"/>
            <a:ext cx="2438400" cy="5334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0258425" y="3648075"/>
            <a:ext cx="120967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Descriptor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矩形 96" descr="LaTeX: d_n"/>
              <p:cNvSpPr>
                <a:spLocks noGrp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7" name="矩形 96" descr="LaTeX: d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9525" y="3629025"/>
                <a:ext cx="409575" cy="3905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椭圆 97"/>
          <p:cNvSpPr>
            <a:spLocks noGrp="1"/>
          </p:cNvSpPr>
          <p:nvPr/>
        </p:nvSpPr>
        <p:spPr>
          <a:xfrm>
            <a:off x="13411200" y="2333625"/>
            <a:ext cx="561975" cy="552450"/>
          </a:xfrm>
          <a:prstGeom prst="ellipse">
            <a:avLst/>
          </a:prstGeom>
          <a:solidFill>
            <a:srgbClr val="BAF1CA"/>
          </a:solidFill>
          <a:ln w="19050">
            <a:solidFill>
              <a:srgbClr val="071F22"/>
            </a:solidFill>
          </a:ln>
        </p:spPr>
      </p:sp>
      <p:sp>
        <p:nvSpPr>
          <p:cNvPr id="99" name="椭圆 98"/>
          <p:cNvSpPr>
            <a:spLocks noGrp="1"/>
          </p:cNvSpPr>
          <p:nvPr/>
        </p:nvSpPr>
        <p:spPr>
          <a:xfrm>
            <a:off x="13582650" y="2505075"/>
            <a:ext cx="219075" cy="219075"/>
          </a:xfrm>
          <a:prstGeom prst="ellipse">
            <a:avLst/>
          </a:prstGeom>
          <a:noFill/>
          <a:ln w="22860">
            <a:solidFill>
              <a:srgbClr val="071F22"/>
            </a:solidFill>
          </a:ln>
        </p:spPr>
      </p:sp>
      <p:sp>
        <p:nvSpPr>
          <p:cNvPr id="100" name="任意多边形 99"/>
          <p:cNvSpPr>
            <a:spLocks noGrp="1"/>
          </p:cNvSpPr>
          <p:nvPr/>
        </p:nvSpPr>
        <p:spPr>
          <a:xfrm>
            <a:off x="13573125" y="2614613"/>
            <a:ext cx="238125" cy="9525"/>
          </a:xfrm>
          <a:custGeom>
            <a:avLst/>
            <a:gdLst/>
            <a:ahLst/>
            <a:cxnLst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1" name="任意多边形 100"/>
          <p:cNvSpPr>
            <a:spLocks noGrp="1"/>
          </p:cNvSpPr>
          <p:nvPr/>
        </p:nvSpPr>
        <p:spPr>
          <a:xfrm>
            <a:off x="13692188" y="2495550"/>
            <a:ext cx="9525" cy="238125"/>
          </a:xfrm>
          <a:custGeom>
            <a:avLst/>
            <a:gdLst/>
            <a:ahLst/>
            <a:cxnLst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22860">
            <a:solidFill>
              <a:srgbClr val="071F22"/>
            </a:solidFill>
          </a:ln>
        </p:spPr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14963775" y="1885950"/>
            <a:ext cx="2095500" cy="1095375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2700">
            <a:solidFill>
              <a:srgbClr val="9964FF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15039975" y="1971675"/>
            <a:ext cx="19431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Predicted fields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矩形 103" descr="LaTeX: \tilde{u},\,\hat{p}"/>
              <p:cNvSpPr>
                <a:spLocks noGrp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𝑢</m:t>
                          </m:r>
                        </m:e>
                      </m:acc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acc>
                        <m:accPr>
                          <m:ctrlPr>
                            <a:rPr/>
                          </m:ctrlPr>
                        </m:acc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  <mc:Fallback>
          <p:sp>
            <p:nvSpPr>
              <p:cNvPr id="104" name="矩形 103" descr="LaTeX: \tilde{u},\,\hat{p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0" y="2371725"/>
                <a:ext cx="1562100" cy="42862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圆角矩形 105"/>
          <p:cNvSpPr>
            <a:spLocks noGrp="1"/>
          </p:cNvSpPr>
          <p:nvPr/>
        </p:nvSpPr>
        <p:spPr>
          <a:xfrm>
            <a:off x="333375" y="6572250"/>
            <a:ext cx="1647825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w="12700">
            <a:solidFill>
              <a:srgbClr val="7D9FC0"/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371475" y="6600825"/>
            <a:ext cx="15716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Physical history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矩形 107" descr="LaTeX: \mathcal{H}_n"/>
              <p:cNvSpPr>
                <a:spLocks noGrp="1"/>
              </p:cNvSpPr>
              <p:nvPr/>
            </p:nvSpPr>
            <p:spPr>
              <a:xfrm>
                <a:off x="933450" y="6924675"/>
                <a:ext cx="4572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ℋ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8" name="矩形 107" descr="LaTeX: \mathcal{H}_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0" y="6924675"/>
                <a:ext cx="457200" cy="352425"/>
              </a:xfrm>
              <a:prstGeom prst="rect">
                <a:avLst/>
              </a:prstGeom>
              <a:blipFill rotWithShape="1">
                <a:blip r:embed="rId2"/>
                <a:stretch>
                  <a:fillRect r="-388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任意多边形 114"/>
          <p:cNvSpPr>
            <a:spLocks noGrp="1"/>
          </p:cNvSpPr>
          <p:nvPr/>
        </p:nvSpPr>
        <p:spPr>
          <a:xfrm>
            <a:off x="2276475" y="6153150"/>
            <a:ext cx="1285875" cy="1638300"/>
          </a:xfrm>
          <a:custGeom>
            <a:avLst/>
            <a:gdLst/>
            <a:ahLst/>
            <a:cxnLst/>
            <a:pathLst>
              <a:path w="1285875" h="1638300">
                <a:moveTo>
                  <a:pt x="0" y="0"/>
                </a:moveTo>
                <a:lnTo>
                  <a:pt x="1285875" y="295275"/>
                </a:lnTo>
                <a:lnTo>
                  <a:pt x="1285875" y="1304925"/>
                </a:lnTo>
                <a:lnTo>
                  <a:pt x="0" y="1638300"/>
                </a:lnTo>
                <a:close/>
              </a:path>
            </a:pathLst>
          </a:custGeom>
          <a:gradFill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w="15240">
            <a:solidFill>
              <a:srgbClr val="FF791D"/>
            </a:solidFill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2362200" y="6448425"/>
            <a:ext cx="1114425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POD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encoder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矩形 116" descr="LaTeX: \phi_r"/>
              <p:cNvSpPr>
                <a:spLocks noGrp="1"/>
              </p:cNvSpPr>
              <p:nvPr/>
            </p:nvSpPr>
            <p:spPr>
              <a:xfrm>
                <a:off x="2619375" y="6934200"/>
                <a:ext cx="581025" cy="381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7" name="矩形 116" descr="LaTeX: \phi_r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375" y="6934200"/>
                <a:ext cx="581025" cy="3810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圆角矩形 117"/>
          <p:cNvSpPr>
            <a:spLocks noGrp="1"/>
          </p:cNvSpPr>
          <p:nvPr/>
        </p:nvSpPr>
        <p:spPr>
          <a:xfrm>
            <a:off x="2752725" y="7400925"/>
            <a:ext cx="114300" cy="17145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2933700" y="7277100"/>
            <a:ext cx="114300" cy="295275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0" name="圆角矩形 119"/>
          <p:cNvSpPr>
            <a:spLocks noGrp="1"/>
          </p:cNvSpPr>
          <p:nvPr/>
        </p:nvSpPr>
        <p:spPr>
          <a:xfrm>
            <a:off x="3114675" y="7153275"/>
            <a:ext cx="114300" cy="419100"/>
          </a:xfrm>
          <a:prstGeom prst="roundRect">
            <a:avLst>
              <a:gd name="adj" fmla="val 0"/>
            </a:avLst>
          </a:prstGeom>
          <a:solidFill>
            <a:srgbClr val="F78523"/>
          </a:solidFill>
          <a:ln w="14288">
            <a:solidFill>
              <a:srgbClr val="F78523"/>
            </a:solidFill>
            <a:prstDash val="solid"/>
          </a:ln>
        </p:spPr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3876675" y="6648450"/>
            <a:ext cx="2352675" cy="6096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4010025" y="6781800"/>
            <a:ext cx="20859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 reduced state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7648575" y="4876800"/>
            <a:ext cx="3086100" cy="47625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7991475" y="4943475"/>
            <a:ext cx="17716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Projected ROM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矩形 124" descr="LaTeX: T_r^G"/>
              <p:cNvSpPr>
                <a:spLocks noGrp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</m:sub>
                        <m:sup>
                          <m:r>
                            <a:rPr>
                              <a:latin typeface="Cambria Math" panose="02040503050406030204" charset="0"/>
                            </a:rPr>
                            <m:t>𝐺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25" name="矩形 124" descr="LaTeX: T_r^G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550" y="4905375"/>
                <a:ext cx="542925" cy="4191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矩形 125"/>
          <p:cNvSpPr>
            <a:spLocks noGrp="1"/>
          </p:cNvSpPr>
          <p:nvPr/>
        </p:nvSpPr>
        <p:spPr>
          <a:xfrm>
            <a:off x="7296150" y="5648325"/>
            <a:ext cx="26003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1">
                <a:solidFill>
                  <a:srgbClr val="F25A0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Sparse MoE correction</a:t>
            </a:r>
            <a:endParaRPr sz="1800" b="1">
              <a:solidFill>
                <a:srgbClr val="F25A0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矩形 126" descr="LaTeX: \rho_{\theta_r}"/>
              <p:cNvSpPr>
                <a:spLocks noGrp="1"/>
              </p:cNvSpPr>
              <p:nvPr/>
            </p:nvSpPr>
            <p:spPr>
              <a:xfrm>
                <a:off x="9820275" y="5648325"/>
                <a:ext cx="647700" cy="4000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F25A08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𝜌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7" name="矩形 126" descr="LaTeX: \rho_{\theta_r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275" y="5648325"/>
                <a:ext cx="647700" cy="40005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任意多边形 127"/>
          <p:cNvSpPr>
            <a:spLocks noGrp="1"/>
          </p:cNvSpPr>
          <p:nvPr/>
        </p:nvSpPr>
        <p:spPr>
          <a:xfrm>
            <a:off x="6791325" y="6391275"/>
            <a:ext cx="990600" cy="1438275"/>
          </a:xfrm>
          <a:custGeom>
            <a:avLst/>
            <a:gdLst/>
            <a:ahLst/>
            <a:cxnLst/>
            <a:pathLst>
              <a:path w="990600" h="1228725">
                <a:moveTo>
                  <a:pt x="0" y="0"/>
                </a:moveTo>
                <a:lnTo>
                  <a:pt x="990600" y="104775"/>
                </a:lnTo>
                <a:lnTo>
                  <a:pt x="990600" y="1114425"/>
                </a:lnTo>
                <a:lnTo>
                  <a:pt x="0" y="1228725"/>
                </a:lnTo>
                <a:close/>
              </a:path>
            </a:pathLst>
          </a:custGeom>
          <a:gradFill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w="15240">
            <a:solidFill>
              <a:srgbClr val="9561FF"/>
            </a:solidFill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6924675" y="6553200"/>
            <a:ext cx="72390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Group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router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7067550" y="7553325"/>
            <a:ext cx="114300" cy="17145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1" name="圆角矩形 130"/>
          <p:cNvSpPr>
            <a:spLocks noGrp="1"/>
          </p:cNvSpPr>
          <p:nvPr/>
        </p:nvSpPr>
        <p:spPr>
          <a:xfrm>
            <a:off x="7248525" y="7429500"/>
            <a:ext cx="114300" cy="295275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7429500" y="7305675"/>
            <a:ext cx="114300" cy="419100"/>
          </a:xfrm>
          <a:prstGeom prst="roundRect">
            <a:avLst>
              <a:gd name="adj" fmla="val 0"/>
            </a:avLst>
          </a:prstGeom>
          <a:solidFill>
            <a:srgbClr val="9C5CFC"/>
          </a:solidFill>
          <a:ln w="14288">
            <a:solidFill>
              <a:srgbClr val="9C5CFC"/>
            </a:solidFill>
            <a:prstDash val="solid"/>
          </a:ln>
        </p:spPr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8315325" y="6115050"/>
            <a:ext cx="1828800" cy="7239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2700">
            <a:solidFill>
              <a:srgbClr val="FF716B"/>
            </a:solidFill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8391525" y="6181725"/>
            <a:ext cx="16764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Shared expert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矩形 134" descr="LaTeX: E_0"/>
              <p:cNvSpPr>
                <a:spLocks noGrp="1"/>
              </p:cNvSpPr>
              <p:nvPr/>
            </p:nvSpPr>
            <p:spPr>
              <a:xfrm>
                <a:off x="8372475" y="6496050"/>
                <a:ext cx="32385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6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5" name="矩形 134" descr="LaTeX: E_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475" y="6496050"/>
                <a:ext cx="323850" cy="295275"/>
              </a:xfrm>
              <a:prstGeom prst="rect">
                <a:avLst/>
              </a:prstGeom>
              <a:blipFill rotWithShape="1">
                <a:blip r:embed="rId11"/>
                <a:stretch>
                  <a:fillRect r="-817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矩形 135"/>
          <p:cNvSpPr>
            <a:spLocks noGrp="1"/>
          </p:cNvSpPr>
          <p:nvPr/>
        </p:nvSpPr>
        <p:spPr>
          <a:xfrm>
            <a:off x="8686800" y="6496050"/>
            <a:ext cx="14001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(always active)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8315325" y="7219950"/>
            <a:ext cx="1828800" cy="762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w="12700">
            <a:solidFill>
              <a:srgbClr val="FF716B"/>
            </a:solidFill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8372475" y="728662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Top-2 routed experts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矩形 138" descr="LaTeX: E_{r,1},\,E_{r,2}"/>
              <p:cNvSpPr>
                <a:spLocks noGrp="1"/>
              </p:cNvSpPr>
              <p:nvPr/>
            </p:nvSpPr>
            <p:spPr>
              <a:xfrm>
                <a:off x="8486775" y="7591425"/>
                <a:ext cx="1485900" cy="3524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80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charset="0"/>
                        </a:rPr>
                        <m:t>,</m:t>
                      </m:r>
                      <m:r>
                        <a:rPr>
                          <a:latin typeface="Cambria Math" panose="02040503050406030204" charset="0"/>
                        </a:rPr>
                        <m:t> 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𝑟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9" name="矩形 138" descr="LaTeX: E_{r,1},\,E_{r,2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775" y="7591425"/>
                <a:ext cx="1485900" cy="35242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圆角矩形 139"/>
          <p:cNvSpPr>
            <a:spLocks noGrp="1"/>
          </p:cNvSpPr>
          <p:nvPr/>
        </p:nvSpPr>
        <p:spPr>
          <a:xfrm>
            <a:off x="10429875" y="6819900"/>
            <a:ext cx="600075" cy="609600"/>
          </a:xfrm>
          <a:prstGeom prst="roundRect">
            <a:avLst>
              <a:gd name="adj" fmla="val 10000"/>
            </a:avLst>
          </a:prstGeom>
          <a:solidFill>
            <a:srgbClr val="FFE9E3"/>
          </a:solidFill>
          <a:ln w="12700">
            <a:solidFill>
              <a:srgbClr val="FF716B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 descr="LaTeX: \sum\omega"/>
              <p:cNvSpPr>
                <a:spLocks noGrp="1"/>
              </p:cNvSpPr>
              <p:nvPr/>
            </p:nvSpPr>
            <p:spPr>
              <a:xfrm>
                <a:off x="10458450" y="6896100"/>
                <a:ext cx="542925" cy="457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∑</m:t>
                      </m:r>
                      <m:r>
                        <a:rPr>
                          <a:latin typeface="Cambria Math" panose="02040503050406030204" charset="0"/>
                        </a:rPr>
                        <m:t>𝜔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1" name="矩形 140" descr="LaTeX: \sum\omeg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8450" y="6896100"/>
                <a:ext cx="542925" cy="4572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矩形 141"/>
          <p:cNvSpPr>
            <a:spLocks noGrp="1"/>
          </p:cNvSpPr>
          <p:nvPr/>
        </p:nvSpPr>
        <p:spPr>
          <a:xfrm>
            <a:off x="6791325" y="8058150"/>
            <a:ext cx="42862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nonlinear + affine + low-rank bilinear</a:t>
            </a:r>
            <a:endParaRPr sz="1500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3" name="椭圆 142"/>
          <p:cNvSpPr>
            <a:spLocks noGrp="1"/>
          </p:cNvSpPr>
          <p:nvPr/>
        </p:nvSpPr>
        <p:spPr>
          <a:xfrm>
            <a:off x="11277600" y="6191250"/>
            <a:ext cx="419100" cy="4286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0E36"/>
            </a:solidFill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矩形 143" descr="LaTeX: +"/>
              <p:cNvSpPr>
                <a:spLocks noGrp="1"/>
              </p:cNvSpPr>
              <p:nvPr/>
            </p:nvSpPr>
            <p:spPr>
              <a:xfrm>
                <a:off x="11315700" y="6200775"/>
                <a:ext cx="342900" cy="3714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250" b="0">
                    <a:solidFill>
                      <a:srgbClr val="080E36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charset="0"/>
                        </a:rPr>
                        <m:t>+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4" name="矩形 143" descr="LaTeX: +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5700" y="6200775"/>
                <a:ext cx="342900" cy="371475"/>
              </a:xfrm>
              <a:prstGeom prst="rect">
                <a:avLst/>
              </a:prstGeom>
              <a:blipFill rotWithShape="1">
                <a:blip r:embed="rId14"/>
                <a:stretch>
                  <a:fillRect r="-425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圆角矩形 144"/>
          <p:cNvSpPr>
            <a:spLocks noGrp="1"/>
          </p:cNvSpPr>
          <p:nvPr/>
        </p:nvSpPr>
        <p:spPr>
          <a:xfrm>
            <a:off x="12001500" y="6648450"/>
            <a:ext cx="1524000" cy="609600"/>
          </a:xfrm>
          <a:prstGeom prst="roundRect">
            <a:avLst>
              <a:gd name="adj" fmla="val 10000"/>
            </a:avLst>
          </a:prstGeom>
          <a:solidFill>
            <a:srgbClr val="E1E8EE"/>
          </a:solidFill>
          <a:ln w="12700">
            <a:solidFill>
              <a:srgbClr val="739FC5"/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12020550" y="6791325"/>
            <a:ext cx="1485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 integration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矩形 146" descr="LaTeX: a_{n+1}"/>
              <p:cNvSpPr>
                <a:spLocks noGrp="1"/>
              </p:cNvSpPr>
              <p:nvPr/>
            </p:nvSpPr>
            <p:spPr>
              <a:xfrm>
                <a:off x="13754100" y="6562725"/>
                <a:ext cx="762000" cy="342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176CB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47" name="矩形 146" descr="LaTeX: a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4100" y="6562725"/>
                <a:ext cx="762000" cy="34290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圆角矩形 147"/>
          <p:cNvSpPr>
            <a:spLocks noGrp="1"/>
          </p:cNvSpPr>
          <p:nvPr/>
        </p:nvSpPr>
        <p:spPr>
          <a:xfrm>
            <a:off x="14954250" y="6648450"/>
            <a:ext cx="1733550" cy="6096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w="12700">
            <a:solidFill>
              <a:srgbClr val="078AFF"/>
            </a:solidFill>
            <a:prstDash val="solid"/>
          </a:ln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14982825" y="6791325"/>
            <a:ext cx="16764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Pressure-Possible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矩形 149" descr="LaTeX: b_{n+1}"/>
              <p:cNvSpPr>
                <a:spLocks noGrp="1"/>
              </p:cNvSpPr>
              <p:nvPr/>
            </p:nvSpPr>
            <p:spPr>
              <a:xfrm>
                <a:off x="16716375" y="6572250"/>
                <a:ext cx="628650" cy="342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950" b="0">
                    <a:solidFill>
                      <a:srgbClr val="176CB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+</m:t>
                          </m:r>
                          <m:r>
                            <a:rPr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50" name="矩形 149" descr="LaTeX: b_{n+1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6375" y="6572250"/>
                <a:ext cx="628650" cy="34290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任意多边形 150"/>
          <p:cNvSpPr>
            <a:spLocks noGrp="1"/>
          </p:cNvSpPr>
          <p:nvPr/>
        </p:nvSpPr>
        <p:spPr>
          <a:xfrm>
            <a:off x="14706600" y="6067425"/>
            <a:ext cx="9525" cy="1562100"/>
          </a:xfrm>
          <a:custGeom>
            <a:avLst/>
            <a:gdLst/>
            <a:ahLst/>
            <a:cxnLst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14288">
            <a:solidFill>
              <a:srgbClr val="8DB5D3"/>
            </a:solidFill>
            <a:prstDash val="dash"/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13554075" y="6248400"/>
            <a:ext cx="13716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Velocity update</a:t>
            </a:r>
            <a:endParaRPr sz="172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14973300" y="7486650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Pressure update</a:t>
            </a:r>
            <a:endParaRPr sz="172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1" name="History descriptor connection"/>
          <p:cNvSpPr>
            <a:spLocks noGrp="1"/>
          </p:cNvSpPr>
          <p:nvPr/>
        </p:nvSpPr>
        <p:spPr>
          <a:xfrm>
            <a:off x="1404938" y="3581400"/>
            <a:ext cx="1062038" cy="285750"/>
          </a:xfrm>
          <a:custGeom>
            <a:avLst/>
            <a:gdLst/>
            <a:ahLst/>
            <a:cxnLst/>
            <a:pathLst>
              <a:path w="1062038" h="285750">
                <a:moveTo>
                  <a:pt x="0" y="0"/>
                </a:moveTo>
                <a:lnTo>
                  <a:pt x="0" y="285750"/>
                </a:lnTo>
                <a:lnTo>
                  <a:pt x="1062038" y="285750"/>
                </a:lnTo>
              </a:path>
            </a:pathLst>
          </a:custGeom>
          <a:noFill/>
          <a:ln w="17145">
            <a:solidFill>
              <a:srgbClr val="638399"/>
            </a:solidFill>
          </a:ln>
        </p:spPr>
      </p:sp>
      <p:sp>
        <p:nvSpPr>
          <p:cNvPr id="2002" name="Feature concatenation"/>
          <p:cNvSpPr>
            <a:spLocks noGrp="1"/>
          </p:cNvSpPr>
          <p:nvPr/>
        </p:nvSpPr>
        <p:spPr>
          <a:xfrm>
            <a:off x="12573000" y="1981200"/>
            <a:ext cx="22764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Feature concatenation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3" name="Numerical addition"/>
          <p:cNvSpPr>
            <a:spLocks noGrp="1"/>
          </p:cNvSpPr>
          <p:nvPr/>
        </p:nvSpPr>
        <p:spPr>
          <a:xfrm>
            <a:off x="11772900" y="60007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80E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Numerical addition</a:t>
            </a:r>
            <a:endParaRPr sz="1725" b="0">
              <a:solidFill>
                <a:srgbClr val="080E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04" name="Forward physical time step"/>
          <p:cNvSpPr>
            <a:spLocks noGrp="1"/>
          </p:cNvSpPr>
          <p:nvPr/>
        </p:nvSpPr>
        <p:spPr>
          <a:xfrm>
            <a:off x="12115800" y="8039100"/>
            <a:ext cx="47053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76CB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Forward physical time step</a:t>
            </a:r>
            <a:endParaRPr sz="1725" b="0">
              <a:solidFill>
                <a:srgbClr val="176CB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</Words>
  <Application>WPS 演示</Application>
  <PresentationFormat>Converted Presentation</PresentationFormat>
  <Paragraphs>109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Cambria Math</vt:lpstr>
      <vt:lpstr>Calibri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潘新宇</cp:lastModifiedBy>
  <cp:revision>4</cp:revision>
  <dcterms:created xsi:type="dcterms:W3CDTF">2026-09-15T09:12:00Z</dcterms:created>
  <dcterms:modified xsi:type="dcterms:W3CDTF">2026-09-15T09:33:49Z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916995B1D9204EE3909B5AAC28425F4E_12</vt:lpwstr>
  </property>
  <property fmtid="{D5CDD505-2E9C-101B-9397-08002B2CF9AE}" pid="3" name="KSOProductBuildVer">
    <vt:lpwstr>2052-12.1.0.28043</vt:lpwstr>
  </property>
</Properties>
</file>