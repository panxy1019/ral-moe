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7979f9fe5f641cc" /><Relationship Type="http://schemas.openxmlformats.org/officeDocument/2006/relationships/extended-properties" Target="/docProps/app.xml" Id="Rd4deb0c935fe4252" /><Relationship Type="http://schemas.openxmlformats.org/officeDocument/2006/relationships/officeDocument" Target="/ppt/presentation.xml" Id="Rf38c59420582472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aef44f89ac444ef"/>
  </p:sldMasterIdLst>
  <p:notesMasterIdLst>
    <p:notesMasterId xmlns:r="http://schemas.openxmlformats.org/officeDocument/2006/relationships" r:id="Re1fee80719844dd6"/>
  </p:notesMasterIdLst>
  <p:sldIdLst>
    <p:sldId xmlns:r="http://schemas.openxmlformats.org/officeDocument/2006/relationships" id="256" r:id="Rff84e70395f14be1"/>
  </p:sldIdLst>
  <p:sldSz cx="17345025" cy="89154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1b3a8820d694a6e" /><Relationship Type="http://schemas.openxmlformats.org/officeDocument/2006/relationships/slideMaster" Target="/ppt/slideMasters/slideMaster1.xml" Id="R6aef44f89ac444ef" /><Relationship Type="http://schemas.openxmlformats.org/officeDocument/2006/relationships/notesMaster" Target="/ppt/notesMasters/notesMaster1.xml" Id="Re1fee80719844dd6" /><Relationship Type="http://schemas.openxmlformats.org/officeDocument/2006/relationships/presProps" Target="/ppt/presProps.xml" Id="R0cffb289bfd14cc0" /><Relationship Type="http://schemas.openxmlformats.org/officeDocument/2006/relationships/tableStyles" Target="/ppt/tableStyles.xml" Id="R0e9e9c5a25c84fb5" /><Relationship Type="http://schemas.openxmlformats.org/officeDocument/2006/relationships/slide" Target="/ppt/slides/slide1.xml" Id="Rff84e70395f14be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a3198dc67e64d9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1c3ead41d1349f1" /><Relationship Type="http://schemas.openxmlformats.org/officeDocument/2006/relationships/notesMaster" Target="/ppt/notesMasters/notesMaster1.xml" Id="R0bc7c974d3184c8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Revised from flowchart_refined_v4_final.pptx. E2 consumes parameter only. Physical history initializes selected specialists and supplies the T2-C descriptor. Gate inputs include parameter and selected-pair preference; weighted fusion is after physical reconstruction. Lower panel depicts velocity correction and algebraic pressure reconstruction. Expert response formulas and pressure-specific routing follow the manuscript. All diagram elements are editable native PowerPoint objects.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7c5e0783f9f4f7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3a65ab016084de9" /><Relationship Type="http://schemas.openxmlformats.org/officeDocument/2006/relationships/slideLayout" Target="/ppt/slideLayouts/slideLayout1.xml" Id="R83e394e1445a46e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3e394e1445a46e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8867b383ca42ab" /><Relationship Type="http://schemas.openxmlformats.org/officeDocument/2006/relationships/notesSlide" Target="/ppt/notesSlides/notesSlide1.xml" Id="Ra24d2eff46d0498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4" name="level2">
            <a:extLst xmlns:a="http://schemas.openxmlformats.org/drawingml/2006/main">
              <a:ext uri="{FF2B5EF4-FFF2-40B4-BE49-F238E27FC236}">
                <a16:creationId xmlns:a16="http://schemas.microsoft.com/office/drawing/2014/main" id="{A1EC64AD-7254-42A0-A395-3C3E7738E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" y="114300"/>
            <a:ext cx="17116425" cy="4238625"/>
          </a:xfrm>
          <a:prstGeom xmlns:a="http://schemas.openxmlformats.org/drawingml/2006/main" prst="roundRect">
            <a:avLst>
              <a:gd name="adj" fmla="val 179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3B7FF"/>
            </a:solidFill>
            <a:prstDash val="dash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level1">
            <a:extLst xmlns:a="http://schemas.openxmlformats.org/drawingml/2006/main">
              <a:ext uri="{FF2B5EF4-FFF2-40B4-BE49-F238E27FC236}">
                <a16:creationId xmlns:a16="http://schemas.microsoft.com/office/drawing/2014/main" id="{B9F3B7AF-EC20-4FF8-BBC4-03EE68E56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" y="4543425"/>
            <a:ext cx="17116425" cy="4238625"/>
          </a:xfrm>
          <a:prstGeom xmlns:a="http://schemas.openxmlformats.org/drawingml/2006/main" prst="roundRect">
            <a:avLst>
              <a:gd name="adj" fmla="val 179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3B7FF"/>
            </a:solidFill>
            <a:prstDash val="dash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" name="titlea">
            <a:extLst xmlns:a="http://schemas.openxmlformats.org/drawingml/2006/main">
              <a:ext uri="{FF2B5EF4-FFF2-40B4-BE49-F238E27FC236}">
                <a16:creationId xmlns:a16="http://schemas.microsoft.com/office/drawing/2014/main" id="{E6E5CABE-8D67-4179-96BE-8C33F1D3E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28600"/>
            <a:ext cx="6858000" cy="419100"/>
          </a:xfrm>
          <a:prstGeom xmlns:a="http://schemas.openxmlformats.org/drawingml/2006/main" prst="roundRect">
            <a:avLst>
              <a:gd name="adj" fmla="val 18182"/>
            </a:avLst>
          </a:prstGeom>
          <a:noFill xmlns:a="http://schemas.openxmlformats.org/drawingml/2006/main"/>
          <a:ln xmlns:a="http://schemas.openxmlformats.org/drawingml/2006/main" w="12383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016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25" b="1">
                <a:solidFill>
                  <a:srgbClr val="101638"/>
                </a:solidFill>
                <a:latin typeface="Times New Roman"/>
                <a:ea typeface="Times New Roman"/>
                <a:cs typeface="Times New Roman"/>
              </a:rPr>
              <a:t>(a)  Routing and physical-space fusion</a:t>
            </a:r>
          </a:p>
        </p:txBody>
      </p:sp>
      <p:sp>
        <p:nvSpPr>
          <p:cNvPr id="4" name="subtitlea">
            <a:extLst xmlns:a="http://schemas.openxmlformats.org/drawingml/2006/main">
              <a:ext uri="{FF2B5EF4-FFF2-40B4-BE49-F238E27FC236}">
                <a16:creationId xmlns:a16="http://schemas.microsoft.com/office/drawing/2014/main" id="{934DADD5-DA3B-4862-83DE-790E2226B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76275"/>
            <a:ext cx="6286500" cy="285750"/>
          </a:xfrm>
          <a:prstGeom xmlns:a="http://schemas.openxmlformats.org/drawingml/2006/main" prst="roundRect">
            <a:avLst>
              <a:gd name="adj" fmla="val 26667"/>
            </a:avLst>
          </a:prstGeom>
          <a:noFill xmlns:a="http://schemas.openxmlformats.org/drawingml/2006/main"/>
          <a:ln xmlns:a="http://schemas.openxmlformats.org/drawingml/2006/main" w="12383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1769B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1769B1"/>
                </a:solidFill>
                <a:latin typeface="Times New Roman"/>
                <a:ea typeface="Times New Roman"/>
                <a:cs typeface="Times New Roman"/>
              </a:rPr>
              <a:t>Level 2: selection among regime-local specialists</a:t>
            </a:r>
          </a:p>
        </p:txBody>
      </p:sp>
      <p:sp>
        <p:nvSpPr>
          <p:cNvPr id="5" name="parameter">
            <a:extLst xmlns:a="http://schemas.openxmlformats.org/drawingml/2006/main">
              <a:ext uri="{FF2B5EF4-FFF2-40B4-BE49-F238E27FC236}">
                <a16:creationId xmlns:a16="http://schemas.microsoft.com/office/drawing/2014/main" id="{7CD13208-E975-4211-B454-3E9B00562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590675"/>
            <a:ext cx="13335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0E6FF"/>
          </a:solidFill>
          <a:ln xmlns:a="http://schemas.openxmlformats.org/drawingml/2006/main" w="12383">
            <a:solidFill>
              <a:srgbClr val="9857FF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016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101638"/>
                </a:solidFill>
                <a:latin typeface="Times New Roman"/>
                <a:ea typeface="Times New Roman"/>
                <a:cs typeface="Times New Roman"/>
              </a:rPr>
              <a:t>Parameter</a:t>
            </a:r>
          </a:p>
          <a:p xmlns:a="http://schemas.openxmlformats.org/drawingml/2006/main">
            <a:pPr algn="ctr">
              <a:defRPr sz="1800" b="0">
                <a:solidFill>
                  <a:srgbClr val="1016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101638"/>
                </a:solidFill>
                <a:latin typeface="Times New Roman"/>
                <a:ea typeface="Times New Roman"/>
                <a:cs typeface="Times New Roman"/>
              </a:rPr>
              <a:t>μ</a:t>
            </a:r>
          </a:p>
        </p:txBody>
      </p:sp>
      <p:sp>
        <p:nvSpPr>
          <p:cNvPr id="6" name="outer-router">
            <a:extLst xmlns:a="http://schemas.openxmlformats.org/drawingml/2006/main">
              <a:ext uri="{FF2B5EF4-FFF2-40B4-BE49-F238E27FC236}">
                <a16:creationId xmlns:a16="http://schemas.microsoft.com/office/drawing/2014/main" id="{BEAA3C36-AC64-4D88-A27A-61C4E0EAF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1476375"/>
            <a:ext cx="161925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DAF4F2"/>
          </a:solidFill>
          <a:ln xmlns:a="http://schemas.openxmlformats.org/drawingml/2006/main" w="12383">
            <a:solidFill>
              <a:srgbClr val="16A0A5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016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1">
                <a:solidFill>
                  <a:srgbClr val="101638"/>
                </a:solidFill>
                <a:latin typeface="Times New Roman"/>
                <a:ea typeface="Times New Roman"/>
                <a:cs typeface="Times New Roman"/>
              </a:rPr>
              <a:t>E2 router</a:t>
            </a:r>
          </a:p>
          <a:p xmlns:a="http://schemas.openxmlformats.org/drawingml/2006/main">
            <a:pPr algn="ctr">
              <a:defRPr sz="1875" b="1">
                <a:solidFill>
                  <a:srgbClr val="1016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1">
                <a:solidFill>
                  <a:srgbClr val="101638"/>
                </a:solidFill>
                <a:latin typeface="Times New Roman"/>
                <a:ea typeface="Times New Roman"/>
                <a:cs typeface="Times New Roman"/>
              </a:rPr>
              <a:t>Parameter only</a:t>
            </a:r>
          </a:p>
        </p:txBody>
      </p:sp>
      <p:sp>
        <p:nvSpPr>
          <p:cNvPr id="7" name="selection">
            <a:extLst xmlns:a="http://schemas.openxmlformats.org/drawingml/2006/main">
              <a:ext uri="{FF2B5EF4-FFF2-40B4-BE49-F238E27FC236}">
                <a16:creationId xmlns:a16="http://schemas.microsoft.com/office/drawing/2014/main" id="{097DDCB5-2E2D-449B-840E-225DE37F8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381125"/>
            <a:ext cx="2238375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EDF0F4"/>
          </a:solidFill>
          <a:ln xmlns:a="http://schemas.openxmlformats.org/drawingml/2006/main" w="12383">
            <a:solidFill>
              <a:srgbClr val="7F94AC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016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101638"/>
                </a:solidFill>
                <a:latin typeface="Times New Roman"/>
                <a:ea typeface="Times New Roman"/>
                <a:cs typeface="Times New Roman"/>
              </a:rPr>
              <a:t>Masked selection</a:t>
            </a:r>
          </a:p>
          <a:p xmlns:a="http://schemas.openxmlformats.org/drawingml/2006/main">
            <a:pPr algn="ctr">
              <a:defRPr sz="1575" b="0">
                <a:solidFill>
                  <a:srgbClr val="1016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101638"/>
                </a:solidFill>
                <a:latin typeface="Times New Roman"/>
                <a:ea typeface="Times New Roman"/>
                <a:cs typeface="Times New Roman"/>
              </a:rPr>
              <a:t>Top-1 / adjacent Top-2</a:t>
            </a:r>
          </a:p>
          <a:p xmlns:a="http://schemas.openxmlformats.org/drawingml/2006/main">
            <a:pPr algn="ctr">
              <a:defRPr sz="1575" b="0">
                <a:solidFill>
                  <a:srgbClr val="1016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101638"/>
                </a:solidFill>
                <a:latin typeface="Times New Roman"/>
                <a:ea typeface="Times New Roman"/>
                <a:cs typeface="Times New Roman"/>
              </a:rPr>
              <a:t>S–H / H–P</a:t>
            </a:r>
          </a:p>
        </p:txBody>
      </p:sp>
      <p:sp>
        <p:nvSpPr>
          <p:cNvPr id="8" name="selected-rollouts">
            <a:extLst xmlns:a="http://schemas.openxmlformats.org/drawingml/2006/main">
              <a:ext uri="{FF2B5EF4-FFF2-40B4-BE49-F238E27FC236}">
                <a16:creationId xmlns:a16="http://schemas.microsoft.com/office/drawing/2014/main" id="{BDF55212-0F40-467B-965E-1BA05DC05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1457325"/>
            <a:ext cx="22860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3E6"/>
          </a:solidFill>
          <a:ln xmlns:a="http://schemas.openxmlformats.org/drawingml/2006/main" w="12383">
            <a:solidFill>
              <a:srgbClr val="FF8A30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16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101638"/>
                </a:solidFill>
                <a:latin typeface="Times New Roman"/>
                <a:ea typeface="Times New Roman"/>
                <a:cs typeface="Times New Roman"/>
              </a:rPr>
              <a:t>Selected specialist(s)</a:t>
            </a:r>
          </a:p>
          <a:p xmlns:a="http://schemas.openxmlformats.org/drawingml/2006/main">
            <a:pPr algn="ctr">
              <a:defRPr sz="1800" b="1">
                <a:solidFill>
                  <a:srgbClr val="1016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101638"/>
                </a:solidFill>
                <a:latin typeface="Times New Roman"/>
                <a:ea typeface="Times New Roman"/>
                <a:cs typeface="Times New Roman"/>
              </a:rPr>
              <a:t>Independent rollouts</a:t>
            </a:r>
          </a:p>
        </p:txBody>
      </p:sp>
      <p:sp>
        <p:nvSpPr>
          <p:cNvPr id="9" name="candidates">
            <a:extLst xmlns:a="http://schemas.openxmlformats.org/drawingml/2006/main">
              <a:ext uri="{FF2B5EF4-FFF2-40B4-BE49-F238E27FC236}">
                <a16:creationId xmlns:a16="http://schemas.microsoft.com/office/drawing/2014/main" id="{B7130D81-CE77-455C-9FF2-965AAC0F2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066800"/>
            <a:ext cx="2762250" cy="323850"/>
          </a:xfrm>
          <a:prstGeom xmlns:a="http://schemas.openxmlformats.org/drawingml/2006/main" prst="roundRect">
            <a:avLst>
              <a:gd name="adj" fmla="val 23529"/>
            </a:avLst>
          </a:prstGeom>
          <a:noFill xmlns:a="http://schemas.openxmlformats.org/drawingml/2006/main"/>
          <a:ln xmlns:a="http://schemas.openxmlformats.org/drawingml/2006/main" w="12383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016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101638"/>
                </a:solidFill>
                <a:latin typeface="Times New Roman"/>
                <a:ea typeface="Times New Roman"/>
                <a:cs typeface="Times New Roman"/>
              </a:rPr>
              <a:t>Candidates: Steady S / Hopf H / Periodic P</a:t>
            </a:r>
          </a:p>
        </p:txBody>
      </p:sp>
      <p:sp>
        <p:nvSpPr>
          <p:cNvPr id="10" name="reconstruction">
            <a:extLst xmlns:a="http://schemas.openxmlformats.org/drawingml/2006/main">
              <a:ext uri="{FF2B5EF4-FFF2-40B4-BE49-F238E27FC236}">
                <a16:creationId xmlns:a16="http://schemas.microsoft.com/office/drawing/2014/main" id="{989DFD9C-C6B2-4E7B-8581-5846C54F4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1533525"/>
            <a:ext cx="19050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E7F2FF"/>
          </a:solidFill>
          <a:ln xmlns:a="http://schemas.openxmlformats.org/drawingml/2006/main" w="12383">
            <a:solidFill>
              <a:srgbClr val="1784FF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16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101638"/>
                </a:solidFill>
                <a:latin typeface="Times New Roman"/>
                <a:ea typeface="Times New Roman"/>
                <a:cs typeface="Times New Roman"/>
              </a:rPr>
              <a:t>Physical</a:t>
            </a:r>
          </a:p>
          <a:p xmlns:a="http://schemas.openxmlformats.org/drawingml/2006/main">
            <a:pPr algn="ctr">
              <a:defRPr sz="1800" b="1">
                <a:solidFill>
                  <a:srgbClr val="1016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101638"/>
                </a:solidFill>
                <a:latin typeface="Times New Roman"/>
                <a:ea typeface="Times New Roman"/>
                <a:cs typeface="Times New Roman"/>
              </a:rPr>
              <a:t>reconstruction</a:t>
            </a:r>
          </a:p>
        </p:txBody>
      </p:sp>
      <p:sp>
        <p:nvSpPr>
          <p:cNvPr id="11" name="assembly">
            <a:extLst xmlns:a="http://schemas.openxmlformats.org/drawingml/2006/main">
              <a:ext uri="{FF2B5EF4-FFF2-40B4-BE49-F238E27FC236}">
                <a16:creationId xmlns:a16="http://schemas.microsoft.com/office/drawing/2014/main" id="{2D0966AB-ACBA-43BD-8317-B84612508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20625" y="1381125"/>
            <a:ext cx="2333625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E8F7EC"/>
          </a:solidFill>
          <a:ln xmlns:a="http://schemas.openxmlformats.org/drawingml/2006/main" w="12383">
            <a:solidFill>
              <a:srgbClr val="40A36C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16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101638"/>
                </a:solidFill>
                <a:latin typeface="Times New Roman"/>
                <a:ea typeface="Times New Roman"/>
                <a:cs typeface="Times New Roman"/>
              </a:rPr>
              <a:t>Physical-space assembly</a:t>
            </a:r>
          </a:p>
          <a:p xmlns:a="http://schemas.openxmlformats.org/drawingml/2006/main">
            <a:pPr algn="ctr">
              <a:defRPr sz="1800" b="1">
                <a:solidFill>
                  <a:srgbClr val="1016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101638"/>
                </a:solidFill>
                <a:latin typeface="Times New Roman"/>
                <a:ea typeface="Times New Roman"/>
                <a:cs typeface="Times New Roman"/>
              </a:rPr>
              <a:t>Top-1: identity</a:t>
            </a:r>
          </a:p>
          <a:p xmlns:a="http://schemas.openxmlformats.org/drawingml/2006/main">
            <a:pPr algn="ctr">
              <a:defRPr sz="1800" b="1">
                <a:solidFill>
                  <a:srgbClr val="1016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101638"/>
                </a:solidFill>
                <a:latin typeface="Times New Roman"/>
                <a:ea typeface="Times New Roman"/>
                <a:cs typeface="Times New Roman"/>
              </a:rPr>
              <a:t>Top-2: T2-C fusion</a:t>
            </a:r>
          </a:p>
        </p:txBody>
      </p:sp>
      <p:sp>
        <p:nvSpPr>
          <p:cNvPr id="12" name="fields">
            <a:extLst xmlns:a="http://schemas.openxmlformats.org/drawingml/2006/main">
              <a:ext uri="{FF2B5EF4-FFF2-40B4-BE49-F238E27FC236}">
                <a16:creationId xmlns:a16="http://schemas.microsoft.com/office/drawing/2014/main" id="{622C97AC-B234-46F0-9887-FE24192DE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0" y="1600200"/>
            <a:ext cx="1381125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0F0"/>
          </a:solidFill>
          <a:ln xmlns:a="http://schemas.openxmlformats.org/drawingml/2006/main" w="12383">
            <a:solidFill>
              <a:srgbClr val="F06767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016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101638"/>
                </a:solidFill>
                <a:latin typeface="Times New Roman"/>
                <a:ea typeface="Times New Roman"/>
                <a:cs typeface="Times New Roman"/>
              </a:rPr>
              <a:t>Predicted fields</a:t>
            </a:r>
          </a:p>
          <a:p xmlns:a="http://schemas.openxmlformats.org/drawingml/2006/main">
            <a:pPr algn="ctr">
              <a:defRPr sz="1800" b="0">
                <a:solidFill>
                  <a:srgbClr val="1016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101638"/>
                </a:solidFill>
                <a:latin typeface="Times New Roman"/>
                <a:ea typeface="Times New Roman"/>
                <a:cs typeface="Times New Roman"/>
              </a:rPr>
              <a:t>û, p̂</a:t>
            </a:r>
          </a:p>
        </p:txBody>
      </p:sp>
      <p:cxnSp>
        <p:nvCxnSpPr>
          <p:cNvPr id="76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1714500" y="198120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101638"/>
            </a:solidFill>
            <a:prstDash val="solid"/>
            <a:tailEnd type="triangle" w="sm" len="sm"/>
          </a:ln>
        </p:spPr>
      </p:cxnSp>
      <p:cxnSp>
        <p:nvCxnSpPr>
          <p:cNvPr id="77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810000" y="1981200"/>
            <a:ext cx="619125" cy="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101638"/>
            </a:solidFill>
            <a:prstDash val="solid"/>
            <a:tailEnd type="triangle" w="sm" len="sm"/>
          </a:ln>
        </p:spPr>
      </p:cxnSp>
      <p:cxnSp>
        <p:nvCxnSpPr>
          <p:cNvPr id="78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6667500" y="1981200"/>
            <a:ext cx="619125" cy="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101638"/>
            </a:solidFill>
            <a:prstDash val="solid"/>
            <a:tailEnd type="triangle" w="sm" len="sm"/>
          </a:ln>
        </p:spPr>
      </p:cxnSp>
      <p:cxnSp>
        <p:nvCxnSpPr>
          <p:cNvPr id="79" name=""/>
          <p:cNvCxnSpPr>
            <a:stCxn xmlns:a="http://schemas.openxmlformats.org/drawingml/2006/main" id="8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9572625" y="1981200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101638"/>
            </a:solidFill>
            <a:prstDash val="solid"/>
            <a:tailEnd type="triangle" w="sm" len="sm"/>
          </a:ln>
        </p:spPr>
      </p:cxnSp>
      <p:cxnSp>
        <p:nvCxnSpPr>
          <p:cNvPr id="80" name=""/>
          <p:cNvCxnSpPr>
            <a:stCxn xmlns:a="http://schemas.openxmlformats.org/drawingml/2006/main" id="1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12049125" y="1981200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101638"/>
            </a:solidFill>
            <a:prstDash val="solid"/>
            <a:tailEnd type="triangle" w="sm" len="sm"/>
          </a:ln>
        </p:spPr>
      </p:cxnSp>
      <p:cxnSp>
        <p:nvCxnSpPr>
          <p:cNvPr id="81" name=""/>
          <p:cNvCxnSpPr>
            <a:stCxn xmlns:a="http://schemas.openxmlformats.org/drawingml/2006/main" id="11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14954250" y="1981200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101638"/>
            </a:solidFill>
            <a:prstDash val="solid"/>
            <a:tailEnd type="triangle" w="sm" len="sm"/>
          </a:ln>
        </p:spPr>
      </p:cxnSp>
      <p:sp>
        <p:nvSpPr>
          <p:cNvPr id="19" name="preferences">
            <a:extLst xmlns:a="http://schemas.openxmlformats.org/drawingml/2006/main">
              <a:ext uri="{FF2B5EF4-FFF2-40B4-BE49-F238E27FC236}">
                <a16:creationId xmlns:a16="http://schemas.microsoft.com/office/drawing/2014/main" id="{634B09BD-17B4-4471-9C88-DB90DC201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1657350"/>
            <a:ext cx="609600" cy="285750"/>
          </a:xfrm>
          <a:prstGeom xmlns:a="http://schemas.openxmlformats.org/drawingml/2006/main" prst="roundRect">
            <a:avLst>
              <a:gd name="adj" fmla="val 26667"/>
            </a:avLst>
          </a:prstGeom>
          <a:noFill xmlns:a="http://schemas.openxmlformats.org/drawingml/2006/main"/>
          <a:ln xmlns:a="http://schemas.openxmlformats.org/drawingml/2006/main" w="12383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016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101638"/>
                </a:solidFill>
                <a:latin typeface="Times New Roman"/>
                <a:ea typeface="Times New Roman"/>
                <a:cs typeface="Times New Roman"/>
              </a:rPr>
              <a:t>π(μ)</a:t>
            </a:r>
          </a:p>
        </p:txBody>
      </p:sp>
      <p:sp>
        <p:nvSpPr>
          <p:cNvPr id="20" name="history-a">
            <a:extLst xmlns:a="http://schemas.openxmlformats.org/drawingml/2006/main">
              <a:ext uri="{FF2B5EF4-FFF2-40B4-BE49-F238E27FC236}">
                <a16:creationId xmlns:a16="http://schemas.microsoft.com/office/drawing/2014/main" id="{9AC70012-E8CF-4587-A64B-8D30DBCC9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95650"/>
            <a:ext cx="257175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E7F2FF"/>
          </a:solidFill>
          <a:ln xmlns:a="http://schemas.openxmlformats.org/drawingml/2006/main" w="12383">
            <a:solidFill>
              <a:srgbClr val="1784FF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1016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0">
                <a:solidFill>
                  <a:srgbClr val="101638"/>
                </a:solidFill>
                <a:latin typeface="Times New Roman"/>
                <a:ea typeface="Times New Roman"/>
                <a:cs typeface="Times New Roman"/>
              </a:rPr>
              <a:t>Physical history Hₙ</a:t>
            </a:r>
          </a:p>
        </p:txBody>
      </p:sp>
      <p:cxnSp>
        <p:nvCxnSpPr>
          <p:cNvPr id="84" name=""/>
          <p:cNvCxnSpPr>
            <a:stCxn xmlns:a="http://schemas.openxmlformats.org/drawingml/2006/main" id="20" idx="3"/>
            <a:endCxn xmlns:a="http://schemas.openxmlformats.org/drawingml/2006/main" id="8" idx="2"/>
          </p:cNvCxnSpPr>
          <p:nvPr/>
        </p:nvCxnSpPr>
        <p:spPr>
          <a:xfrm xmlns:a="http://schemas.openxmlformats.org/drawingml/2006/main" flipV="1">
            <a:off x="3238500" y="2505075"/>
            <a:ext cx="5191125" cy="1104900"/>
          </a:xfrm>
          <a:prstGeom xmlns:a="http://schemas.openxmlformats.org/drawingml/2006/main" prst="bentConnector2">
            <a:avLst/>
          </a:prstGeom>
          <a:ln xmlns:a="http://schemas.openxmlformats.org/drawingml/2006/main" w="16193">
            <a:solidFill>
              <a:srgbClr val="101638"/>
            </a:solidFill>
            <a:prstDash val="solid"/>
            <a:tailEnd type="triangle" w="sm" len="sm"/>
          </a:ln>
        </p:spPr>
      </p:cxnSp>
      <p:sp>
        <p:nvSpPr>
          <p:cNvPr id="22" name="init-label">
            <a:extLst xmlns:a="http://schemas.openxmlformats.org/drawingml/2006/main">
              <a:ext uri="{FF2B5EF4-FFF2-40B4-BE49-F238E27FC236}">
                <a16:creationId xmlns:a16="http://schemas.microsoft.com/office/drawing/2014/main" id="{7F746686-D788-4530-A5F2-3A435A44D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886075"/>
            <a:ext cx="1809750" cy="285750"/>
          </a:xfrm>
          <a:prstGeom xmlns:a="http://schemas.openxmlformats.org/drawingml/2006/main" prst="roundRect">
            <a:avLst>
              <a:gd name="adj" fmla="val 26667"/>
            </a:avLst>
          </a:prstGeom>
          <a:noFill xmlns:a="http://schemas.openxmlformats.org/drawingml/2006/main"/>
          <a:ln xmlns:a="http://schemas.openxmlformats.org/drawingml/2006/main" w="12383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016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101638"/>
                </a:solidFill>
                <a:latin typeface="Times New Roman"/>
                <a:ea typeface="Times New Roman"/>
                <a:cs typeface="Times New Roman"/>
              </a:rPr>
              <a:t>Initialization</a:t>
            </a:r>
          </a:p>
        </p:txBody>
      </p:sp>
      <p:sp>
        <p:nvSpPr>
          <p:cNvPr id="23" name="descriptor">
            <a:extLst xmlns:a="http://schemas.openxmlformats.org/drawingml/2006/main">
              <a:ext uri="{FF2B5EF4-FFF2-40B4-BE49-F238E27FC236}">
                <a16:creationId xmlns:a16="http://schemas.microsoft.com/office/drawing/2014/main" id="{87685F97-155C-49B0-8CE2-2584551AD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3667125"/>
            <a:ext cx="2571750" cy="466725"/>
          </a:xfrm>
          <a:prstGeom xmlns:a="http://schemas.openxmlformats.org/drawingml/2006/main" prst="roundRect">
            <a:avLst>
              <a:gd name="adj" fmla="val 16327"/>
            </a:avLst>
          </a:prstGeom>
          <a:solidFill xmlns:a="http://schemas.openxmlformats.org/drawingml/2006/main">
            <a:srgbClr val="E7F2FF"/>
          </a:solidFill>
          <a:ln xmlns:a="http://schemas.openxmlformats.org/drawingml/2006/main" w="12383">
            <a:solidFill>
              <a:srgbClr val="1784FF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016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101638"/>
                </a:solidFill>
                <a:latin typeface="Times New Roman"/>
                <a:ea typeface="Times New Roman"/>
                <a:cs typeface="Times New Roman"/>
              </a:rPr>
              <a:t>History descriptor dₙ</a:t>
            </a:r>
          </a:p>
        </p:txBody>
      </p:sp>
      <p:cxnSp>
        <p:nvCxnSpPr>
          <p:cNvPr id="87" name=""/>
          <p:cNvCxnSpPr>
            <a:stCxn xmlns:a="http://schemas.openxmlformats.org/drawingml/2006/main" id="20" idx="2"/>
            <a:endCxn xmlns:a="http://schemas.openxmlformats.org/drawingml/2006/main" id="23" idx="1"/>
          </p:cNvCxnSpPr>
          <p:nvPr/>
        </p:nvCxnSpPr>
        <p:spPr>
          <a:xfrm xmlns:a="http://schemas.openxmlformats.org/drawingml/2006/main" flipV="1">
            <a:off x="1952625" y="3900488"/>
            <a:ext cx="5524500" cy="23813"/>
          </a:xfrm>
          <a:prstGeom xmlns:a="http://schemas.openxmlformats.org/drawingml/2006/main" prst="bentConnector3">
            <a:avLst>
              <a:gd name="adj1" fmla="val 0"/>
            </a:avLst>
          </a:prstGeom>
          <a:ln xmlns:a="http://schemas.openxmlformats.org/drawingml/2006/main" w="16193">
            <a:solidFill>
              <a:srgbClr val="101638"/>
            </a:solidFill>
            <a:prstDash val="solid"/>
            <a:tailEnd type="triangle" w="sm" len="sm"/>
          </a:ln>
        </p:spPr>
      </p:cxnSp>
      <p:sp>
        <p:nvSpPr>
          <p:cNvPr id="25" name="gate-context">
            <a:extLst xmlns:a="http://schemas.openxmlformats.org/drawingml/2006/main">
              <a:ext uri="{FF2B5EF4-FFF2-40B4-BE49-F238E27FC236}">
                <a16:creationId xmlns:a16="http://schemas.microsoft.com/office/drawing/2014/main" id="{97C1E719-0978-425A-BC0D-8B15CE7F5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876550"/>
            <a:ext cx="2952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0E6FF"/>
          </a:solidFill>
          <a:ln xmlns:a="http://schemas.openxmlformats.org/drawingml/2006/main" w="12383">
            <a:solidFill>
              <a:srgbClr val="9857FF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016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101638"/>
                </a:solidFill>
                <a:latin typeface="Times New Roman"/>
                <a:ea typeface="Times New Roman"/>
                <a:cs typeface="Times New Roman"/>
              </a:rPr>
              <a:t>Parameter μ + pair preference π̄</a:t>
            </a:r>
          </a:p>
        </p:txBody>
      </p:sp>
      <p:sp>
        <p:nvSpPr>
          <p:cNvPr id="26" name="T2C-gate">
            <a:extLst xmlns:a="http://schemas.openxmlformats.org/drawingml/2006/main">
              <a:ext uri="{FF2B5EF4-FFF2-40B4-BE49-F238E27FC236}">
                <a16:creationId xmlns:a16="http://schemas.microsoft.com/office/drawing/2014/main" id="{90E2B608-5E7B-4002-9B1E-02B91D258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0" y="3200400"/>
            <a:ext cx="17145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8F7EC"/>
          </a:solidFill>
          <a:ln xmlns:a="http://schemas.openxmlformats.org/drawingml/2006/main" w="12383">
            <a:solidFill>
              <a:srgbClr val="40A36C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16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101638"/>
                </a:solidFill>
                <a:latin typeface="Times New Roman"/>
                <a:ea typeface="Times New Roman"/>
                <a:cs typeface="Times New Roman"/>
              </a:rPr>
              <a:t>T2-C gate</a:t>
            </a:r>
          </a:p>
          <a:p xmlns:a="http://schemas.openxmlformats.org/drawingml/2006/main">
            <a:pPr algn="ctr">
              <a:defRPr sz="1800" b="1">
                <a:solidFill>
                  <a:srgbClr val="1016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101638"/>
                </a:solidFill>
                <a:latin typeface="Times New Roman"/>
                <a:ea typeface="Times New Roman"/>
                <a:cs typeface="Times New Roman"/>
              </a:rPr>
              <a:t>α</a:t>
            </a:r>
          </a:p>
        </p:txBody>
      </p:sp>
      <p:cxnSp>
        <p:nvCxnSpPr>
          <p:cNvPr id="90" name=""/>
          <p:cNvCxnSpPr>
            <a:stCxn xmlns:a="http://schemas.openxmlformats.org/drawingml/2006/main" id="25" idx="3"/>
            <a:endCxn xmlns:a="http://schemas.openxmlformats.org/drawingml/2006/main" id="26" idx="1"/>
          </p:cNvCxnSpPr>
          <p:nvPr/>
        </p:nvCxnSpPr>
        <p:spPr>
          <a:xfrm xmlns:a="http://schemas.openxmlformats.org/drawingml/2006/main">
            <a:off x="12668250" y="3086100"/>
            <a:ext cx="476250" cy="5334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6193">
            <a:solidFill>
              <a:srgbClr val="101638"/>
            </a:solidFill>
            <a:prstDash val="solid"/>
            <a:tailEnd type="triangle" w="sm" len="sm"/>
          </a:ln>
        </p:spPr>
      </p:cxnSp>
      <p:cxnSp>
        <p:nvCxnSpPr>
          <p:cNvPr id="91" name=""/>
          <p:cNvCxnSpPr>
            <a:stCxn xmlns:a="http://schemas.openxmlformats.org/drawingml/2006/main" id="23" idx="3"/>
            <a:endCxn xmlns:a="http://schemas.openxmlformats.org/drawingml/2006/main" id="26" idx="1"/>
          </p:cNvCxnSpPr>
          <p:nvPr/>
        </p:nvCxnSpPr>
        <p:spPr>
          <a:xfrm xmlns:a="http://schemas.openxmlformats.org/drawingml/2006/main" flipV="1">
            <a:off x="10048875" y="3619500"/>
            <a:ext cx="3095625" cy="28098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6193">
            <a:solidFill>
              <a:srgbClr val="101638"/>
            </a:solidFill>
            <a:prstDash val="solid"/>
            <a:tailEnd type="triangle" w="sm" len="sm"/>
          </a:ln>
        </p:spPr>
      </p:cxnSp>
      <p:cxnSp>
        <p:nvCxnSpPr>
          <p:cNvPr id="92" name=""/>
          <p:cNvCxnSpPr>
            <a:stCxn xmlns:a="http://schemas.openxmlformats.org/drawingml/2006/main" id="26" idx="0"/>
            <a:endCxn xmlns:a="http://schemas.openxmlformats.org/drawingml/2006/main" id="11" idx="2"/>
          </p:cNvCxnSpPr>
          <p:nvPr/>
        </p:nvCxnSpPr>
        <p:spPr>
          <a:xfrm xmlns:a="http://schemas.openxmlformats.org/drawingml/2006/main" flipH="1" flipV="1">
            <a:off x="13787438" y="2581275"/>
            <a:ext cx="214313" cy="61912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6193">
            <a:solidFill>
              <a:srgbClr val="101638"/>
            </a:solidFill>
            <a:prstDash val="solid"/>
            <a:tailEnd type="triangle" w="sm" len="sm"/>
          </a:ln>
        </p:spPr>
      </p:cxnSp>
      <p:sp>
        <p:nvSpPr>
          <p:cNvPr id="30" name="titleb">
            <a:extLst xmlns:a="http://schemas.openxmlformats.org/drawingml/2006/main">
              <a:ext uri="{FF2B5EF4-FFF2-40B4-BE49-F238E27FC236}">
                <a16:creationId xmlns:a16="http://schemas.microsoft.com/office/drawing/2014/main" id="{3F0643C5-D3A5-43C6-BAC2-C7F143F70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676775"/>
            <a:ext cx="5286375" cy="419100"/>
          </a:xfrm>
          <a:prstGeom xmlns:a="http://schemas.openxmlformats.org/drawingml/2006/main" prst="roundRect">
            <a:avLst>
              <a:gd name="adj" fmla="val 18182"/>
            </a:avLst>
          </a:prstGeom>
          <a:noFill xmlns:a="http://schemas.openxmlformats.org/drawingml/2006/main"/>
          <a:ln xmlns:a="http://schemas.openxmlformats.org/drawingml/2006/main" w="12383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016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25" b="1">
                <a:solidFill>
                  <a:srgbClr val="101638"/>
                </a:solidFill>
                <a:latin typeface="Times New Roman"/>
                <a:ea typeface="Times New Roman"/>
                <a:cs typeface="Times New Roman"/>
              </a:rPr>
              <a:t>(b)  Regime-local specialist</a:t>
            </a:r>
          </a:p>
        </p:txBody>
      </p:sp>
      <p:sp>
        <p:nvSpPr>
          <p:cNvPr id="31" name="subtitleb">
            <a:extLst xmlns:a="http://schemas.openxmlformats.org/drawingml/2006/main">
              <a:ext uri="{FF2B5EF4-FFF2-40B4-BE49-F238E27FC236}">
                <a16:creationId xmlns:a16="http://schemas.microsoft.com/office/drawing/2014/main" id="{C7B6244E-BD10-42D3-9EF6-EF966A852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105400"/>
            <a:ext cx="5238750" cy="285750"/>
          </a:xfrm>
          <a:prstGeom xmlns:a="http://schemas.openxmlformats.org/drawingml/2006/main" prst="roundRect">
            <a:avLst>
              <a:gd name="adj" fmla="val 26667"/>
            </a:avLst>
          </a:prstGeom>
          <a:noFill xmlns:a="http://schemas.openxmlformats.org/drawingml/2006/main"/>
          <a:ln xmlns:a="http://schemas.openxmlformats.org/drawingml/2006/main" w="12383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1769B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1769B1"/>
                </a:solidFill>
                <a:latin typeface="Times New Roman"/>
                <a:ea typeface="Times New Roman"/>
                <a:cs typeface="Times New Roman"/>
              </a:rPr>
              <a:t>Level 1: sparse correction within a local chart</a:t>
            </a:r>
          </a:p>
        </p:txBody>
      </p:sp>
      <p:sp>
        <p:nvSpPr>
          <p:cNvPr id="32" name="history-b">
            <a:extLst xmlns:a="http://schemas.openxmlformats.org/drawingml/2006/main">
              <a:ext uri="{FF2B5EF4-FFF2-40B4-BE49-F238E27FC236}">
                <a16:creationId xmlns:a16="http://schemas.microsoft.com/office/drawing/2014/main" id="{3D0A8EC9-89BC-4CDE-AC2E-5FFE34A1F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467475"/>
            <a:ext cx="1428750" cy="866775"/>
          </a:xfrm>
          <a:prstGeom xmlns:a="http://schemas.openxmlformats.org/drawingml/2006/main" prst="roundRect">
            <a:avLst>
              <a:gd name="adj" fmla="val 8791"/>
            </a:avLst>
          </a:prstGeom>
          <a:solidFill xmlns:a="http://schemas.openxmlformats.org/drawingml/2006/main">
            <a:srgbClr val="E7F2FF"/>
          </a:solidFill>
          <a:ln xmlns:a="http://schemas.openxmlformats.org/drawingml/2006/main" w="12383">
            <a:solidFill>
              <a:srgbClr val="1784FF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016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101638"/>
                </a:solidFill>
                <a:latin typeface="Times New Roman"/>
                <a:ea typeface="Times New Roman"/>
                <a:cs typeface="Times New Roman"/>
              </a:rPr>
              <a:t>Physical history</a:t>
            </a:r>
          </a:p>
          <a:p xmlns:a="http://schemas.openxmlformats.org/drawingml/2006/main">
            <a:pPr algn="ctr">
              <a:defRPr sz="1800" b="0">
                <a:solidFill>
                  <a:srgbClr val="1016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101638"/>
                </a:solidFill>
                <a:latin typeface="Times New Roman"/>
                <a:ea typeface="Times New Roman"/>
                <a:cs typeface="Times New Roman"/>
              </a:rPr>
              <a:t>Hₙ</a:t>
            </a:r>
          </a:p>
        </p:txBody>
      </p:sp>
      <p:sp>
        <p:nvSpPr>
          <p:cNvPr id="33" name="POD-encoder">
            <a:extLst xmlns:a="http://schemas.openxmlformats.org/drawingml/2006/main">
              <a:ext uri="{FF2B5EF4-FFF2-40B4-BE49-F238E27FC236}">
                <a16:creationId xmlns:a16="http://schemas.microsoft.com/office/drawing/2014/main" id="{372027F1-A2AC-4BF3-906B-F809F1F38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6467475"/>
            <a:ext cx="1381125" cy="866775"/>
          </a:xfrm>
          <a:prstGeom xmlns:a="http://schemas.openxmlformats.org/drawingml/2006/main" prst="roundRect">
            <a:avLst>
              <a:gd name="adj" fmla="val 8791"/>
            </a:avLst>
          </a:prstGeom>
          <a:solidFill xmlns:a="http://schemas.openxmlformats.org/drawingml/2006/main">
            <a:srgbClr val="FFF3E6"/>
          </a:solidFill>
          <a:ln xmlns:a="http://schemas.openxmlformats.org/drawingml/2006/main" w="12383">
            <a:solidFill>
              <a:srgbClr val="FF8A30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016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101638"/>
                </a:solidFill>
                <a:latin typeface="Times New Roman"/>
                <a:ea typeface="Times New Roman"/>
                <a:cs typeface="Times New Roman"/>
              </a:rPr>
              <a:t>Local POD</a:t>
            </a:r>
          </a:p>
          <a:p xmlns:a="http://schemas.openxmlformats.org/drawingml/2006/main">
            <a:pPr algn="ctr">
              <a:defRPr sz="1800" b="0">
                <a:solidFill>
                  <a:srgbClr val="1016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101638"/>
                </a:solidFill>
                <a:latin typeface="Times New Roman"/>
                <a:ea typeface="Times New Roman"/>
                <a:cs typeface="Times New Roman"/>
              </a:rPr>
              <a:t>encoding</a:t>
            </a:r>
          </a:p>
        </p:txBody>
      </p:sp>
      <p:sp>
        <p:nvSpPr>
          <p:cNvPr id="34" name="local-state">
            <a:extLst xmlns:a="http://schemas.openxmlformats.org/drawingml/2006/main">
              <a:ext uri="{FF2B5EF4-FFF2-40B4-BE49-F238E27FC236}">
                <a16:creationId xmlns:a16="http://schemas.microsoft.com/office/drawing/2014/main" id="{35AF9270-445F-41D9-9CBA-12DC77FB4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6372225"/>
            <a:ext cx="16192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E7F2FF"/>
          </a:solidFill>
          <a:ln xmlns:a="http://schemas.openxmlformats.org/drawingml/2006/main" w="12383">
            <a:solidFill>
              <a:srgbClr val="1784FF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1016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101638"/>
                </a:solidFill>
                <a:latin typeface="Times New Roman"/>
                <a:ea typeface="Times New Roman"/>
                <a:cs typeface="Times New Roman"/>
              </a:rPr>
              <a:t>Local reduced</a:t>
            </a:r>
          </a:p>
          <a:p xmlns:a="http://schemas.openxmlformats.org/drawingml/2006/main">
            <a:pPr algn="ctr">
              <a:defRPr sz="1725" b="0">
                <a:solidFill>
                  <a:srgbClr val="1016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101638"/>
                </a:solidFill>
                <a:latin typeface="Times New Roman"/>
                <a:ea typeface="Times New Roman"/>
                <a:cs typeface="Times New Roman"/>
              </a:rPr>
              <a:t>state + history</a:t>
            </a:r>
          </a:p>
          <a:p xmlns:a="http://schemas.openxmlformats.org/drawingml/2006/main">
            <a:pPr algn="ctr">
              <a:defRPr sz="1725" b="0">
                <a:solidFill>
                  <a:srgbClr val="1016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101638"/>
                </a:solidFill>
                <a:latin typeface="Times New Roman"/>
                <a:ea typeface="Times New Roman"/>
                <a:cs typeface="Times New Roman"/>
              </a:rPr>
              <a:t>(aₙ, bₙ)</a:t>
            </a:r>
          </a:p>
        </p:txBody>
      </p:sp>
      <p:cxnSp>
        <p:nvCxnSpPr>
          <p:cNvPr id="98" name=""/>
          <p:cNvCxnSpPr>
            <a:stCxn xmlns:a="http://schemas.openxmlformats.org/drawingml/2006/main" id="32" idx="3"/>
            <a:endCxn xmlns:a="http://schemas.openxmlformats.org/drawingml/2006/main" id="33" idx="1"/>
          </p:cNvCxnSpPr>
          <p:nvPr/>
        </p:nvCxnSpPr>
        <p:spPr>
          <a:xfrm xmlns:a="http://schemas.openxmlformats.org/drawingml/2006/main">
            <a:off x="1809750" y="6900863"/>
            <a:ext cx="428625" cy="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101638"/>
            </a:solidFill>
            <a:prstDash val="solid"/>
            <a:tailEnd type="triangle" w="sm" len="sm"/>
          </a:ln>
        </p:spPr>
      </p:cxnSp>
      <p:cxnSp>
        <p:nvCxnSpPr>
          <p:cNvPr id="99" name=""/>
          <p:cNvCxnSpPr>
            <a:stCxn xmlns:a="http://schemas.openxmlformats.org/drawingml/2006/main" id="33" idx="3"/>
            <a:endCxn xmlns:a="http://schemas.openxmlformats.org/drawingml/2006/main" id="34" idx="1"/>
          </p:cNvCxnSpPr>
          <p:nvPr/>
        </p:nvCxnSpPr>
        <p:spPr>
          <a:xfrm xmlns:a="http://schemas.openxmlformats.org/drawingml/2006/main" flipV="1">
            <a:off x="3619500" y="6896100"/>
            <a:ext cx="428625" cy="476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6193">
            <a:solidFill>
              <a:srgbClr val="101638"/>
            </a:solidFill>
            <a:prstDash val="solid"/>
            <a:tailEnd type="triangle" w="sm" len="sm"/>
          </a:ln>
        </p:spPr>
      </p:cxnSp>
      <p:sp>
        <p:nvSpPr>
          <p:cNvPr id="37" name="moe-boundary">
            <a:extLst xmlns:a="http://schemas.openxmlformats.org/drawingml/2006/main">
              <a:ext uri="{FF2B5EF4-FFF2-40B4-BE49-F238E27FC236}">
                <a16:creationId xmlns:a16="http://schemas.microsoft.com/office/drawing/2014/main" id="{0E99DD36-6B0D-4972-A209-B36CEC89F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6124575"/>
            <a:ext cx="4953000" cy="2419350"/>
          </a:xfrm>
          <a:prstGeom xmlns:a="http://schemas.openxmlformats.org/drawingml/2006/main" prst="roundRect">
            <a:avLst>
              <a:gd name="adj" fmla="val 3150"/>
            </a:avLst>
          </a:prstGeom>
          <a:solidFill xmlns:a="http://schemas.openxmlformats.org/drawingml/2006/main">
            <a:srgbClr val="FFF7EF"/>
          </a:solidFill>
          <a:ln xmlns:a="http://schemas.openxmlformats.org/drawingml/2006/main" w="9525">
            <a:solidFill>
              <a:srgbClr val="FF8A30"/>
            </a:solidFill>
            <a:prstDash val="dash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8" name="moe-title">
            <a:extLst xmlns:a="http://schemas.openxmlformats.org/drawingml/2006/main">
              <a:ext uri="{FF2B5EF4-FFF2-40B4-BE49-F238E27FC236}">
                <a16:creationId xmlns:a16="http://schemas.microsoft.com/office/drawing/2014/main" id="{3E97B3A6-180B-4822-8B95-1E006F895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6200775"/>
            <a:ext cx="4667250" cy="314325"/>
          </a:xfrm>
          <a:prstGeom xmlns:a="http://schemas.openxmlformats.org/drawingml/2006/main" prst="roundRect">
            <a:avLst>
              <a:gd name="adj" fmla="val 24242"/>
            </a:avLst>
          </a:prstGeom>
          <a:noFill xmlns:a="http://schemas.openxmlformats.org/drawingml/2006/main"/>
          <a:ln xmlns:a="http://schemas.openxmlformats.org/drawingml/2006/main" w="12383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8A3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1">
                <a:solidFill>
                  <a:srgbClr val="FF8A30"/>
                </a:solidFill>
                <a:latin typeface="Times New Roman"/>
                <a:ea typeface="Times New Roman"/>
                <a:cs typeface="Times New Roman"/>
              </a:rPr>
              <a:t>Velocity sparse MoE correction</a:t>
            </a:r>
          </a:p>
        </p:txBody>
      </p:sp>
      <p:sp>
        <p:nvSpPr>
          <p:cNvPr id="39" name="galerkin">
            <a:extLst xmlns:a="http://schemas.openxmlformats.org/drawingml/2006/main">
              <a:ext uri="{FF2B5EF4-FFF2-40B4-BE49-F238E27FC236}">
                <a16:creationId xmlns:a16="http://schemas.microsoft.com/office/drawing/2014/main" id="{2702FD94-133F-4127-874C-1AC12E93D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495925"/>
            <a:ext cx="4000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7F2FF"/>
          </a:solidFill>
          <a:ln xmlns:a="http://schemas.openxmlformats.org/drawingml/2006/main" w="12383">
            <a:solidFill>
              <a:srgbClr val="1784FF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016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1">
                <a:solidFill>
                  <a:srgbClr val="101638"/>
                </a:solidFill>
                <a:latin typeface="Times New Roman"/>
                <a:ea typeface="Times New Roman"/>
                <a:cs typeface="Times New Roman"/>
              </a:rPr>
              <a:t>Projected Galerkin ROM</a:t>
            </a:r>
          </a:p>
        </p:txBody>
      </p:sp>
      <p:sp>
        <p:nvSpPr>
          <p:cNvPr id="40" name="internal-routing">
            <a:extLst xmlns:a="http://schemas.openxmlformats.org/drawingml/2006/main">
              <a:ext uri="{FF2B5EF4-FFF2-40B4-BE49-F238E27FC236}">
                <a16:creationId xmlns:a16="http://schemas.microsoft.com/office/drawing/2014/main" id="{8B2C7EF9-AD46-4EE7-A3E1-B3666887C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7353300"/>
            <a:ext cx="1571625" cy="942975"/>
          </a:xfrm>
          <a:prstGeom xmlns:a="http://schemas.openxmlformats.org/drawingml/2006/main" prst="roundRect">
            <a:avLst>
              <a:gd name="adj" fmla="val 8081"/>
            </a:avLst>
          </a:prstGeom>
          <a:solidFill xmlns:a="http://schemas.openxmlformats.org/drawingml/2006/main">
            <a:srgbClr val="F0E6FF"/>
          </a:solidFill>
          <a:ln xmlns:a="http://schemas.openxmlformats.org/drawingml/2006/main" w="12383">
            <a:solidFill>
              <a:srgbClr val="9857FF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016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101638"/>
                </a:solidFill>
                <a:latin typeface="Times New Roman"/>
                <a:ea typeface="Times New Roman"/>
                <a:cs typeface="Times New Roman"/>
              </a:rPr>
              <a:t>Internal routing</a:t>
            </a:r>
          </a:p>
          <a:p xmlns:a="http://schemas.openxmlformats.org/drawingml/2006/main">
            <a:pPr algn="ctr">
              <a:defRPr sz="1650" b="0">
                <a:solidFill>
                  <a:srgbClr val="1016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101638"/>
                </a:solidFill>
                <a:latin typeface="Times New Roman"/>
                <a:ea typeface="Times New Roman"/>
                <a:cs typeface="Times New Roman"/>
              </a:rPr>
              <a:t>Group Top-1</a:t>
            </a:r>
          </a:p>
          <a:p xmlns:a="http://schemas.openxmlformats.org/drawingml/2006/main">
            <a:pPr algn="ctr">
              <a:defRPr sz="1650" b="0">
                <a:solidFill>
                  <a:srgbClr val="1016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101638"/>
                </a:solidFill>
                <a:latin typeface="Times New Roman"/>
                <a:ea typeface="Times New Roman"/>
                <a:cs typeface="Times New Roman"/>
              </a:rPr>
              <a:t>Channel Top-2</a:t>
            </a:r>
          </a:p>
        </p:txBody>
      </p:sp>
      <p:sp>
        <p:nvSpPr>
          <p:cNvPr id="41" name="shared">
            <a:extLst xmlns:a="http://schemas.openxmlformats.org/drawingml/2006/main">
              <a:ext uri="{FF2B5EF4-FFF2-40B4-BE49-F238E27FC236}">
                <a16:creationId xmlns:a16="http://schemas.microsoft.com/office/drawing/2014/main" id="{C5830EA1-72BB-4652-9AD4-3C4CF78A4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6572250"/>
            <a:ext cx="157162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0EC"/>
          </a:solidFill>
          <a:ln xmlns:a="http://schemas.openxmlformats.org/drawingml/2006/main" w="12383">
            <a:solidFill>
              <a:srgbClr val="F06767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016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101638"/>
                </a:solidFill>
                <a:latin typeface="Times New Roman"/>
                <a:ea typeface="Times New Roman"/>
                <a:cs typeface="Times New Roman"/>
              </a:rPr>
              <a:t>Shared expert E₀</a:t>
            </a:r>
          </a:p>
          <a:p xmlns:a="http://schemas.openxmlformats.org/drawingml/2006/main">
            <a:pPr algn="ctr">
              <a:defRPr sz="1500" b="0">
                <a:solidFill>
                  <a:srgbClr val="1016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101638"/>
                </a:solidFill>
                <a:latin typeface="Times New Roman"/>
                <a:ea typeface="Times New Roman"/>
                <a:cs typeface="Times New Roman"/>
              </a:rPr>
              <a:t>Always active</a:t>
            </a:r>
          </a:p>
        </p:txBody>
      </p:sp>
      <p:sp>
        <p:nvSpPr>
          <p:cNvPr id="42" name="routed">
            <a:extLst xmlns:a="http://schemas.openxmlformats.org/drawingml/2006/main">
              <a:ext uri="{FF2B5EF4-FFF2-40B4-BE49-F238E27FC236}">
                <a16:creationId xmlns:a16="http://schemas.microsoft.com/office/drawing/2014/main" id="{E06D11A6-F58F-475A-B3CE-A3320B842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7572375"/>
            <a:ext cx="1571625" cy="619125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FFF0EC"/>
          </a:solidFill>
          <a:ln xmlns:a="http://schemas.openxmlformats.org/drawingml/2006/main" w="12383">
            <a:solidFill>
              <a:srgbClr val="F06767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1016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101638"/>
                </a:solidFill>
                <a:latin typeface="Times New Roman"/>
                <a:ea typeface="Times New Roman"/>
                <a:cs typeface="Times New Roman"/>
              </a:rPr>
              <a:t>Top-2 experts</a:t>
            </a:r>
          </a:p>
          <a:p xmlns:a="http://schemas.openxmlformats.org/drawingml/2006/main">
            <a:pPr algn="ctr">
              <a:defRPr sz="1725" b="0">
                <a:solidFill>
                  <a:srgbClr val="1016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101638"/>
                </a:solidFill>
                <a:latin typeface="Times New Roman"/>
                <a:ea typeface="Times New Roman"/>
                <a:cs typeface="Times New Roman"/>
              </a:rPr>
              <a:t>Eₑ₁, Eₑ₂</a:t>
            </a:r>
          </a:p>
        </p:txBody>
      </p:sp>
      <p:sp>
        <p:nvSpPr>
          <p:cNvPr id="43" name="expert-sum">
            <a:extLst xmlns:a="http://schemas.openxmlformats.org/drawingml/2006/main">
              <a:ext uri="{FF2B5EF4-FFF2-40B4-BE49-F238E27FC236}">
                <a16:creationId xmlns:a16="http://schemas.microsoft.com/office/drawing/2014/main" id="{9C1422CB-33A6-4D52-90BE-A6FB8A718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7038975"/>
            <a:ext cx="9525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0EC"/>
          </a:solidFill>
          <a:ln xmlns:a="http://schemas.openxmlformats.org/drawingml/2006/main" w="12383">
            <a:solidFill>
              <a:srgbClr val="F06767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016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101638"/>
                </a:solidFill>
                <a:latin typeface="Times New Roman"/>
                <a:ea typeface="Times New Roman"/>
                <a:cs typeface="Times New Roman"/>
              </a:rPr>
              <a:t>Weighted</a:t>
            </a:r>
          </a:p>
          <a:p xmlns:a="http://schemas.openxmlformats.org/drawingml/2006/main">
            <a:pPr algn="ctr">
              <a:defRPr sz="1425" b="0">
                <a:solidFill>
                  <a:srgbClr val="1016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101638"/>
                </a:solidFill>
                <a:latin typeface="Times New Roman"/>
                <a:ea typeface="Times New Roman"/>
                <a:cs typeface="Times New Roman"/>
              </a:rPr>
              <a:t>sum</a:t>
            </a:r>
          </a:p>
        </p:txBody>
      </p:sp>
      <p:sp>
        <p:nvSpPr>
          <p:cNvPr id="44" name="hybrid-sum">
            <a:extLst xmlns:a="http://schemas.openxmlformats.org/drawingml/2006/main">
              <a:ext uri="{FF2B5EF4-FFF2-40B4-BE49-F238E27FC236}">
                <a16:creationId xmlns:a16="http://schemas.microsoft.com/office/drawing/2014/main" id="{2F1D043C-86E4-4944-ADA1-886E0EA24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9050" y="557212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01638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550">
                <a:solidFill>
                  <a:srgbClr val="1016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50">
                <a:solidFill>
                  <a:srgbClr val="101638"/>
                </a:solidFill>
                <a:latin typeface="Times New Roman"/>
                <a:ea typeface="Times New Roman"/>
                <a:cs typeface="Times New Roman"/>
              </a:rPr>
              <a:t>+</a:t>
            </a:r>
          </a:p>
        </p:txBody>
      </p:sp>
      <p:sp>
        <p:nvSpPr>
          <p:cNvPr id="45" name="integrator">
            <a:extLst xmlns:a="http://schemas.openxmlformats.org/drawingml/2006/main">
              <a:ext uri="{FF2B5EF4-FFF2-40B4-BE49-F238E27FC236}">
                <a16:creationId xmlns:a16="http://schemas.microsoft.com/office/drawing/2014/main" id="{C9CA1ECB-6AEA-48FF-BC6E-A161EAB65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6496050"/>
            <a:ext cx="1857375" cy="809625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EDF0F4"/>
          </a:solidFill>
          <a:ln xmlns:a="http://schemas.openxmlformats.org/drawingml/2006/main" w="12383">
            <a:solidFill>
              <a:srgbClr val="7F94AC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016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101638"/>
                </a:solidFill>
                <a:latin typeface="Times New Roman"/>
                <a:ea typeface="Times New Roman"/>
                <a:cs typeface="Times New Roman"/>
              </a:rPr>
              <a:t>Time integration</a:t>
            </a:r>
          </a:p>
        </p:txBody>
      </p:sp>
      <p:sp>
        <p:nvSpPr>
          <p:cNvPr id="46" name="pressure-reconstruction">
            <a:extLst xmlns:a="http://schemas.openxmlformats.org/drawingml/2006/main">
              <a:ext uri="{FF2B5EF4-FFF2-40B4-BE49-F238E27FC236}">
                <a16:creationId xmlns:a16="http://schemas.microsoft.com/office/drawing/2014/main" id="{E791FE40-8B3C-46CC-8591-AE3690989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0" y="6400800"/>
            <a:ext cx="2238375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E7F2FF"/>
          </a:solidFill>
          <a:ln xmlns:a="http://schemas.openxmlformats.org/drawingml/2006/main" w="12383">
            <a:solidFill>
              <a:srgbClr val="1784FF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016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101638"/>
                </a:solidFill>
                <a:latin typeface="Times New Roman"/>
                <a:ea typeface="Times New Roman"/>
                <a:cs typeface="Times New Roman"/>
              </a:rPr>
              <a:t>Algebraic pressure</a:t>
            </a:r>
          </a:p>
          <a:p xmlns:a="http://schemas.openxmlformats.org/drawingml/2006/main">
            <a:pPr algn="ctr">
              <a:defRPr sz="1650" b="0">
                <a:solidFill>
                  <a:srgbClr val="1016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101638"/>
                </a:solidFill>
                <a:latin typeface="Times New Roman"/>
                <a:ea typeface="Times New Roman"/>
                <a:cs typeface="Times New Roman"/>
              </a:rPr>
              <a:t>reconstruction</a:t>
            </a:r>
          </a:p>
          <a:p xmlns:a="http://schemas.openxmlformats.org/drawingml/2006/main">
            <a:pPr algn="ctr">
              <a:defRPr sz="1650" b="0">
                <a:solidFill>
                  <a:srgbClr val="1016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101638"/>
                </a:solidFill>
                <a:latin typeface="Times New Roman"/>
                <a:ea typeface="Times New Roman"/>
                <a:cs typeface="Times New Roman"/>
              </a:rPr>
              <a:t>PPE + learned correction</a:t>
            </a:r>
          </a:p>
        </p:txBody>
      </p:sp>
      <p:cxnSp>
        <p:nvCxnSpPr>
          <p:cNvPr id="110" name=""/>
          <p:cNvCxnSpPr>
            <a:stCxn xmlns:a="http://schemas.openxmlformats.org/drawingml/2006/main" id="34" idx="0"/>
            <a:endCxn xmlns:a="http://schemas.openxmlformats.org/drawingml/2006/main" id="39" idx="1"/>
          </p:cNvCxnSpPr>
          <p:nvPr/>
        </p:nvCxnSpPr>
        <p:spPr>
          <a:xfrm xmlns:a="http://schemas.openxmlformats.org/drawingml/2006/main" flipV="1">
            <a:off x="4857750" y="5753100"/>
            <a:ext cx="1809750" cy="619125"/>
          </a:xfrm>
          <a:prstGeom xmlns:a="http://schemas.openxmlformats.org/drawingml/2006/main" prst="bentConnector3">
            <a:avLst>
              <a:gd name="adj1" fmla="val 0"/>
            </a:avLst>
          </a:prstGeom>
          <a:ln xmlns:a="http://schemas.openxmlformats.org/drawingml/2006/main" w="16193">
            <a:solidFill>
              <a:srgbClr val="101638"/>
            </a:solidFill>
            <a:prstDash val="solid"/>
            <a:tailEnd type="triangle" w="sm" len="sm"/>
          </a:ln>
        </p:spPr>
      </p:cxnSp>
      <p:cxnSp>
        <p:nvCxnSpPr>
          <p:cNvPr id="111" name=""/>
          <p:cNvCxnSpPr>
            <a:stCxn xmlns:a="http://schemas.openxmlformats.org/drawingml/2006/main" id="34" idx="3"/>
            <a:endCxn xmlns:a="http://schemas.openxmlformats.org/drawingml/2006/main" id="41" idx="1"/>
          </p:cNvCxnSpPr>
          <p:nvPr/>
        </p:nvCxnSpPr>
        <p:spPr>
          <a:xfrm xmlns:a="http://schemas.openxmlformats.org/drawingml/2006/main">
            <a:off x="5667375" y="6896100"/>
            <a:ext cx="2667000" cy="190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6193">
            <a:solidFill>
              <a:srgbClr val="101638"/>
            </a:solidFill>
            <a:prstDash val="solid"/>
            <a:tailEnd type="triangle" w="sm" len="sm"/>
          </a:ln>
        </p:spPr>
      </p:cxnSp>
      <p:cxnSp>
        <p:nvCxnSpPr>
          <p:cNvPr id="112" name=""/>
          <p:cNvCxnSpPr>
            <a:stCxn xmlns:a="http://schemas.openxmlformats.org/drawingml/2006/main" id="34" idx="2"/>
            <a:endCxn xmlns:a="http://schemas.openxmlformats.org/drawingml/2006/main" id="40" idx="1"/>
          </p:cNvCxnSpPr>
          <p:nvPr/>
        </p:nvCxnSpPr>
        <p:spPr>
          <a:xfrm xmlns:a="http://schemas.openxmlformats.org/drawingml/2006/main">
            <a:off x="4857750" y="7419975"/>
            <a:ext cx="1524000" cy="404813"/>
          </a:xfrm>
          <a:prstGeom xmlns:a="http://schemas.openxmlformats.org/drawingml/2006/main" prst="bentConnector3">
            <a:avLst>
              <a:gd name="adj1" fmla="val 0"/>
            </a:avLst>
          </a:prstGeom>
          <a:ln xmlns:a="http://schemas.openxmlformats.org/drawingml/2006/main" w="16193">
            <a:solidFill>
              <a:srgbClr val="101638"/>
            </a:solidFill>
            <a:prstDash val="solid"/>
            <a:tailEnd type="triangle" w="sm" len="sm"/>
          </a:ln>
        </p:spPr>
      </p:cxnSp>
      <p:sp>
        <p:nvSpPr>
          <p:cNvPr id="50" name="feature-branch">
            <a:extLst xmlns:a="http://schemas.openxmlformats.org/drawingml/2006/main">
              <a:ext uri="{FF2B5EF4-FFF2-40B4-BE49-F238E27FC236}">
                <a16:creationId xmlns:a16="http://schemas.microsoft.com/office/drawing/2014/main" id="{9AE3D454-0D42-4233-8D17-EB8F564C3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6896100"/>
            <a:ext cx="19050" cy="190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12383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cxnSp>
        <p:nvCxnSpPr>
          <p:cNvPr id="114" name=""/>
          <p:cNvCxnSpPr>
            <a:stCxn xmlns:a="http://schemas.openxmlformats.org/drawingml/2006/main" id="50" idx="2"/>
            <a:endCxn xmlns:a="http://schemas.openxmlformats.org/drawingml/2006/main" id="42" idx="1"/>
          </p:cNvCxnSpPr>
          <p:nvPr/>
        </p:nvCxnSpPr>
        <p:spPr>
          <a:xfrm xmlns:a="http://schemas.openxmlformats.org/drawingml/2006/main">
            <a:off x="8086725" y="6915150"/>
            <a:ext cx="247650" cy="966788"/>
          </a:xfrm>
          <a:prstGeom xmlns:a="http://schemas.openxmlformats.org/drawingml/2006/main" prst="bentConnector3">
            <a:avLst>
              <a:gd name="adj1" fmla="val 0"/>
            </a:avLst>
          </a:prstGeom>
          <a:ln xmlns:a="http://schemas.openxmlformats.org/drawingml/2006/main" w="16193">
            <a:solidFill>
              <a:srgbClr val="101638"/>
            </a:solidFill>
            <a:prstDash val="solid"/>
            <a:tailEnd type="triangle" w="sm" len="sm"/>
          </a:ln>
        </p:spPr>
      </p:cxnSp>
      <p:cxnSp>
        <p:nvCxnSpPr>
          <p:cNvPr id="115" name=""/>
          <p:cNvCxnSpPr>
            <a:stCxn xmlns:a="http://schemas.openxmlformats.org/drawingml/2006/main" id="40" idx="3"/>
            <a:endCxn xmlns:a="http://schemas.openxmlformats.org/drawingml/2006/main" id="42" idx="1"/>
          </p:cNvCxnSpPr>
          <p:nvPr/>
        </p:nvCxnSpPr>
        <p:spPr>
          <a:xfrm xmlns:a="http://schemas.openxmlformats.org/drawingml/2006/main">
            <a:off x="7953375" y="7824788"/>
            <a:ext cx="381000" cy="571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6193">
            <a:solidFill>
              <a:srgbClr val="9857FF"/>
            </a:solidFill>
            <a:prstDash val="dash"/>
            <a:tailEnd type="triangle" w="sm" len="sm"/>
          </a:ln>
        </p:spPr>
      </p:cxnSp>
      <p:cxnSp>
        <p:nvCxnSpPr>
          <p:cNvPr id="116" name=""/>
          <p:cNvCxnSpPr>
            <a:stCxn xmlns:a="http://schemas.openxmlformats.org/drawingml/2006/main" id="41" idx="3"/>
            <a:endCxn xmlns:a="http://schemas.openxmlformats.org/drawingml/2006/main" id="43" idx="1"/>
          </p:cNvCxnSpPr>
          <p:nvPr/>
        </p:nvCxnSpPr>
        <p:spPr>
          <a:xfrm xmlns:a="http://schemas.openxmlformats.org/drawingml/2006/main">
            <a:off x="9906000" y="6915150"/>
            <a:ext cx="152400" cy="4857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6193">
            <a:solidFill>
              <a:srgbClr val="101638"/>
            </a:solidFill>
            <a:prstDash val="solid"/>
            <a:tailEnd type="triangle" w="sm" len="sm"/>
          </a:ln>
        </p:spPr>
      </p:cxnSp>
      <p:cxnSp>
        <p:nvCxnSpPr>
          <p:cNvPr id="117" name=""/>
          <p:cNvCxnSpPr>
            <a:stCxn xmlns:a="http://schemas.openxmlformats.org/drawingml/2006/main" id="42" idx="3"/>
            <a:endCxn xmlns:a="http://schemas.openxmlformats.org/drawingml/2006/main" id="43" idx="1"/>
          </p:cNvCxnSpPr>
          <p:nvPr/>
        </p:nvCxnSpPr>
        <p:spPr>
          <a:xfrm xmlns:a="http://schemas.openxmlformats.org/drawingml/2006/main" flipV="1">
            <a:off x="9906000" y="7400925"/>
            <a:ext cx="152400" cy="48101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6193">
            <a:solidFill>
              <a:srgbClr val="101638"/>
            </a:solidFill>
            <a:prstDash val="solid"/>
            <a:tailEnd type="triangle" w="sm" len="sm"/>
          </a:ln>
        </p:spPr>
      </p:cxnSp>
      <p:cxnSp>
        <p:nvCxnSpPr>
          <p:cNvPr id="118" name=""/>
          <p:cNvCxnSpPr>
            <a:stCxn xmlns:a="http://schemas.openxmlformats.org/drawingml/2006/main" id="39" idx="3"/>
            <a:endCxn xmlns:a="http://schemas.openxmlformats.org/drawingml/2006/main" id="44" idx="2"/>
          </p:cNvCxnSpPr>
          <p:nvPr/>
        </p:nvCxnSpPr>
        <p:spPr>
          <a:xfrm xmlns:a="http://schemas.openxmlformats.org/drawingml/2006/main">
            <a:off x="10668000" y="5753100"/>
            <a:ext cx="781050" cy="381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6193">
            <a:solidFill>
              <a:srgbClr val="101638"/>
            </a:solidFill>
            <a:prstDash val="solid"/>
            <a:tailEnd type="triangle" w="sm" len="sm"/>
          </a:ln>
        </p:spPr>
      </p:cxnSp>
      <p:cxnSp>
        <p:nvCxnSpPr>
          <p:cNvPr id="119" name=""/>
          <p:cNvCxnSpPr>
            <a:stCxn xmlns:a="http://schemas.openxmlformats.org/drawingml/2006/main" id="43" idx="3"/>
            <a:endCxn xmlns:a="http://schemas.openxmlformats.org/drawingml/2006/main" id="44" idx="4"/>
          </p:cNvCxnSpPr>
          <p:nvPr/>
        </p:nvCxnSpPr>
        <p:spPr>
          <a:xfrm xmlns:a="http://schemas.openxmlformats.org/drawingml/2006/main" flipV="1">
            <a:off x="11010900" y="6010275"/>
            <a:ext cx="657225" cy="1390650"/>
          </a:xfrm>
          <a:prstGeom xmlns:a="http://schemas.openxmlformats.org/drawingml/2006/main" prst="bentConnector2">
            <a:avLst/>
          </a:prstGeom>
          <a:ln xmlns:a="http://schemas.openxmlformats.org/drawingml/2006/main" w="16193">
            <a:solidFill>
              <a:srgbClr val="101638"/>
            </a:solidFill>
            <a:prstDash val="solid"/>
            <a:tailEnd type="triangle" w="sm" len="sm"/>
          </a:ln>
        </p:spPr>
      </p:cxnSp>
      <p:cxnSp>
        <p:nvCxnSpPr>
          <p:cNvPr id="120" name=""/>
          <p:cNvCxnSpPr>
            <a:stCxn xmlns:a="http://schemas.openxmlformats.org/drawingml/2006/main" id="44" idx="6"/>
            <a:endCxn xmlns:a="http://schemas.openxmlformats.org/drawingml/2006/main" id="45" idx="1"/>
          </p:cNvCxnSpPr>
          <p:nvPr/>
        </p:nvCxnSpPr>
        <p:spPr>
          <a:xfrm xmlns:a="http://schemas.openxmlformats.org/drawingml/2006/main">
            <a:off x="11887200" y="5791200"/>
            <a:ext cx="400050" cy="110966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6193">
            <a:solidFill>
              <a:srgbClr val="101638"/>
            </a:solidFill>
            <a:prstDash val="solid"/>
            <a:tailEnd type="triangle" w="sm" len="sm"/>
          </a:ln>
        </p:spPr>
      </p:cxnSp>
      <p:cxnSp>
        <p:nvCxnSpPr>
          <p:cNvPr id="121" name=""/>
          <p:cNvCxnSpPr>
            <a:stCxn xmlns:a="http://schemas.openxmlformats.org/drawingml/2006/main" id="45" idx="3"/>
            <a:endCxn xmlns:a="http://schemas.openxmlformats.org/drawingml/2006/main" id="46" idx="1"/>
          </p:cNvCxnSpPr>
          <p:nvPr/>
        </p:nvCxnSpPr>
        <p:spPr>
          <a:xfrm xmlns:a="http://schemas.openxmlformats.org/drawingml/2006/main">
            <a:off x="14144625" y="6900863"/>
            <a:ext cx="619125" cy="2381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6193">
            <a:solidFill>
              <a:srgbClr val="101638"/>
            </a:solidFill>
            <a:prstDash val="solid"/>
            <a:tailEnd type="triangle" w="sm" len="sm"/>
          </a:ln>
        </p:spPr>
      </p:cxnSp>
      <p:sp>
        <p:nvSpPr>
          <p:cNvPr id="59" name="a-next">
            <a:extLst xmlns:a="http://schemas.openxmlformats.org/drawingml/2006/main">
              <a:ext uri="{FF2B5EF4-FFF2-40B4-BE49-F238E27FC236}">
                <a16:creationId xmlns:a16="http://schemas.microsoft.com/office/drawing/2014/main" id="{241656A5-F98A-41B4-BC14-12C89759D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44625" y="6477000"/>
            <a:ext cx="619125" cy="266700"/>
          </a:xfrm>
          <a:prstGeom xmlns:a="http://schemas.openxmlformats.org/drawingml/2006/main" prst="roundRect">
            <a:avLst>
              <a:gd name="adj" fmla="val 28571"/>
            </a:avLst>
          </a:prstGeom>
          <a:noFill xmlns:a="http://schemas.openxmlformats.org/drawingml/2006/main"/>
          <a:ln xmlns:a="http://schemas.openxmlformats.org/drawingml/2006/main" w="12383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1769B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1769B1"/>
                </a:solidFill>
                <a:latin typeface="Times New Roman"/>
                <a:ea typeface="Times New Roman"/>
                <a:cs typeface="Times New Roman"/>
              </a:rPr>
              <a:t>aₙ₊₁</a:t>
            </a:r>
          </a:p>
        </p:txBody>
      </p:sp>
      <p:sp>
        <p:nvSpPr>
          <p:cNvPr id="60" name="b-next">
            <a:extLst xmlns:a="http://schemas.openxmlformats.org/drawingml/2006/main">
              <a:ext uri="{FF2B5EF4-FFF2-40B4-BE49-F238E27FC236}">
                <a16:creationId xmlns:a16="http://schemas.microsoft.com/office/drawing/2014/main" id="{FE188B56-9886-4731-901A-194492AF4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0" y="7600950"/>
            <a:ext cx="2047875" cy="285750"/>
          </a:xfrm>
          <a:prstGeom xmlns:a="http://schemas.openxmlformats.org/drawingml/2006/main" prst="roundRect">
            <a:avLst>
              <a:gd name="adj" fmla="val 26667"/>
            </a:avLst>
          </a:prstGeom>
          <a:noFill xmlns:a="http://schemas.openxmlformats.org/drawingml/2006/main"/>
          <a:ln xmlns:a="http://schemas.openxmlformats.org/drawingml/2006/main" w="12383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1769B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1769B1"/>
                </a:solidFill>
                <a:latin typeface="Times New Roman"/>
                <a:ea typeface="Times New Roman"/>
                <a:cs typeface="Times New Roman"/>
              </a:rPr>
              <a:t>Output: bₙ₊₁</a:t>
            </a:r>
          </a:p>
        </p:txBody>
      </p:sp>
      <p:sp>
        <p:nvSpPr>
          <p:cNvPr id="61" name="vel-label">
            <a:extLst xmlns:a="http://schemas.openxmlformats.org/drawingml/2006/main">
              <a:ext uri="{FF2B5EF4-FFF2-40B4-BE49-F238E27FC236}">
                <a16:creationId xmlns:a16="http://schemas.microsoft.com/office/drawing/2014/main" id="{46E3E0E3-AD69-45FF-984E-07D21F0DB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7505700"/>
            <a:ext cx="1857375" cy="285750"/>
          </a:xfrm>
          <a:prstGeom xmlns:a="http://schemas.openxmlformats.org/drawingml/2006/main" prst="roundRect">
            <a:avLst>
              <a:gd name="adj" fmla="val 26667"/>
            </a:avLst>
          </a:prstGeom>
          <a:noFill xmlns:a="http://schemas.openxmlformats.org/drawingml/2006/main"/>
          <a:ln xmlns:a="http://schemas.openxmlformats.org/drawingml/2006/main" w="12383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769B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1769B1"/>
                </a:solidFill>
                <a:latin typeface="Times New Roman"/>
                <a:ea typeface="Times New Roman"/>
                <a:cs typeface="Times New Roman"/>
              </a:rPr>
              <a:t>Velocity update</a:t>
            </a:r>
          </a:p>
        </p:txBody>
      </p:sp>
      <p:sp>
        <p:nvSpPr>
          <p:cNvPr id="62" name="branch-types">
            <a:extLst xmlns:a="http://schemas.openxmlformats.org/drawingml/2006/main">
              <a:ext uri="{FF2B5EF4-FFF2-40B4-BE49-F238E27FC236}">
                <a16:creationId xmlns:a16="http://schemas.microsoft.com/office/drawing/2014/main" id="{AB5E7D9D-365E-4D5C-B6A3-75FE12D0F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8305800"/>
            <a:ext cx="4429125" cy="228600"/>
          </a:xfrm>
          <a:prstGeom xmlns:a="http://schemas.openxmlformats.org/drawingml/2006/main" prst="roundRect">
            <a:avLst>
              <a:gd name="adj" fmla="val 33333"/>
            </a:avLst>
          </a:prstGeom>
          <a:noFill xmlns:a="http://schemas.openxmlformats.org/drawingml/2006/main"/>
          <a:ln xmlns:a="http://schemas.openxmlformats.org/drawingml/2006/main" w="12383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016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>
                <a:solidFill>
                  <a:srgbClr val="101638"/>
                </a:solidFill>
                <a:latin typeface="Times New Roman"/>
                <a:ea typeface="Times New Roman"/>
                <a:cs typeface="Times New Roman"/>
              </a:rPr>
              <a:t>nonlinear + affine + low-rank bilinear</a:t>
            </a:r>
          </a:p>
        </p:txBody>
      </p:sp>
      <p:sp>
        <p:nvSpPr>
          <p:cNvPr id="63" name="control-key">
            <a:extLst xmlns:a="http://schemas.openxmlformats.org/drawingml/2006/main">
              <a:ext uri="{FF2B5EF4-FFF2-40B4-BE49-F238E27FC236}">
                <a16:creationId xmlns:a16="http://schemas.microsoft.com/office/drawing/2014/main" id="{DB5A873C-5355-4798-B00B-23EE351AE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63375" y="8239125"/>
            <a:ext cx="4953000" cy="247650"/>
          </a:xfrm>
          <a:prstGeom xmlns:a="http://schemas.openxmlformats.org/drawingml/2006/main" prst="roundRect">
            <a:avLst>
              <a:gd name="adj" fmla="val 30769"/>
            </a:avLst>
          </a:prstGeom>
          <a:noFill xmlns:a="http://schemas.openxmlformats.org/drawingml/2006/main"/>
          <a:ln xmlns:a="http://schemas.openxmlformats.org/drawingml/2006/main" w="12383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7650A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7650A0"/>
                </a:solidFill>
                <a:latin typeface="Times New Roman"/>
                <a:ea typeface="Times New Roman"/>
                <a:cs typeface="Times New Roman"/>
              </a:rPr>
              <a:t>Dashed arrow: expert selection and weights</a:t>
            </a:r>
          </a:p>
        </p:txBody>
      </p:sp>
    </p:spTree>
    <p:extLst>
      <p:ext uri="{BB962C8B-B14F-4D97-AF65-F5344CB8AC3E}">
        <p14:creationId xmlns:p14="http://schemas.microsoft.com/office/powerpoint/2010/main" val="49217481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2026-09-24T02:41:44.3270000Z</dcterms:created>
  <dcterms:modified xsi:type="dcterms:W3CDTF">2026-09-24T02:41:44.3270000Z</dcterms:modified>
</coreProperties>
</file>