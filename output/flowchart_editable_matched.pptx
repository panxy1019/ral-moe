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1196f05d6504091" /><Relationship Type="http://schemas.openxmlformats.org/officeDocument/2006/relationships/extended-properties" Target="/docProps/app.xml" Id="R9c85e114f1da4d97" /><Relationship Type="http://schemas.openxmlformats.org/officeDocument/2006/relationships/officeDocument" Target="/ppt/presentation.xml" Id="R96865980e58d40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f410b0f030d4b8d"/>
  </p:sldMasterIdLst>
  <p:notesMasterIdLst>
    <p:notesMasterId xmlns:r="http://schemas.openxmlformats.org/officeDocument/2006/relationships" r:id="Rf1cdaf4283a1409c"/>
  </p:notesMasterIdLst>
  <p:sldIdLst>
    <p:sldId xmlns:r="http://schemas.openxmlformats.org/officeDocument/2006/relationships" id="256" r:id="Rce7e749b82f84f77"/>
  </p:sldIdLst>
  <p:sldSz cx="17345025" cy="82296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376e84987bf4383" /><Relationship Type="http://schemas.openxmlformats.org/officeDocument/2006/relationships/slideMaster" Target="/ppt/slideMasters/slideMaster1.xml" Id="R6f410b0f030d4b8d" /><Relationship Type="http://schemas.openxmlformats.org/officeDocument/2006/relationships/notesMaster" Target="/ppt/notesMasters/notesMaster1.xml" Id="Rf1cdaf4283a1409c" /><Relationship Type="http://schemas.openxmlformats.org/officeDocument/2006/relationships/presProps" Target="/ppt/presProps.xml" Id="R5b72ee350bbc4fa6" /><Relationship Type="http://schemas.openxmlformats.org/officeDocument/2006/relationships/tableStyles" Target="/ppt/tableStyles.xml" Id="R2f5c45ea7fa84cab" /><Relationship Type="http://schemas.openxmlformats.org/officeDocument/2006/relationships/slide" Target="/ppt/slides/slide1.xml" Id="Rce7e749b82f84f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16ecbb392e843f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83af76126924bae" /><Relationship Type="http://schemas.openxmlformats.org/officeDocument/2006/relationships/notesMaster" Target="/ppt/notesMasters/notesMaster1.xml" Id="Rce481594ec644e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8621fac069403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acc94c5baee4c01" /><Relationship Type="http://schemas.openxmlformats.org/officeDocument/2006/relationships/slideLayout" Target="/ppt/slideLayouts/slideLayout1.xml" Id="R4deeacef90df462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eeacef90df462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6d3a76e4bd4058" /><Relationship Type="http://schemas.openxmlformats.org/officeDocument/2006/relationships/notesSlide" Target="/ppt/notesSlides/notesSlide1.xml" Id="R7770b0ef24214cd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C9ABC3C7-7319-4498-BD9A-D8D1F3503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133350"/>
            <a:ext cx="17135475" cy="4133850"/>
          </a:xfrm>
          <a:prstGeom xmlns:a="http://schemas.openxmlformats.org/drawingml/2006/main" prst="roundRect">
            <a:avLst>
              <a:gd name="adj" fmla="val 41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5B0FF"/>
            </a:solidFill>
            <a:prstDash val="dash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E6D471-2743-4A53-8D38-EE5496C51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4495800"/>
            <a:ext cx="17135475" cy="333375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FFEFC"/>
          </a:solidFill>
          <a:ln xmlns:a="http://schemas.openxmlformats.org/drawingml/2006/main" w="14288">
            <a:solidFill>
              <a:srgbClr val="75B0FF"/>
            </a:solidFill>
            <a:prstDash val="dash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5EB27E-05D3-4234-BA9E-7BE02588F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142875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80E3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080E36"/>
                </a:solidFill>
                <a:latin typeface="Times New Roman"/>
                <a:ea typeface="Times New Roman"/>
                <a:cs typeface="Times New Roman"/>
              </a:rPr>
              <a:t>(a)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1426A7-346F-46BE-B048-A8D7C0071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3335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0A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080A16"/>
                </a:solidFill>
                <a:latin typeface="Times New Roman"/>
                <a:ea typeface="Times New Roman"/>
                <a:cs typeface="Times New Roman"/>
              </a:rPr>
              <a:t>Global routing and physical-space assembly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70A232-ACAA-494C-81DB-8A03045A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42925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6CB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76CB1"/>
                </a:solidFill>
                <a:latin typeface="Times New Roman"/>
                <a:ea typeface="Times New Roman"/>
                <a:cs typeface="Times New Roman"/>
              </a:rPr>
              <a:t>Level 2: regime routing and specialist assembly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ECCD63-69BD-4E0E-97D3-11B265C24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453390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80E3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080E36"/>
                </a:solidFill>
                <a:latin typeface="Times New Roman"/>
                <a:ea typeface="Times New Roman"/>
                <a:cs typeface="Times New Roman"/>
              </a:rPr>
              <a:t>(b)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69ABB1-0289-4307-80FD-58AB5E3F9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5339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0E3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080E36"/>
                </a:solidFill>
                <a:latin typeface="Times New Roman"/>
                <a:ea typeface="Times New Roman"/>
                <a:cs typeface="Times New Roman"/>
              </a:rPr>
              <a:t>One regime-local specialist (e.g., Hopf specialist)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6E6BD7-49AB-455B-B6E8-BCE3127CD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339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6CB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76CB1"/>
                </a:solidFill>
                <a:latin typeface="Times New Roman"/>
                <a:ea typeface="Times New Roman"/>
                <a:cs typeface="Times New Roman"/>
              </a:rPr>
              <a:t>Level 1: sparse expert routing inside a specialist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68B325-964A-4067-A95B-6913AD97F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1647825"/>
            <a:ext cx="685800" cy="523875"/>
          </a:xfrm>
          <a:custGeom xmlns:a="http://schemas.openxmlformats.org/drawingml/2006/main">
            <a:pathLst>
              <a:path w="685800" h="523875">
                <a:moveTo>
                  <a:pt x="0" y="0"/>
                </a:moveTo>
                <a:lnTo>
                  <a:pt x="276225" y="0"/>
                </a:lnTo>
                <a:lnTo>
                  <a:pt x="276225" y="523875"/>
                </a:lnTo>
                <a:lnTo>
                  <a:pt x="685800" y="523875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080E3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2C685F-A927-4BC3-83C6-94DB742C6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124075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080E36"/>
          </a:solidFill>
          <a:ln xmlns:a="http://schemas.openxmlformats.org/drawingml/2006/main" w="0">
            <a:solidFill>
              <a:srgbClr val="080E3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16B6C2-0896-43B4-A418-4EB641FA9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714625"/>
            <a:ext cx="685800" cy="485775"/>
          </a:xfrm>
          <a:custGeom xmlns:a="http://schemas.openxmlformats.org/drawingml/2006/main">
            <a:pathLst>
              <a:path w="685800" h="485775">
                <a:moveTo>
                  <a:pt x="0" y="485775"/>
                </a:moveTo>
                <a:lnTo>
                  <a:pt x="276225" y="485775"/>
                </a:lnTo>
                <a:lnTo>
                  <a:pt x="276225" y="0"/>
                </a:lnTo>
                <a:lnTo>
                  <a:pt x="685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080E3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7B82CB-7C91-4A17-9F7B-5CDBD901F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667000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080E36"/>
          </a:solidFill>
          <a:ln xmlns:a="http://schemas.openxmlformats.org/drawingml/2006/main" w="0">
            <a:solidFill>
              <a:srgbClr val="080E3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B2EF68-BA31-4DD4-9414-4C3575C7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343150"/>
            <a:ext cx="504825" cy="9525"/>
          </a:xfrm>
          <a:custGeom xmlns:a="http://schemas.openxmlformats.org/drawingml/2006/main">
            <a:pathLst>
              <a:path w="504825" h="9525">
                <a:moveTo>
                  <a:pt x="0" y="0"/>
                </a:moveTo>
                <a:lnTo>
                  <a:pt x="504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080E3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3543E1-C952-4826-BE81-3EB94E514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95525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080E36"/>
          </a:solidFill>
          <a:ln xmlns:a="http://schemas.openxmlformats.org/drawingml/2006/main" w="0">
            <a:solidFill>
              <a:srgbClr val="080E3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7664AC-A2E7-4B9E-9226-633D03AF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1524000"/>
            <a:ext cx="561975" cy="781050"/>
          </a:xfrm>
          <a:custGeom xmlns:a="http://schemas.openxmlformats.org/drawingml/2006/main">
            <a:pathLst>
              <a:path w="561975" h="781050">
                <a:moveTo>
                  <a:pt x="0" y="781050"/>
                </a:moveTo>
                <a:lnTo>
                  <a:pt x="238125" y="781050"/>
                </a:lnTo>
                <a:lnTo>
                  <a:pt x="238125" y="0"/>
                </a:lnTo>
                <a:lnTo>
                  <a:pt x="561975" y="3810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080E3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85902B-600D-449A-A9F9-068659DB0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9918" y="1501446"/>
            <a:ext cx="119082" cy="94598"/>
          </a:xfrm>
          <a:custGeom xmlns:a="http://schemas.openxmlformats.org/drawingml/2006/main">
            <a:pathLst>
              <a:path w="119082" h="94598">
                <a:moveTo>
                  <a:pt x="119082" y="60654"/>
                </a:moveTo>
                <a:lnTo>
                  <a:pt x="11129" y="0"/>
                </a:lnTo>
                <a:lnTo>
                  <a:pt x="0" y="94598"/>
                </a:lnTo>
                <a:close/>
              </a:path>
            </a:pathLst>
          </a:custGeom>
          <a:solidFill xmlns:a="http://schemas.openxmlformats.org/drawingml/2006/main">
            <a:srgbClr val="080E36"/>
          </a:solidFill>
          <a:ln xmlns:a="http://schemas.openxmlformats.org/drawingml/2006/main" w="0">
            <a:solidFill>
              <a:srgbClr val="080E3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CBE65A-6D1A-46DC-9A58-10F1B864C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1333500"/>
            <a:ext cx="1476375" cy="9525"/>
          </a:xfrm>
          <a:custGeom xmlns:a="http://schemas.openxmlformats.org/drawingml/2006/main">
            <a:pathLst>
              <a:path w="1476375" h="9525">
                <a:moveTo>
                  <a:pt x="0" y="0"/>
                </a:moveTo>
                <a:lnTo>
                  <a:pt x="1476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080E3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F37A79-B462-41F3-A5F3-4E7440A79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285875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080E36"/>
          </a:solidFill>
          <a:ln xmlns:a="http://schemas.openxmlformats.org/drawingml/2006/main" w="0">
            <a:solidFill>
              <a:srgbClr val="080E3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4F1215-7E7D-4A04-ABAB-5AFB98629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24100"/>
            <a:ext cx="1790700" cy="685800"/>
          </a:xfrm>
          <a:custGeom xmlns:a="http://schemas.openxmlformats.org/drawingml/2006/main">
            <a:pathLst>
              <a:path w="1790700" h="685800">
                <a:moveTo>
                  <a:pt x="0" y="0"/>
                </a:moveTo>
                <a:lnTo>
                  <a:pt x="0" y="685800"/>
                </a:lnTo>
                <a:lnTo>
                  <a:pt x="1790700" y="68580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080E3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3ECCED-487D-4077-9871-5DE7D6693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62275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080E36"/>
          </a:solidFill>
          <a:ln xmlns:a="http://schemas.openxmlformats.org/drawingml/2006/main" w="0">
            <a:solidFill>
              <a:srgbClr val="080E3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0740A3-EC77-47A9-B30D-C8D88DF1E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1323975"/>
            <a:ext cx="3657600" cy="552450"/>
          </a:xfrm>
          <a:custGeom xmlns:a="http://schemas.openxmlformats.org/drawingml/2006/main">
            <a:pathLst>
              <a:path w="3657600" h="552450">
                <a:moveTo>
                  <a:pt x="0" y="0"/>
                </a:moveTo>
                <a:lnTo>
                  <a:pt x="3657600" y="0"/>
                </a:lnTo>
                <a:lnTo>
                  <a:pt x="3657600" y="55245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080E36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9AF0FC-5259-4596-AF8F-0FBB247B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97225" y="1762125"/>
            <a:ext cx="95250" cy="114300"/>
          </a:xfrm>
          <a:custGeom xmlns:a="http://schemas.openxmlformats.org/drawingml/2006/main">
            <a:pathLst>
              <a:path w="95250" h="114300">
                <a:moveTo>
                  <a:pt x="47625" y="11430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80E36"/>
          </a:solidFill>
          <a:ln xmlns:a="http://schemas.openxmlformats.org/drawingml/2006/main" w="0">
            <a:solidFill>
              <a:srgbClr val="080E36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9D0BAE-39D7-473B-8945-B6D3919DD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857625"/>
            <a:ext cx="7362825" cy="9525"/>
          </a:xfrm>
          <a:custGeom xmlns:a="http://schemas.openxmlformats.org/drawingml/2006/main">
            <a:pathLst>
              <a:path w="7362825" h="9525">
                <a:moveTo>
                  <a:pt x="0" y="9525"/>
                </a:moveTo>
                <a:lnTo>
                  <a:pt x="7362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080E3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623D02-76E9-4EC3-93E7-CB3CECEBB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438" y="3810148"/>
            <a:ext cx="114362" cy="95250"/>
          </a:xfrm>
          <a:custGeom xmlns:a="http://schemas.openxmlformats.org/drawingml/2006/main">
            <a:pathLst>
              <a:path w="114362" h="95250">
                <a:moveTo>
                  <a:pt x="114362" y="47477"/>
                </a:moveTo>
                <a:lnTo>
                  <a:pt x="0" y="0"/>
                </a:lnTo>
                <a:lnTo>
                  <a:pt x="123" y="95250"/>
                </a:lnTo>
                <a:close/>
              </a:path>
            </a:pathLst>
          </a:custGeom>
          <a:solidFill xmlns:a="http://schemas.openxmlformats.org/drawingml/2006/main">
            <a:srgbClr val="080E36"/>
          </a:solidFill>
          <a:ln xmlns:a="http://schemas.openxmlformats.org/drawingml/2006/main" w="0">
            <a:solidFill>
              <a:srgbClr val="080E36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25A11C-0461-47F4-94B8-FC6C8CE1B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733675"/>
            <a:ext cx="9525" cy="1123950"/>
          </a:xfrm>
          <a:custGeom xmlns:a="http://schemas.openxmlformats.org/drawingml/2006/main">
            <a:pathLst>
              <a:path w="9525" h="1123950">
                <a:moveTo>
                  <a:pt x="0" y="11239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080E36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437C7F-512B-4BB6-8E44-6CECD78E1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733675"/>
            <a:ext cx="95250" cy="114300"/>
          </a:xfrm>
          <a:custGeom xmlns:a="http://schemas.openxmlformats.org/drawingml/2006/main">
            <a:pathLst>
              <a:path w="95250" h="114300">
                <a:moveTo>
                  <a:pt x="47625" y="0"/>
                </a:moveTo>
                <a:lnTo>
                  <a:pt x="0" y="114300"/>
                </a:lnTo>
                <a:lnTo>
                  <a:pt x="95250" y="114300"/>
                </a:lnTo>
                <a:close/>
              </a:path>
            </a:pathLst>
          </a:custGeom>
          <a:solidFill xmlns:a="http://schemas.openxmlformats.org/drawingml/2006/main">
            <a:srgbClr val="080E36"/>
          </a:solidFill>
          <a:ln xmlns:a="http://schemas.openxmlformats.org/drawingml/2006/main" w="0">
            <a:solidFill>
              <a:srgbClr val="080E36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20F722-F980-4EFD-8CAC-2B75BBE17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6775" y="2266950"/>
            <a:ext cx="1114425" cy="342900"/>
          </a:xfrm>
          <a:custGeom xmlns:a="http://schemas.openxmlformats.org/drawingml/2006/main">
            <a:pathLst>
              <a:path w="1114425" h="342900">
                <a:moveTo>
                  <a:pt x="0" y="0"/>
                </a:moveTo>
                <a:lnTo>
                  <a:pt x="419100" y="0"/>
                </a:lnTo>
                <a:lnTo>
                  <a:pt x="419100" y="342900"/>
                </a:lnTo>
                <a:lnTo>
                  <a:pt x="1114425" y="34290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080E36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4668C0-26CF-476B-8481-FFC748DCA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2562225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080E36"/>
          </a:solidFill>
          <a:ln xmlns:a="http://schemas.openxmlformats.org/drawingml/2006/main" w="0">
            <a:solidFill>
              <a:srgbClr val="080E36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E24BEA-025B-4C82-8B9E-6230BB113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6775" y="2609850"/>
            <a:ext cx="419100" cy="381000"/>
          </a:xfrm>
          <a:custGeom xmlns:a="http://schemas.openxmlformats.org/drawingml/2006/main">
            <a:pathLst>
              <a:path w="419100" h="381000">
                <a:moveTo>
                  <a:pt x="0" y="381000"/>
                </a:moveTo>
                <a:lnTo>
                  <a:pt x="419100" y="381000"/>
                </a:lnTo>
                <a:lnTo>
                  <a:pt x="419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080E36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10C06C-7B46-40B2-A758-3779D9D18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2609850"/>
            <a:ext cx="95250" cy="114300"/>
          </a:xfrm>
          <a:custGeom xmlns:a="http://schemas.openxmlformats.org/drawingml/2006/main">
            <a:pathLst>
              <a:path w="95250" h="114300">
                <a:moveTo>
                  <a:pt x="47625" y="0"/>
                </a:moveTo>
                <a:lnTo>
                  <a:pt x="0" y="114300"/>
                </a:lnTo>
                <a:lnTo>
                  <a:pt x="95250" y="114300"/>
                </a:lnTo>
                <a:close/>
              </a:path>
            </a:pathLst>
          </a:custGeom>
          <a:solidFill xmlns:a="http://schemas.openxmlformats.org/drawingml/2006/main">
            <a:srgbClr val="080E36"/>
          </a:solidFill>
          <a:ln xmlns:a="http://schemas.openxmlformats.org/drawingml/2006/main" w="0">
            <a:solidFill>
              <a:srgbClr val="080E36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2B1C55-3CA7-4859-89DB-4B0777098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6775" y="2886075"/>
            <a:ext cx="1390650" cy="971550"/>
          </a:xfrm>
          <a:custGeom xmlns:a="http://schemas.openxmlformats.org/drawingml/2006/main">
            <a:pathLst>
              <a:path w="1390650" h="971550">
                <a:moveTo>
                  <a:pt x="0" y="971550"/>
                </a:moveTo>
                <a:lnTo>
                  <a:pt x="1390650" y="971550"/>
                </a:lnTo>
                <a:lnTo>
                  <a:pt x="1390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080E36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DD866D9-AFD3-460C-A99C-1B24CC675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2886075"/>
            <a:ext cx="95250" cy="114300"/>
          </a:xfrm>
          <a:custGeom xmlns:a="http://schemas.openxmlformats.org/drawingml/2006/main">
            <a:pathLst>
              <a:path w="95250" h="114300">
                <a:moveTo>
                  <a:pt x="47625" y="0"/>
                </a:moveTo>
                <a:lnTo>
                  <a:pt x="0" y="114300"/>
                </a:lnTo>
                <a:lnTo>
                  <a:pt x="95250" y="114300"/>
                </a:lnTo>
                <a:close/>
              </a:path>
            </a:pathLst>
          </a:custGeom>
          <a:solidFill xmlns:a="http://schemas.openxmlformats.org/drawingml/2006/main">
            <a:srgbClr val="080E36"/>
          </a:solidFill>
          <a:ln xmlns:a="http://schemas.openxmlformats.org/drawingml/2006/main" w="0">
            <a:solidFill>
              <a:srgbClr val="080E36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8FBA07-76BE-44C8-B74E-830B41E0E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3175" y="2609850"/>
            <a:ext cx="990600" cy="9525"/>
          </a:xfrm>
          <a:custGeom xmlns:a="http://schemas.openxmlformats.org/drawingml/2006/main">
            <a:pathLst>
              <a:path w="990600" h="9525">
                <a:moveTo>
                  <a:pt x="0" y="0"/>
                </a:moveTo>
                <a:lnTo>
                  <a:pt x="990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080E36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C5ABA94-9535-4305-907B-137954B54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49475" y="2562225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080E36"/>
          </a:solidFill>
          <a:ln xmlns:a="http://schemas.openxmlformats.org/drawingml/2006/main" w="0">
            <a:solidFill>
              <a:srgbClr val="080E36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5994E29-55F3-4A22-B857-509B8D38F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6296025"/>
            <a:ext cx="295275" cy="9525"/>
          </a:xfrm>
          <a:custGeom xmlns:a="http://schemas.openxmlformats.org/drawingml/2006/main">
            <a:pathLst>
              <a:path w="295275" h="9525">
                <a:moveTo>
                  <a:pt x="0" y="0"/>
                </a:moveTo>
                <a:lnTo>
                  <a:pt x="295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080E36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9C066C0-488C-4909-9CE6-441C353D0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6248400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080E36"/>
          </a:solidFill>
          <a:ln xmlns:a="http://schemas.openxmlformats.org/drawingml/2006/main" w="0">
            <a:solidFill>
              <a:srgbClr val="080E36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B3F1224-73DD-457F-A1E0-03DF167E6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6296025"/>
            <a:ext cx="314325" cy="9525"/>
          </a:xfrm>
          <a:custGeom xmlns:a="http://schemas.openxmlformats.org/drawingml/2006/main">
            <a:pathLst>
              <a:path w="314325" h="9525">
                <a:moveTo>
                  <a:pt x="0" y="0"/>
                </a:moveTo>
                <a:lnTo>
                  <a:pt x="314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080E36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256F1F8-DBB0-45DD-9526-ED11F3B2E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6248400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080E36"/>
          </a:solidFill>
          <a:ln xmlns:a="http://schemas.openxmlformats.org/drawingml/2006/main" w="0">
            <a:solidFill>
              <a:srgbClr val="080E36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808C905-EF8C-419C-AB6C-96471B8B0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124450"/>
            <a:ext cx="1419225" cy="1171575"/>
          </a:xfrm>
          <a:custGeom xmlns:a="http://schemas.openxmlformats.org/drawingml/2006/main">
            <a:pathLst>
              <a:path w="1419225" h="1171575">
                <a:moveTo>
                  <a:pt x="0" y="1171575"/>
                </a:moveTo>
                <a:lnTo>
                  <a:pt x="209550" y="1171575"/>
                </a:lnTo>
                <a:lnTo>
                  <a:pt x="209550" y="0"/>
                </a:lnTo>
                <a:lnTo>
                  <a:pt x="1419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080E36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35412D8-667B-42FF-B7BA-47D45049B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5076825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080E36"/>
          </a:solidFill>
          <a:ln xmlns:a="http://schemas.openxmlformats.org/drawingml/2006/main" w="0">
            <a:solidFill>
              <a:srgbClr val="080E36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776578B-8FC3-4531-AD44-9F992CF89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6296025"/>
            <a:ext cx="476250" cy="333375"/>
          </a:xfrm>
          <a:custGeom xmlns:a="http://schemas.openxmlformats.org/drawingml/2006/main">
            <a:pathLst>
              <a:path w="476250" h="333375">
                <a:moveTo>
                  <a:pt x="0" y="0"/>
                </a:moveTo>
                <a:lnTo>
                  <a:pt x="0" y="333375"/>
                </a:lnTo>
                <a:lnTo>
                  <a:pt x="476250" y="333375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080E36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4E0B37B-1C19-4709-95BC-83502E1CE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6581775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080E36"/>
          </a:solidFill>
          <a:ln xmlns:a="http://schemas.openxmlformats.org/drawingml/2006/main" w="0">
            <a:solidFill>
              <a:srgbClr val="080E36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50A416B-061C-4B1A-8CC2-BB6FEDB9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5124450"/>
            <a:ext cx="752475" cy="590550"/>
          </a:xfrm>
          <a:custGeom xmlns:a="http://schemas.openxmlformats.org/drawingml/2006/main">
            <a:pathLst>
              <a:path w="752475" h="590550">
                <a:moveTo>
                  <a:pt x="0" y="0"/>
                </a:moveTo>
                <a:lnTo>
                  <a:pt x="752475" y="0"/>
                </a:lnTo>
                <a:lnTo>
                  <a:pt x="752475" y="59055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080E36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5ABB6B4-1FC2-457B-ACB4-2F5858ECF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5600700"/>
            <a:ext cx="95250" cy="114300"/>
          </a:xfrm>
          <a:custGeom xmlns:a="http://schemas.openxmlformats.org/drawingml/2006/main">
            <a:pathLst>
              <a:path w="95250" h="114300">
                <a:moveTo>
                  <a:pt x="47625" y="11430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80E36"/>
          </a:solidFill>
          <a:ln xmlns:a="http://schemas.openxmlformats.org/drawingml/2006/main" w="0">
            <a:solidFill>
              <a:srgbClr val="080E36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00BEBE0-9FEE-45DC-886B-7C5DE7DA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6143625"/>
            <a:ext cx="466725" cy="276225"/>
          </a:xfrm>
          <a:custGeom xmlns:a="http://schemas.openxmlformats.org/drawingml/2006/main">
            <a:pathLst>
              <a:path w="466725" h="276225">
                <a:moveTo>
                  <a:pt x="0" y="276225"/>
                </a:moveTo>
                <a:lnTo>
                  <a:pt x="219075" y="276225"/>
                </a:lnTo>
                <a:lnTo>
                  <a:pt x="219075" y="0"/>
                </a:lnTo>
                <a:lnTo>
                  <a:pt x="466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080E36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049B69D-9670-4223-BEA1-75153D51E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6096000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080E36"/>
          </a:solidFill>
          <a:ln xmlns:a="http://schemas.openxmlformats.org/drawingml/2006/main" w="0">
            <a:solidFill>
              <a:srgbClr val="080E36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66D4719-6D38-46EB-B586-13BD52512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6619875"/>
            <a:ext cx="466725" cy="323850"/>
          </a:xfrm>
          <a:custGeom xmlns:a="http://schemas.openxmlformats.org/drawingml/2006/main">
            <a:pathLst>
              <a:path w="466725" h="323850">
                <a:moveTo>
                  <a:pt x="0" y="0"/>
                </a:moveTo>
                <a:lnTo>
                  <a:pt x="219075" y="0"/>
                </a:lnTo>
                <a:lnTo>
                  <a:pt x="219075" y="323850"/>
                </a:lnTo>
                <a:lnTo>
                  <a:pt x="466725" y="32385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080E36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2EB511D-ACD2-4918-B29A-A29F166BB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6896100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080E36"/>
          </a:solidFill>
          <a:ln xmlns:a="http://schemas.openxmlformats.org/drawingml/2006/main" w="0">
            <a:solidFill>
              <a:srgbClr val="080E36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A89DAD7-3534-4A60-8E54-17D59913F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6143625"/>
            <a:ext cx="447675" cy="342900"/>
          </a:xfrm>
          <a:custGeom xmlns:a="http://schemas.openxmlformats.org/drawingml/2006/main">
            <a:pathLst>
              <a:path w="447675" h="342900">
                <a:moveTo>
                  <a:pt x="0" y="0"/>
                </a:moveTo>
                <a:lnTo>
                  <a:pt x="219075" y="0"/>
                </a:lnTo>
                <a:lnTo>
                  <a:pt x="219075" y="342900"/>
                </a:lnTo>
                <a:lnTo>
                  <a:pt x="447675" y="34290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080E36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2DE87D8-19DA-4A7E-99FE-4CC1056E3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6438900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080E36"/>
          </a:solidFill>
          <a:ln xmlns:a="http://schemas.openxmlformats.org/drawingml/2006/main" w="0">
            <a:solidFill>
              <a:srgbClr val="080E36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0B9FEE0-F7AA-4D44-9D23-F11A48B17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6686550"/>
            <a:ext cx="447675" cy="257175"/>
          </a:xfrm>
          <a:custGeom xmlns:a="http://schemas.openxmlformats.org/drawingml/2006/main">
            <a:pathLst>
              <a:path w="447675" h="257175">
                <a:moveTo>
                  <a:pt x="0" y="257175"/>
                </a:moveTo>
                <a:lnTo>
                  <a:pt x="219075" y="257175"/>
                </a:lnTo>
                <a:lnTo>
                  <a:pt x="219075" y="0"/>
                </a:lnTo>
                <a:lnTo>
                  <a:pt x="447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080E36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4B91CE1-1E29-4249-94A1-F4BA9C8BC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6638925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080E36"/>
          </a:solidFill>
          <a:ln xmlns:a="http://schemas.openxmlformats.org/drawingml/2006/main" w="0">
            <a:solidFill>
              <a:srgbClr val="080E36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34E7BE3-5C10-4086-8934-752FFD047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162675"/>
            <a:ext cx="457200" cy="428625"/>
          </a:xfrm>
          <a:custGeom xmlns:a="http://schemas.openxmlformats.org/drawingml/2006/main">
            <a:pathLst>
              <a:path w="457200" h="428625">
                <a:moveTo>
                  <a:pt x="0" y="428625"/>
                </a:moveTo>
                <a:lnTo>
                  <a:pt x="457200" y="428625"/>
                </a:lnTo>
                <a:lnTo>
                  <a:pt x="45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080E36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3E5855C-228F-4CC4-9EE4-85114C135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6162675"/>
            <a:ext cx="95250" cy="114300"/>
          </a:xfrm>
          <a:custGeom xmlns:a="http://schemas.openxmlformats.org/drawingml/2006/main">
            <a:pathLst>
              <a:path w="95250" h="114300">
                <a:moveTo>
                  <a:pt x="47625" y="0"/>
                </a:moveTo>
                <a:lnTo>
                  <a:pt x="0" y="114300"/>
                </a:lnTo>
                <a:lnTo>
                  <a:pt x="95250" y="114300"/>
                </a:lnTo>
                <a:close/>
              </a:path>
            </a:pathLst>
          </a:custGeom>
          <a:solidFill xmlns:a="http://schemas.openxmlformats.org/drawingml/2006/main">
            <a:srgbClr val="080E36"/>
          </a:solidFill>
          <a:ln xmlns:a="http://schemas.openxmlformats.org/drawingml/2006/main" w="0">
            <a:solidFill>
              <a:srgbClr val="080E36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8D5E1B9-6891-4369-94E0-7B18B4BA4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305550"/>
            <a:ext cx="457200" cy="9525"/>
          </a:xfrm>
          <a:custGeom xmlns:a="http://schemas.openxmlformats.org/drawingml/2006/main">
            <a:pathLst>
              <a:path w="457200" h="9525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080E36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477CC01-22D7-49A2-98F3-FE355935D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6257925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080E36"/>
          </a:solidFill>
          <a:ln xmlns:a="http://schemas.openxmlformats.org/drawingml/2006/main" w="0">
            <a:solidFill>
              <a:srgbClr val="080E36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7F64185-B50B-4F65-8653-7B0725068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6305550"/>
            <a:ext cx="1028700" cy="9525"/>
          </a:xfrm>
          <a:custGeom xmlns:a="http://schemas.openxmlformats.org/drawingml/2006/main">
            <a:pathLst>
              <a:path w="1028700" h="9525">
                <a:moveTo>
                  <a:pt x="0" y="0"/>
                </a:moveTo>
                <a:lnTo>
                  <a:pt x="1028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080E36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746EFEC-D381-49C4-88B7-94C7985A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6257925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080E36"/>
          </a:solidFill>
          <a:ln xmlns:a="http://schemas.openxmlformats.org/drawingml/2006/main" w="0">
            <a:solidFill>
              <a:srgbClr val="080E36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388A416-9641-4830-B3A1-007B389BC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21075" y="6305550"/>
            <a:ext cx="847725" cy="9525"/>
          </a:xfrm>
          <a:custGeom xmlns:a="http://schemas.openxmlformats.org/drawingml/2006/main">
            <a:pathLst>
              <a:path w="847725" h="9525">
                <a:moveTo>
                  <a:pt x="0" y="0"/>
                </a:moveTo>
                <a:lnTo>
                  <a:pt x="847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080E36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BCA37E1-2887-4085-9648-F3626700A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0" y="6257925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080E36"/>
          </a:solidFill>
          <a:ln xmlns:a="http://schemas.openxmlformats.org/drawingml/2006/main" w="0">
            <a:solidFill>
              <a:srgbClr val="080E36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069D943-4FC1-4CE6-9167-E23DDBFFC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276350"/>
            <a:ext cx="2124075" cy="723900"/>
          </a:xfrm>
          <a:prstGeom xmlns:a="http://schemas.openxmlformats.org/drawingml/2006/main" prst="roundRect">
            <a:avLst>
              <a:gd name="adj" fmla="val 11842"/>
            </a:avLst>
          </a:prstGeom>
          <a:gradFill xmlns:a="http://schemas.openxmlformats.org/drawingml/2006/main">
            <a:gsLst>
              <a:gs pos="0">
                <a:srgbClr val="EEE8FA"/>
              </a:gs>
              <a:gs pos="100000">
                <a:srgbClr val="E5DEFA"/>
              </a:gs>
            </a:gsLst>
            <a:lin ang="6600000"/>
          </a:gradFill>
          <a:ln xmlns:a="http://schemas.openxmlformats.org/drawingml/2006/main" w="14288">
            <a:solidFill>
              <a:srgbClr val="9360F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D7C893D-AFBF-4937-858D-98D7E535C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343025"/>
            <a:ext cx="1952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defRPr>
            </a:pPr>
            <a:r>
              <a:rPr sz="195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rPr>
              <a:t>Parameter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396DE74-C112-4EDE-84E9-73E82B816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080E3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>
                <a:solidFill>
                  <a:srgbClr val="080E36"/>
                </a:solidFill>
                <a:latin typeface="Times New Roman"/>
                <a:ea typeface="Times New Roman"/>
                <a:cs typeface="Times New Roman"/>
              </a:rPr>
              <a:t>μ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5B7988D-B8D7-4D54-9518-AADE980AD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428875"/>
            <a:ext cx="2124075" cy="1666875"/>
          </a:xfrm>
          <a:prstGeom xmlns:a="http://schemas.openxmlformats.org/drawingml/2006/main" prst="roundRect">
            <a:avLst>
              <a:gd name="adj" fmla="val 5143"/>
            </a:avLst>
          </a:prstGeom>
          <a:gradFill xmlns:a="http://schemas.openxmlformats.org/drawingml/2006/main">
            <a:gsLst>
              <a:gs pos="0">
                <a:srgbClr val="F0F5F9"/>
              </a:gs>
              <a:gs pos="100000">
                <a:srgbClr val="E7EFF5"/>
              </a:gs>
            </a:gsLst>
            <a:lin ang="7200000"/>
          </a:gradFill>
          <a:ln xmlns:a="http://schemas.openxmlformats.org/drawingml/2006/main" w="14288">
            <a:solidFill>
              <a:srgbClr val="7D9FC0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2D06DFE-E088-456C-BE57-79AE533E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543175"/>
            <a:ext cx="1971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80E36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0">
                <a:solidFill>
                  <a:srgbClr val="080E36"/>
                </a:solidFill>
                <a:latin typeface="Arial Narrow"/>
                <a:ea typeface="Arial Narrow"/>
                <a:cs typeface="Arial Narrow"/>
              </a:rPr>
              <a:t>Physical history ℋₙ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F1C8B77-7FF7-4721-B316-573C1D09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926556"/>
            <a:ext cx="1083278" cy="750094"/>
          </a:xfrm>
          <a:prstGeom xmlns:a="http://schemas.openxmlformats.org/drawingml/2006/main" prst="roundRect">
            <a:avLst>
              <a:gd name="adj" fmla="val 0"/>
            </a:avLst>
          </a:prstGeom>
          <a:gradFill xmlns:a="http://schemas.openxmlformats.org/drawingml/2006/main">
            <a:gsLst>
              <a:gs pos="0">
                <a:srgbClr val="F0F5F9"/>
              </a:gs>
              <a:gs pos="100000">
                <a:srgbClr val="E7EFF5"/>
              </a:gs>
            </a:gsLst>
            <a:lin ang="7200000"/>
          </a:gradFill>
          <a:ln xmlns:a="http://schemas.openxmlformats.org/drawingml/2006/main" w="14288">
            <a:solidFill>
              <a:srgbClr val="7D9FC0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27CF838-705B-423C-8877-FD0B3FCB1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2756"/>
            <a:ext cx="1083278" cy="750094"/>
          </a:xfrm>
          <a:prstGeom xmlns:a="http://schemas.openxmlformats.org/drawingml/2006/main" prst="roundRect">
            <a:avLst>
              <a:gd name="adj" fmla="val 0"/>
            </a:avLst>
          </a:prstGeom>
          <a:gradFill xmlns:a="http://schemas.openxmlformats.org/drawingml/2006/main">
            <a:gsLst>
              <a:gs pos="0">
                <a:srgbClr val="F0F5F9"/>
              </a:gs>
              <a:gs pos="100000">
                <a:srgbClr val="E7EFF5"/>
              </a:gs>
            </a:gsLst>
            <a:lin ang="7200000"/>
          </a:gradFill>
          <a:ln xmlns:a="http://schemas.openxmlformats.org/drawingml/2006/main" w="14288">
            <a:solidFill>
              <a:srgbClr val="7D9FC0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A2825DC-7F59-4A42-BF29-75DB58315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078956"/>
            <a:ext cx="1083278" cy="750094"/>
          </a:xfrm>
          <a:prstGeom xmlns:a="http://schemas.openxmlformats.org/drawingml/2006/main" prst="roundRect">
            <a:avLst>
              <a:gd name="adj" fmla="val 0"/>
            </a:avLst>
          </a:prstGeom>
          <a:gradFill xmlns:a="http://schemas.openxmlformats.org/drawingml/2006/main">
            <a:gsLst>
              <a:gs pos="0">
                <a:srgbClr val="F0F5F9"/>
              </a:gs>
              <a:gs pos="100000">
                <a:srgbClr val="E7EFF5"/>
              </a:gs>
            </a:gsLst>
            <a:lin ang="7200000"/>
          </a:gradFill>
          <a:ln xmlns:a="http://schemas.openxmlformats.org/drawingml/2006/main" w="14288">
            <a:solidFill>
              <a:srgbClr val="7D9FC0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A37642C-BAFA-4AE2-A7B2-DB83A038F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55156"/>
            <a:ext cx="1083278" cy="750094"/>
          </a:xfrm>
          <a:prstGeom xmlns:a="http://schemas.openxmlformats.org/drawingml/2006/main" prst="roundRect">
            <a:avLst>
              <a:gd name="adj" fmla="val 0"/>
            </a:avLst>
          </a:prstGeom>
          <a:gradFill xmlns:a="http://schemas.openxmlformats.org/drawingml/2006/main">
            <a:gsLst>
              <a:gs pos="0">
                <a:srgbClr val="F0F5F9"/>
              </a:gs>
              <a:gs pos="100000">
                <a:srgbClr val="E7EFF5"/>
              </a:gs>
            </a:gsLst>
            <a:lin ang="7200000"/>
          </a:gradFill>
          <a:ln xmlns:a="http://schemas.openxmlformats.org/drawingml/2006/main" w="14288">
            <a:solidFill>
              <a:srgbClr val="7D9FC0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4488BE4-7E62-4069-AE48-9D9431B21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231356"/>
            <a:ext cx="1083278" cy="750094"/>
          </a:xfrm>
          <a:prstGeom xmlns:a="http://schemas.openxmlformats.org/drawingml/2006/main" prst="roundRect">
            <a:avLst>
              <a:gd name="adj" fmla="val 0"/>
            </a:avLst>
          </a:prstGeom>
          <a:gradFill xmlns:a="http://schemas.openxmlformats.org/drawingml/2006/main">
            <a:gsLst>
              <a:gs pos="0">
                <a:srgbClr val="F0F5F9"/>
              </a:gs>
              <a:gs pos="100000">
                <a:srgbClr val="E7EFF5"/>
              </a:gs>
            </a:gsLst>
            <a:lin ang="7200000"/>
          </a:gradFill>
          <a:ln xmlns:a="http://schemas.openxmlformats.org/drawingml/2006/main" w="14288">
            <a:solidFill>
              <a:srgbClr val="7D9FC0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D5D3E10-E3D1-4943-8EC9-D735AD3D7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248025"/>
            <a:ext cx="4095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080E3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>
                <a:solidFill>
                  <a:srgbClr val="080E36"/>
                </a:solidFill>
                <a:latin typeface="Times New Roman"/>
                <a:ea typeface="Times New Roman"/>
                <a:cs typeface="Times New Roman"/>
              </a:rPr>
              <a:t>…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D3D0E7B-64B7-427A-8A2D-D438AD067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504950"/>
            <a:ext cx="1571625" cy="1876425"/>
          </a:xfrm>
          <a:custGeom xmlns:a="http://schemas.openxmlformats.org/drawingml/2006/main">
            <a:pathLst>
              <a:path w="1571625" h="1876425">
                <a:moveTo>
                  <a:pt x="0" y="0"/>
                </a:moveTo>
                <a:lnTo>
                  <a:pt x="1571625" y="371475"/>
                </a:lnTo>
                <a:lnTo>
                  <a:pt x="1571625" y="1457325"/>
                </a:lnTo>
                <a:lnTo>
                  <a:pt x="0" y="187642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C9F2F0"/>
              </a:gs>
              <a:gs pos="100000">
                <a:srgbClr val="A9E6E5"/>
              </a:gs>
            </a:gsLst>
            <a:lin ang="6000000"/>
          </a:gradFill>
          <a:ln xmlns:a="http://schemas.openxmlformats.org/drawingml/2006/main" w="15240">
            <a:solidFill>
              <a:srgbClr val="00A1A8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C5ECE8E-9763-4736-A2B1-8E5987E14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047875"/>
            <a:ext cx="13239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13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00131E"/>
                </a:solidFill>
                <a:latin typeface="Times New Roman"/>
                <a:ea typeface="Times New Roman"/>
                <a:cs typeface="Times New Roman"/>
              </a:rPr>
              <a:t>Parameter</a:t>
            </a:r>
          </a:p>
          <a:p xmlns:a="http://schemas.openxmlformats.org/drawingml/2006/main">
            <a:pPr algn="ctr">
              <a:defRPr sz="1950" b="1">
                <a:solidFill>
                  <a:srgbClr val="0013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00131E"/>
                </a:solidFill>
                <a:latin typeface="Times New Roman"/>
                <a:ea typeface="Times New Roman"/>
                <a:cs typeface="Times New Roman"/>
              </a:rPr>
              <a:t>router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AFEB350-4D43-4DCF-9047-5B7E8E5A5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886075"/>
            <a:ext cx="114300" cy="1714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A3AA"/>
          </a:solidFill>
          <a:ln xmlns:a="http://schemas.openxmlformats.org/drawingml/2006/main" w="14288">
            <a:solidFill>
              <a:srgbClr val="00A3AA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90864ED-D32C-419D-9E45-209EEA54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762250"/>
            <a:ext cx="114300" cy="2952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A3AA"/>
          </a:solidFill>
          <a:ln xmlns:a="http://schemas.openxmlformats.org/drawingml/2006/main" w="14288">
            <a:solidFill>
              <a:srgbClr val="00A3AA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2320D43-C547-43B0-A148-43E32A9AB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638425"/>
            <a:ext cx="114300" cy="4191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A3AA"/>
          </a:solidFill>
          <a:ln xmlns:a="http://schemas.openxmlformats.org/drawingml/2006/main" w="14288">
            <a:solidFill>
              <a:srgbClr val="00A3AA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0FF2677-29B4-44D6-B999-28B429D84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981200"/>
            <a:ext cx="1438275" cy="733425"/>
          </a:xfrm>
          <a:prstGeom xmlns:a="http://schemas.openxmlformats.org/drawingml/2006/main" prst="roundRect">
            <a:avLst>
              <a:gd name="adj" fmla="val 11688"/>
            </a:avLst>
          </a:prstGeom>
          <a:gradFill xmlns:a="http://schemas.openxmlformats.org/drawingml/2006/main">
            <a:gsLst>
              <a:gs pos="0">
                <a:srgbClr val="E0EEFC"/>
              </a:gs>
              <a:gs pos="100000">
                <a:srgbClr val="D0E4FC"/>
              </a:gs>
            </a:gsLst>
            <a:lin ang="6600000"/>
          </a:gradFill>
          <a:ln xmlns:a="http://schemas.openxmlformats.org/drawingml/2006/main" w="14288">
            <a:solidFill>
              <a:srgbClr val="078AFF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78E8AE5-7C0A-4C8A-AD5C-08DFB793B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047875"/>
            <a:ext cx="1276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defRPr>
            </a:pPr>
            <a:r>
              <a:rPr sz="195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rPr>
              <a:t>Masked</a:t>
            </a:r>
          </a:p>
          <a:p xmlns:a="http://schemas.openxmlformats.org/drawingml/2006/main">
            <a:pPr algn="ctr">
              <a:defRPr sz="195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defRPr>
            </a:pPr>
            <a:r>
              <a:rPr sz="195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rPr>
              <a:t>selection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2F5246D-7296-4785-B94B-824E4D104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990600"/>
            <a:ext cx="1390650" cy="1343025"/>
          </a:xfrm>
          <a:custGeom xmlns:a="http://schemas.openxmlformats.org/drawingml/2006/main">
            <a:pathLst>
              <a:path w="1390650" h="1343025">
                <a:moveTo>
                  <a:pt x="685800" y="0"/>
                </a:moveTo>
                <a:lnTo>
                  <a:pt x="1390650" y="590550"/>
                </a:lnTo>
                <a:lnTo>
                  <a:pt x="676275" y="1343025"/>
                </a:lnTo>
                <a:lnTo>
                  <a:pt x="0" y="60007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9E2"/>
              </a:gs>
              <a:gs pos="100000">
                <a:srgbClr val="FFF0BE"/>
              </a:gs>
            </a:gsLst>
            <a:lin ang="6600000"/>
          </a:gradFill>
          <a:ln xmlns:a="http://schemas.openxmlformats.org/drawingml/2006/main" w="19050">
            <a:solidFill>
              <a:srgbClr val="080E36"/>
            </a:solidFill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269B0A0-AB93-4FB7-986E-C240A9CA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238250"/>
            <a:ext cx="10763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rPr>
              <a:t>Top-1</a:t>
            </a:r>
          </a:p>
          <a:p xmlns:a="http://schemas.openxmlformats.org/drawingml/2006/main">
            <a:pPr algn="ctr">
              <a:defRPr sz="180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rPr>
              <a:t>or</a:t>
            </a:r>
          </a:p>
          <a:p xmlns:a="http://schemas.openxmlformats.org/drawingml/2006/main">
            <a:pPr algn="ctr">
              <a:defRPr sz="180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rPr>
              <a:t>Top-2?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2C6EB20-0976-4E0B-A2E7-C154EF17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038225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rPr>
              <a:t>Top-1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B490AD7-8818-4C77-AFC4-847D9C82D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28875"/>
            <a:ext cx="12477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rPr>
              <a:t>Top-2</a:t>
            </a:r>
          </a:p>
          <a:p xmlns:a="http://schemas.openxmlformats.org/drawingml/2006/main">
            <a:pPr algn="ctr">
              <a:defRPr sz="180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rPr>
              <a:t>(adjacent)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EDC93AE-551C-4D91-997B-AB593B3E2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66750"/>
            <a:ext cx="2428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080E36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0">
                <a:solidFill>
                  <a:srgbClr val="080E36"/>
                </a:solidFill>
                <a:latin typeface="Arial Narrow"/>
                <a:ea typeface="Arial Narrow"/>
                <a:cs typeface="Arial Narrow"/>
              </a:rPr>
              <a:t>regime-local specialist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7A65466-717E-4897-957B-304816805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028700"/>
            <a:ext cx="2457450" cy="590550"/>
          </a:xfrm>
          <a:prstGeom xmlns:a="http://schemas.openxmlformats.org/drawingml/2006/main" prst="roundRect">
            <a:avLst>
              <a:gd name="adj" fmla="val 14516"/>
            </a:avLst>
          </a:prstGeom>
          <a:gradFill xmlns:a="http://schemas.openxmlformats.org/drawingml/2006/main">
            <a:gsLst>
              <a:gs pos="0">
                <a:srgbClr val="FFF3E7"/>
              </a:gs>
              <a:gs pos="100000">
                <a:srgbClr val="FFE6D0"/>
              </a:gs>
            </a:gsLst>
            <a:lin ang="6000000"/>
          </a:gradFill>
          <a:ln xmlns:a="http://schemas.openxmlformats.org/drawingml/2006/main" w="14288">
            <a:solidFill>
              <a:srgbClr val="FF7F29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58C1248-7081-4D8B-9763-625BAB2EC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1133475"/>
            <a:ext cx="2286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defRPr>
            </a:pPr>
            <a:r>
              <a:rPr sz="195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rPr>
              <a:t>Specialist 𝑟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931CC24-65C9-4638-85F0-34469B46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885950"/>
            <a:ext cx="2705100" cy="1495425"/>
          </a:xfrm>
          <a:prstGeom xmlns:a="http://schemas.openxmlformats.org/drawingml/2006/main" prst="roundRect">
            <a:avLst>
              <a:gd name="adj" fmla="val 7643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FF8128"/>
            </a:solidFill>
            <a:prstDash val="dash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1B2BC42-2814-4124-BE00-AB399FA38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1990725"/>
            <a:ext cx="2438400" cy="571500"/>
          </a:xfrm>
          <a:prstGeom xmlns:a="http://schemas.openxmlformats.org/drawingml/2006/main" prst="roundRect">
            <a:avLst>
              <a:gd name="adj" fmla="val 15000"/>
            </a:avLst>
          </a:prstGeom>
          <a:gradFill xmlns:a="http://schemas.openxmlformats.org/drawingml/2006/main">
            <a:gsLst>
              <a:gs pos="0">
                <a:srgbClr val="E0EEFC"/>
              </a:gs>
              <a:gs pos="100000">
                <a:srgbClr val="D0E4FC"/>
              </a:gs>
            </a:gsLst>
            <a:lin ang="6600000"/>
          </a:gradFill>
          <a:ln xmlns:a="http://schemas.openxmlformats.org/drawingml/2006/main" w="14288">
            <a:solidFill>
              <a:srgbClr val="078AFF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F45B787-82D3-4BE0-AE98-9364E3D14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105025"/>
            <a:ext cx="2343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defRPr>
            </a:pPr>
            <a:r>
              <a:rPr sz="195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rPr>
              <a:t>Specialist 𝑟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0A2A0B2-BCEA-464F-B77B-E5405BED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705100"/>
            <a:ext cx="2438400" cy="571500"/>
          </a:xfrm>
          <a:prstGeom xmlns:a="http://schemas.openxmlformats.org/drawingml/2006/main" prst="roundRect">
            <a:avLst>
              <a:gd name="adj" fmla="val 15000"/>
            </a:avLst>
          </a:prstGeom>
          <a:gradFill xmlns:a="http://schemas.openxmlformats.org/drawingml/2006/main">
            <a:gsLst>
              <a:gs pos="0">
                <a:srgbClr val="FFEAF0"/>
              </a:gs>
              <a:gs pos="100000">
                <a:srgbClr val="FFDFE8"/>
              </a:gs>
            </a:gsLst>
            <a:lin ang="6000000"/>
          </a:gradFill>
          <a:ln xmlns:a="http://schemas.openxmlformats.org/drawingml/2006/main" w="14288">
            <a:solidFill>
              <a:srgbClr val="FF2981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F5C7808-9B85-4AB0-91F0-68C0ACA1A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19400"/>
            <a:ext cx="2343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defRPr>
            </a:pPr>
            <a:r>
              <a:rPr sz="195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rPr>
              <a:t>Specialist 𝑠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BBC1DD9-73B3-4225-A291-3EF8FD1C4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62350"/>
            <a:ext cx="2466975" cy="533400"/>
          </a:xfrm>
          <a:prstGeom xmlns:a="http://schemas.openxmlformats.org/drawingml/2006/main" prst="roundRect">
            <a:avLst>
              <a:gd name="adj" fmla="val 16071"/>
            </a:avLst>
          </a:prstGeom>
          <a:gradFill xmlns:a="http://schemas.openxmlformats.org/drawingml/2006/main">
            <a:gsLst>
              <a:gs pos="0">
                <a:srgbClr val="E0EEFC"/>
              </a:gs>
              <a:gs pos="100000">
                <a:srgbClr val="D0E4FC"/>
              </a:gs>
            </a:gsLst>
            <a:lin ang="6600000"/>
          </a:gradFill>
          <a:ln xmlns:a="http://schemas.openxmlformats.org/drawingml/2006/main" w="14288">
            <a:solidFill>
              <a:srgbClr val="078AFF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0E0D2107-57AC-4D3C-A5E5-182278FE2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648075"/>
            <a:ext cx="2257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defRPr>
            </a:pPr>
            <a:r>
              <a:rPr sz="195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rPr>
              <a:t>Descriptor 𝑑ₙ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19597673-ACA4-4362-A0C1-778E2A56E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2333625"/>
            <a:ext cx="561975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F1CA"/>
          </a:solidFill>
          <a:ln xmlns:a="http://schemas.openxmlformats.org/drawingml/2006/main" w="19050">
            <a:solidFill>
              <a:srgbClr val="071F22"/>
            </a:solidFill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EA51A9F-55C8-4DFE-B34E-00D88FB3C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8825" y="2352675"/>
            <a:ext cx="4667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25" b="0">
                <a:solidFill>
                  <a:srgbClr val="080E3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25" b="0">
                <a:solidFill>
                  <a:srgbClr val="080E36"/>
                </a:solidFill>
                <a:latin typeface="Times New Roman"/>
                <a:ea typeface="Times New Roman"/>
                <a:cs typeface="Times New Roman"/>
              </a:rPr>
              <a:t>⊕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B1C64FD0-3BC6-4F3F-B4E8-593ED0CAF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3775" y="1885950"/>
            <a:ext cx="2095500" cy="1828800"/>
          </a:xfrm>
          <a:prstGeom xmlns:a="http://schemas.openxmlformats.org/drawingml/2006/main" prst="roundRect">
            <a:avLst>
              <a:gd name="adj" fmla="val 4688"/>
            </a:avLst>
          </a:prstGeom>
          <a:gradFill xmlns:a="http://schemas.openxmlformats.org/drawingml/2006/main">
            <a:gsLst>
              <a:gs pos="0">
                <a:srgbClr val="EEE8FA"/>
              </a:gs>
              <a:gs pos="100000">
                <a:srgbClr val="E5DEFA"/>
              </a:gs>
            </a:gsLst>
            <a:lin ang="6600000"/>
          </a:gradFill>
          <a:ln xmlns:a="http://schemas.openxmlformats.org/drawingml/2006/main" w="14288">
            <a:solidFill>
              <a:srgbClr val="9964F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471B5EE-F8B9-41CA-812D-BBC7103B0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19621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080E36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0">
                <a:solidFill>
                  <a:srgbClr val="080E36"/>
                </a:solidFill>
                <a:latin typeface="Arial Narrow"/>
                <a:ea typeface="Arial Narrow"/>
                <a:cs typeface="Arial Narrow"/>
              </a:rPr>
              <a:t>Predicted fields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4B71722-9047-49B5-8094-8CC561F12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2305050"/>
            <a:ext cx="1562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080E36"/>
                </a:solidFill>
                <a:latin typeface="Cambria Math"/>
                <a:ea typeface="Cambria Math"/>
                <a:cs typeface="Cambria Math"/>
              </a:defRPr>
            </a:pPr>
            <a:r>
              <a:rPr sz="2400" b="0">
                <a:solidFill>
                  <a:srgbClr val="080E36"/>
                </a:solidFill>
                <a:latin typeface="Cambria Math"/>
                <a:ea typeface="Cambria Math"/>
                <a:cs typeface="Cambria Math"/>
              </a:rPr>
              <a:t>𝑢̃, 𝑝̂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542B0B6C-1A18-41E6-85DF-23AEE5852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0" y="2886075"/>
            <a:ext cx="4667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080E3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>
                <a:solidFill>
                  <a:srgbClr val="080E36"/>
                </a:solidFill>
                <a:latin typeface="Times New Roman"/>
                <a:ea typeface="Times New Roman"/>
                <a:cs typeface="Times New Roman"/>
              </a:rPr>
              <a:t>…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043CECD-DFA9-4A36-990F-E5383982D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5724525"/>
            <a:ext cx="1647825" cy="1409700"/>
          </a:xfrm>
          <a:prstGeom xmlns:a="http://schemas.openxmlformats.org/drawingml/2006/main" prst="roundRect">
            <a:avLst>
              <a:gd name="adj" fmla="val 6081"/>
            </a:avLst>
          </a:prstGeom>
          <a:gradFill xmlns:a="http://schemas.openxmlformats.org/drawingml/2006/main">
            <a:gsLst>
              <a:gs pos="0">
                <a:srgbClr val="F0F5F9"/>
              </a:gs>
              <a:gs pos="100000">
                <a:srgbClr val="E7EFF5"/>
              </a:gs>
            </a:gsLst>
            <a:lin ang="7200000"/>
          </a:gradFill>
          <a:ln xmlns:a="http://schemas.openxmlformats.org/drawingml/2006/main" w="14288">
            <a:solidFill>
              <a:srgbClr val="7D9FC0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02A713C-77E7-43FD-95AF-D6CE0A89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5838825"/>
            <a:ext cx="1495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80E36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0">
                <a:solidFill>
                  <a:srgbClr val="080E36"/>
                </a:solidFill>
                <a:latin typeface="Arial Narrow"/>
                <a:ea typeface="Arial Narrow"/>
                <a:cs typeface="Arial Narrow"/>
              </a:rPr>
              <a:t>Physical history ℋₙ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8C3DE604-D291-4380-9B3E-1A6C949B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80760"/>
            <a:ext cx="840391" cy="634365"/>
          </a:xfrm>
          <a:prstGeom xmlns:a="http://schemas.openxmlformats.org/drawingml/2006/main" prst="roundRect">
            <a:avLst>
              <a:gd name="adj" fmla="val 0"/>
            </a:avLst>
          </a:prstGeom>
          <a:gradFill xmlns:a="http://schemas.openxmlformats.org/drawingml/2006/main">
            <a:gsLst>
              <a:gs pos="0">
                <a:srgbClr val="F0F5F9"/>
              </a:gs>
              <a:gs pos="100000">
                <a:srgbClr val="E7EFF5"/>
              </a:gs>
            </a:gsLst>
            <a:lin ang="7200000"/>
          </a:gradFill>
          <a:ln xmlns:a="http://schemas.openxmlformats.org/drawingml/2006/main" w="14288">
            <a:solidFill>
              <a:srgbClr val="7D9FC0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E11A319-015F-4ACE-AB43-126FD1211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6156960"/>
            <a:ext cx="840391" cy="634365"/>
          </a:xfrm>
          <a:prstGeom xmlns:a="http://schemas.openxmlformats.org/drawingml/2006/main" prst="roundRect">
            <a:avLst>
              <a:gd name="adj" fmla="val 0"/>
            </a:avLst>
          </a:prstGeom>
          <a:gradFill xmlns:a="http://schemas.openxmlformats.org/drawingml/2006/main">
            <a:gsLst>
              <a:gs pos="0">
                <a:srgbClr val="F0F5F9"/>
              </a:gs>
              <a:gs pos="100000">
                <a:srgbClr val="E7EFF5"/>
              </a:gs>
            </a:gsLst>
            <a:lin ang="7200000"/>
          </a:gradFill>
          <a:ln xmlns:a="http://schemas.openxmlformats.org/drawingml/2006/main" w="14288">
            <a:solidFill>
              <a:srgbClr val="7D9FC0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3EA5D79A-7522-4AB9-9F77-D0545BC5D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33160"/>
            <a:ext cx="840391" cy="634365"/>
          </a:xfrm>
          <a:prstGeom xmlns:a="http://schemas.openxmlformats.org/drawingml/2006/main" prst="roundRect">
            <a:avLst>
              <a:gd name="adj" fmla="val 0"/>
            </a:avLst>
          </a:prstGeom>
          <a:gradFill xmlns:a="http://schemas.openxmlformats.org/drawingml/2006/main">
            <a:gsLst>
              <a:gs pos="0">
                <a:srgbClr val="F0F5F9"/>
              </a:gs>
              <a:gs pos="100000">
                <a:srgbClr val="E7EFF5"/>
              </a:gs>
            </a:gsLst>
            <a:lin ang="7200000"/>
          </a:gradFill>
          <a:ln xmlns:a="http://schemas.openxmlformats.org/drawingml/2006/main" w="14288">
            <a:solidFill>
              <a:srgbClr val="7D9FC0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38AC9502-428B-45F3-9C02-D02D19B3A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6309360"/>
            <a:ext cx="840391" cy="634365"/>
          </a:xfrm>
          <a:prstGeom xmlns:a="http://schemas.openxmlformats.org/drawingml/2006/main" prst="roundRect">
            <a:avLst>
              <a:gd name="adj" fmla="val 0"/>
            </a:avLst>
          </a:prstGeom>
          <a:gradFill xmlns:a="http://schemas.openxmlformats.org/drawingml/2006/main">
            <a:gsLst>
              <a:gs pos="0">
                <a:srgbClr val="F0F5F9"/>
              </a:gs>
              <a:gs pos="100000">
                <a:srgbClr val="E7EFF5"/>
              </a:gs>
            </a:gsLst>
            <a:lin ang="7200000"/>
          </a:gradFill>
          <a:ln xmlns:a="http://schemas.openxmlformats.org/drawingml/2006/main" w="14288">
            <a:solidFill>
              <a:srgbClr val="7D9FC0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7A129314-C607-4EC0-959F-989382BE4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85560"/>
            <a:ext cx="840391" cy="634365"/>
          </a:xfrm>
          <a:prstGeom xmlns:a="http://schemas.openxmlformats.org/drawingml/2006/main" prst="roundRect">
            <a:avLst>
              <a:gd name="adj" fmla="val 0"/>
            </a:avLst>
          </a:prstGeom>
          <a:gradFill xmlns:a="http://schemas.openxmlformats.org/drawingml/2006/main">
            <a:gsLst>
              <a:gs pos="0">
                <a:srgbClr val="F0F5F9"/>
              </a:gs>
              <a:gs pos="100000">
                <a:srgbClr val="E7EFF5"/>
              </a:gs>
            </a:gsLst>
            <a:lin ang="7200000"/>
          </a:gradFill>
          <a:ln xmlns:a="http://schemas.openxmlformats.org/drawingml/2006/main" w="14288">
            <a:solidFill>
              <a:srgbClr val="7D9FC0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5C24F73-CFA7-4593-8F82-FA81813FA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6286500"/>
            <a:ext cx="4095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080E3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>
                <a:solidFill>
                  <a:srgbClr val="080E36"/>
                </a:solidFill>
                <a:latin typeface="Times New Roman"/>
                <a:ea typeface="Times New Roman"/>
                <a:cs typeface="Times New Roman"/>
              </a:rPr>
              <a:t>…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6770A0BC-9D89-4E79-8F2D-44E9ABB86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5600700"/>
            <a:ext cx="1285875" cy="1638300"/>
          </a:xfrm>
          <a:custGeom xmlns:a="http://schemas.openxmlformats.org/drawingml/2006/main">
            <a:pathLst>
              <a:path w="1285875" h="1638300">
                <a:moveTo>
                  <a:pt x="0" y="0"/>
                </a:moveTo>
                <a:lnTo>
                  <a:pt x="1285875" y="295275"/>
                </a:lnTo>
                <a:lnTo>
                  <a:pt x="1285875" y="1304925"/>
                </a:lnTo>
                <a:lnTo>
                  <a:pt x="0" y="163830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3E7"/>
              </a:gs>
              <a:gs pos="100000">
                <a:srgbClr val="FFE6D0"/>
              </a:gs>
            </a:gsLst>
            <a:lin ang="6000000"/>
          </a:gradFill>
          <a:ln xmlns:a="http://schemas.openxmlformats.org/drawingml/2006/main" w="15240">
            <a:solidFill>
              <a:srgbClr val="FF791D"/>
            </a:solidFill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AF446C0-3ABB-40BE-88EF-7E2970557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895975"/>
            <a:ext cx="11144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rPr>
              <a:t>Local POD</a:t>
            </a:r>
          </a:p>
          <a:p xmlns:a="http://schemas.openxmlformats.org/drawingml/2006/main">
            <a:pPr algn="ctr">
              <a:defRPr sz="180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rPr>
              <a:t>encoder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CF79BDF0-2858-4DF3-BB2F-BA9741C75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6391275"/>
            <a:ext cx="581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080E36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>
                <a:solidFill>
                  <a:srgbClr val="080E36"/>
                </a:solidFill>
                <a:latin typeface="Cambria Math"/>
                <a:ea typeface="Cambria Math"/>
                <a:cs typeface="Cambria Math"/>
              </a:rPr>
              <a:t>𝜙ᵣ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750B7EFA-7273-41B6-83C8-961AB952D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6848475"/>
            <a:ext cx="114300" cy="1714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78523"/>
          </a:solidFill>
          <a:ln xmlns:a="http://schemas.openxmlformats.org/drawingml/2006/main" w="14288">
            <a:solidFill>
              <a:srgbClr val="F78523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CC52CE13-5D4B-45EE-96C7-4EF2CAC8F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6724650"/>
            <a:ext cx="114300" cy="2952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78523"/>
          </a:solidFill>
          <a:ln xmlns:a="http://schemas.openxmlformats.org/drawingml/2006/main" w="14288">
            <a:solidFill>
              <a:srgbClr val="F78523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0A18BC3D-3EFC-4DD6-9921-BE39A47B0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6600825"/>
            <a:ext cx="114300" cy="4191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78523"/>
          </a:solidFill>
          <a:ln xmlns:a="http://schemas.openxmlformats.org/drawingml/2006/main" w="14288">
            <a:solidFill>
              <a:srgbClr val="F78523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CA586624-FA62-4496-A134-D9ED9D82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5800725"/>
            <a:ext cx="2352675" cy="1085850"/>
          </a:xfrm>
          <a:prstGeom xmlns:a="http://schemas.openxmlformats.org/drawingml/2006/main" prst="roundRect">
            <a:avLst>
              <a:gd name="adj" fmla="val 7895"/>
            </a:avLst>
          </a:prstGeom>
          <a:gradFill xmlns:a="http://schemas.openxmlformats.org/drawingml/2006/main">
            <a:gsLst>
              <a:gs pos="0">
                <a:srgbClr val="E0EEFC"/>
              </a:gs>
              <a:gs pos="100000">
                <a:srgbClr val="D0E4FC"/>
              </a:gs>
            </a:gsLst>
            <a:lin ang="6600000"/>
          </a:gradFill>
          <a:ln xmlns:a="http://schemas.openxmlformats.org/drawingml/2006/main" w="14288">
            <a:solidFill>
              <a:srgbClr val="078AFF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FF02AF67-C6CE-4E98-BC1E-72A86E972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5876925"/>
            <a:ext cx="20859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rPr>
              <a:t>Local reduced state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504503B6-E2FD-4810-9AE8-C2F6F5DEF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4876800"/>
            <a:ext cx="3086100" cy="476250"/>
          </a:xfrm>
          <a:prstGeom xmlns:a="http://schemas.openxmlformats.org/drawingml/2006/main" prst="roundRect">
            <a:avLst>
              <a:gd name="adj" fmla="val 18000"/>
            </a:avLst>
          </a:prstGeom>
          <a:gradFill xmlns:a="http://schemas.openxmlformats.org/drawingml/2006/main">
            <a:gsLst>
              <a:gs pos="0">
                <a:srgbClr val="E0EEFC"/>
              </a:gs>
              <a:gs pos="100000">
                <a:srgbClr val="D0E4FC"/>
              </a:gs>
            </a:gsLst>
            <a:lin ang="6600000"/>
          </a:gradFill>
          <a:ln xmlns:a="http://schemas.openxmlformats.org/drawingml/2006/main" w="14288">
            <a:solidFill>
              <a:srgbClr val="078AFF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A9462B0B-8682-4CC3-89A1-99E8FB71B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9434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080E36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0">
                <a:solidFill>
                  <a:srgbClr val="080E36"/>
                </a:solidFill>
                <a:latin typeface="Arial Narrow"/>
                <a:ea typeface="Arial Narrow"/>
                <a:cs typeface="Arial Narrow"/>
              </a:rPr>
              <a:t>Projected ROM 𝑇ᵣᴳ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4D18CBC7-95B7-4AE0-90C1-4DCED5CF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467350"/>
            <a:ext cx="4600575" cy="2152650"/>
          </a:xfrm>
          <a:prstGeom xmlns:a="http://schemas.openxmlformats.org/drawingml/2006/main" prst="roundRect">
            <a:avLst>
              <a:gd name="adj" fmla="val 3982"/>
            </a:avLst>
          </a:prstGeom>
          <a:gradFill xmlns:a="http://schemas.openxmlformats.org/drawingml/2006/main">
            <a:gsLst>
              <a:gs pos="0">
                <a:srgbClr val="FFF5E9"/>
              </a:gs>
              <a:gs pos="100000">
                <a:srgbClr val="FFEEDC"/>
              </a:gs>
            </a:gsLst>
            <a:lin ang="6000000"/>
          </a:gradFill>
          <a:ln xmlns:a="http://schemas.openxmlformats.org/drawingml/2006/main" w="14288">
            <a:solidFill>
              <a:srgbClr val="FF8025"/>
            </a:solidFill>
            <a:prstDash val="dash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BC322C7E-08F2-4203-9C90-E2E00732B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495925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25A08"/>
                </a:solidFill>
                <a:latin typeface="Arial Narrow"/>
                <a:ea typeface="Arial Narrow"/>
                <a:cs typeface="Arial Narrow"/>
              </a:defRPr>
            </a:pPr>
            <a:r>
              <a:rPr sz="2025" b="1">
                <a:solidFill>
                  <a:srgbClr val="F25A08"/>
                </a:solidFill>
                <a:latin typeface="Arial Narrow"/>
                <a:ea typeface="Arial Narrow"/>
                <a:cs typeface="Arial Narrow"/>
              </a:rPr>
              <a:t>Sparse MoE correction ρᵩᵣ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B9E94A0D-2ADA-445B-9106-50D99129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5962650"/>
            <a:ext cx="990600" cy="1228725"/>
          </a:xfrm>
          <a:custGeom xmlns:a="http://schemas.openxmlformats.org/drawingml/2006/main">
            <a:pathLst>
              <a:path w="990600" h="1228725">
                <a:moveTo>
                  <a:pt x="0" y="0"/>
                </a:moveTo>
                <a:lnTo>
                  <a:pt x="990600" y="104775"/>
                </a:lnTo>
                <a:lnTo>
                  <a:pt x="990600" y="1114425"/>
                </a:lnTo>
                <a:lnTo>
                  <a:pt x="0" y="122872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EEE8FA"/>
              </a:gs>
              <a:gs pos="100000">
                <a:srgbClr val="E5DEFA"/>
              </a:gs>
            </a:gsLst>
            <a:lin ang="6600000"/>
          </a:gradFill>
          <a:ln xmlns:a="http://schemas.openxmlformats.org/drawingml/2006/main" w="15240">
            <a:solidFill>
              <a:srgbClr val="9561FF"/>
            </a:solidFill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FF464CB5-3173-4B3D-A561-13F269662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6105525"/>
            <a:ext cx="7239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rPr>
              <a:t>Group</a:t>
            </a:r>
          </a:p>
          <a:p xmlns:a="http://schemas.openxmlformats.org/drawingml/2006/main">
            <a:pPr algn="ctr">
              <a:defRPr sz="180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rPr>
              <a:t>router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B8139B5F-05E1-4BE7-9FE1-C17C4C37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6886575"/>
            <a:ext cx="114300" cy="1714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9C5CFC"/>
          </a:solidFill>
          <a:ln xmlns:a="http://schemas.openxmlformats.org/drawingml/2006/main" w="14288">
            <a:solidFill>
              <a:srgbClr val="9C5CFC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27C95BAA-7AA9-44A0-9F5F-AAF5F4F27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6762750"/>
            <a:ext cx="114300" cy="2952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9C5CFC"/>
          </a:solidFill>
          <a:ln xmlns:a="http://schemas.openxmlformats.org/drawingml/2006/main" w="14288">
            <a:solidFill>
              <a:srgbClr val="9C5CFC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9D445944-32CD-4C16-9E1F-45D84341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638925"/>
            <a:ext cx="114300" cy="4191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9C5CFC"/>
          </a:solidFill>
          <a:ln xmlns:a="http://schemas.openxmlformats.org/drawingml/2006/main" w="14288">
            <a:solidFill>
              <a:srgbClr val="9C5CFC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68A9AA17-8D8A-4690-B348-F30DB58D9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5848350"/>
            <a:ext cx="1724025" cy="590550"/>
          </a:xfrm>
          <a:prstGeom xmlns:a="http://schemas.openxmlformats.org/drawingml/2006/main" prst="roundRect">
            <a:avLst>
              <a:gd name="adj" fmla="val 14516"/>
            </a:avLst>
          </a:prstGeom>
          <a:gradFill xmlns:a="http://schemas.openxmlformats.org/drawingml/2006/main">
            <a:gsLst>
              <a:gs pos="0">
                <a:srgbClr val="FFEAE6"/>
              </a:gs>
              <a:gs pos="100000">
                <a:srgbClr val="FFDCD6"/>
              </a:gs>
            </a:gsLst>
            <a:lin ang="6000000"/>
          </a:gradFill>
          <a:ln xmlns:a="http://schemas.openxmlformats.org/drawingml/2006/main" w="14288">
            <a:solidFill>
              <a:srgbClr val="FF716B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1CC86781-7B45-4A8C-AFEF-C6F41EC44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5886450"/>
            <a:ext cx="15335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80E36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0">
                <a:solidFill>
                  <a:srgbClr val="080E36"/>
                </a:solidFill>
                <a:latin typeface="Arial Narrow"/>
                <a:ea typeface="Arial Narrow"/>
                <a:cs typeface="Arial Narrow"/>
              </a:rPr>
              <a:t>Shared expert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33FD9369-E290-48E3-A410-39208A48A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143625"/>
            <a:ext cx="157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080E36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0">
                <a:solidFill>
                  <a:srgbClr val="080E36"/>
                </a:solidFill>
                <a:latin typeface="Arial Narrow"/>
                <a:ea typeface="Arial Narrow"/>
                <a:cs typeface="Arial Narrow"/>
              </a:rPr>
              <a:t>E₀ (always active)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8EDB6CAF-0693-4F80-9B74-CB67FD52E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6534150"/>
            <a:ext cx="1724025" cy="657225"/>
          </a:xfrm>
          <a:prstGeom xmlns:a="http://schemas.openxmlformats.org/drawingml/2006/main" prst="roundRect">
            <a:avLst>
              <a:gd name="adj" fmla="val 13043"/>
            </a:avLst>
          </a:prstGeom>
          <a:gradFill xmlns:a="http://schemas.openxmlformats.org/drawingml/2006/main">
            <a:gsLst>
              <a:gs pos="0">
                <a:srgbClr val="FFEAE6"/>
              </a:gs>
              <a:gs pos="100000">
                <a:srgbClr val="FFDCD6"/>
              </a:gs>
            </a:gsLst>
            <a:lin ang="6000000"/>
          </a:gradFill>
          <a:ln xmlns:a="http://schemas.openxmlformats.org/drawingml/2006/main" w="14288">
            <a:solidFill>
              <a:srgbClr val="FF716B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44B7DC80-CC94-4FCF-AC23-A2A04D50A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6572250"/>
            <a:ext cx="1628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080E36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0">
                <a:solidFill>
                  <a:srgbClr val="080E36"/>
                </a:solidFill>
                <a:latin typeface="Arial Narrow"/>
                <a:ea typeface="Arial Narrow"/>
                <a:cs typeface="Arial Narrow"/>
              </a:rPr>
              <a:t>Top-2 routed experts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096CDAB5-08A4-4DBC-9B56-571F4389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848475"/>
            <a:ext cx="1381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080E36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>
                <a:solidFill>
                  <a:srgbClr val="080E36"/>
                </a:solidFill>
                <a:latin typeface="Cambria Math"/>
                <a:ea typeface="Cambria Math"/>
                <a:cs typeface="Cambria Math"/>
              </a:rPr>
              <a:t>𝐸ᵣ,₁, 𝐸ᵣ,₂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4D4FA778-C7BB-4EE5-A170-E7267B5D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305550"/>
            <a:ext cx="600075" cy="542925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E9E3"/>
          </a:solidFill>
          <a:ln xmlns:a="http://schemas.openxmlformats.org/drawingml/2006/main" w="14288">
            <a:solidFill>
              <a:srgbClr val="FF716B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589E1F8C-5788-4681-956E-1FE0ED766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410325"/>
            <a:ext cx="542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080E3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>
                <a:solidFill>
                  <a:srgbClr val="080E36"/>
                </a:solidFill>
                <a:latin typeface="Times New Roman"/>
                <a:ea typeface="Times New Roman"/>
                <a:cs typeface="Times New Roman"/>
              </a:rPr>
              <a:t>Σ ω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49F28AC2-845C-4943-BD5E-BBCC91937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7324725"/>
            <a:ext cx="41243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80E36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0">
                <a:solidFill>
                  <a:srgbClr val="080E36"/>
                </a:solidFill>
                <a:latin typeface="Arial Narrow"/>
                <a:ea typeface="Arial Narrow"/>
                <a:cs typeface="Arial Narrow"/>
              </a:rPr>
              <a:t>nonlinear + affine + low-rank bilinear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38E2BF78-2260-466B-B7B1-E43F6E88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5715000"/>
            <a:ext cx="419100" cy="428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0E36"/>
            </a:solidFill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2EDCF341-5E63-42A7-A952-EC21EEA38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5724525"/>
            <a:ext cx="3429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0">
                <a:solidFill>
                  <a:srgbClr val="080E3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>
                <a:solidFill>
                  <a:srgbClr val="080E36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E69FA651-EF8B-4135-AFEF-730E9AB30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6000750"/>
            <a:ext cx="1524000" cy="619125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E1E8EE"/>
          </a:solidFill>
          <a:ln xmlns:a="http://schemas.openxmlformats.org/drawingml/2006/main" w="14288">
            <a:solidFill>
              <a:srgbClr val="739FC5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2B7DE01C-28B9-4161-B828-83BCB4C0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1025" y="6134100"/>
            <a:ext cx="139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rPr>
              <a:t>Time integration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1321E9D4-00A7-4030-9E0D-8E232E659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4075" y="5972175"/>
            <a:ext cx="581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080E36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>
                <a:solidFill>
                  <a:srgbClr val="080E36"/>
                </a:solidFill>
                <a:latin typeface="Cambria Math"/>
                <a:ea typeface="Cambria Math"/>
                <a:cs typeface="Cambria Math"/>
              </a:rPr>
              <a:t>𝑎ₙ₊₁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6137C39B-6D53-4F4B-BA9F-EED6A4DFD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050" y="5962650"/>
            <a:ext cx="1724025" cy="657225"/>
          </a:xfrm>
          <a:prstGeom xmlns:a="http://schemas.openxmlformats.org/drawingml/2006/main" prst="roundRect">
            <a:avLst>
              <a:gd name="adj" fmla="val 13043"/>
            </a:avLst>
          </a:prstGeom>
          <a:gradFill xmlns:a="http://schemas.openxmlformats.org/drawingml/2006/main">
            <a:gsLst>
              <a:gs pos="0">
                <a:srgbClr val="E0EEFC"/>
              </a:gs>
              <a:gs pos="100000">
                <a:srgbClr val="D0E4FC"/>
              </a:gs>
            </a:gsLst>
            <a:lin ang="6600000"/>
          </a:gradFill>
          <a:ln xmlns:a="http://schemas.openxmlformats.org/drawingml/2006/main" w="14288">
            <a:solidFill>
              <a:srgbClr val="078AFF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95FB3B38-84FE-4CF6-9E0C-A7CE5839E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2775" y="6134100"/>
            <a:ext cx="1552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rPr>
              <a:t>Pressure-Possible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8D0678D5-B350-4929-8262-3E047BC41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5972175"/>
            <a:ext cx="609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080E36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>
                <a:solidFill>
                  <a:srgbClr val="080E36"/>
                </a:solidFill>
                <a:latin typeface="Cambria Math"/>
                <a:ea typeface="Cambria Math"/>
                <a:cs typeface="Cambria Math"/>
              </a:rPr>
              <a:t>𝑏ₙ₊₁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8DD3B67A-6B83-42DC-A8E1-9B85AA81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5457825"/>
            <a:ext cx="9525" cy="1790700"/>
          </a:xfrm>
          <a:custGeom xmlns:a="http://schemas.openxmlformats.org/drawingml/2006/main">
            <a:pathLst>
              <a:path w="9525" h="1790700">
                <a:moveTo>
                  <a:pt x="0" y="0"/>
                </a:moveTo>
                <a:lnTo>
                  <a:pt x="0" y="17907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DB5D3"/>
            </a:solidFill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07C3ABA3-8F5E-4C2A-A358-472D49BD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6791325"/>
            <a:ext cx="1571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rPr>
              <a:t>Velocity update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0A9346FF-FD16-4075-A230-DF930F31A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1350" y="6791325"/>
            <a:ext cx="15906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rPr>
              <a:t>Pressure update</a:t>
            </a:r>
          </a:p>
        </p:txBody>
      </p:sp>
    </p:spTree>
    <p:extLst>
      <p:ext uri="{BB962C8B-B14F-4D97-AF65-F5344CB8AC3E}">
        <p14:creationId xmlns:p14="http://schemas.microsoft.com/office/powerpoint/2010/main" val="20915527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2026-09-15T08:58:53.9650000Z</dcterms:created>
  <dcterms:modified xsi:type="dcterms:W3CDTF">2026-09-15T08:58:53.9650000Z</dcterms:modified>
</coreProperties>
</file>