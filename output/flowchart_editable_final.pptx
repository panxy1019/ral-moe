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6cafe13dc4310" /><Relationship Type="http://schemas.openxmlformats.org/officeDocument/2006/relationships/extended-properties" Target="/docProps/app.xml" Id="Rbbf5af55813144c6" /><Relationship Type="http://schemas.openxmlformats.org/officeDocument/2006/relationships/officeDocument" Target="/ppt/presentation.xml" Id="R1d0ea2a81ace49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6b13d884f44015"/>
  </p:sldMasterIdLst>
  <p:notesMasterIdLst>
    <p:notesMasterId xmlns:r="http://schemas.openxmlformats.org/officeDocument/2006/relationships" r:id="Ra24dec330ab84de2"/>
  </p:notesMasterIdLst>
  <p:sldIdLst>
    <p:sldId xmlns:r="http://schemas.openxmlformats.org/officeDocument/2006/relationships" id="256" r:id="R6dcad63b62aa4955"/>
  </p:sldIdLst>
  <p:sldSz cx="17345025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843ffa63634c46" /><Relationship Type="http://schemas.openxmlformats.org/officeDocument/2006/relationships/slideMaster" Target="/ppt/slideMasters/slideMaster1.xml" Id="R576b13d884f44015" /><Relationship Type="http://schemas.openxmlformats.org/officeDocument/2006/relationships/notesMaster" Target="/ppt/notesMasters/notesMaster1.xml" Id="Ra24dec330ab84de2" /><Relationship Type="http://schemas.openxmlformats.org/officeDocument/2006/relationships/presProps" Target="/ppt/presProps.xml" Id="Re2d66b7c05ef421b" /><Relationship Type="http://schemas.openxmlformats.org/officeDocument/2006/relationships/tableStyles" Target="/ppt/tableStyles.xml" Id="R9ea7fe88e3414074" /><Relationship Type="http://schemas.openxmlformats.org/officeDocument/2006/relationships/slide" Target="/ppt/slides/slide1.xml" Id="R6dcad63b62aa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0abbe6c7c040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64161e412b4be3" /><Relationship Type="http://schemas.openxmlformats.org/officeDocument/2006/relationships/notesMaster" Target="/ppt/notesMasters/notesMaster1.xml" Id="R8cbd6412c0f64f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74b7e238e4c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5204f8a9cb409a" /><Relationship Type="http://schemas.openxmlformats.org/officeDocument/2006/relationships/slideLayout" Target="/ppt/slideLayouts/slideLayout1.xml" Id="R5295e3f05d8049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5e3f05d8049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5d0f7563044b8" /><Relationship Type="http://schemas.openxmlformats.org/officeDocument/2006/relationships/notesSlide" Target="/ppt/notesSlides/notesSlide1.xml" Id="Ra3a3943905994d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997C8BC-1CB4-49CD-BCE0-A4A2FDD1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33350"/>
            <a:ext cx="17135475" cy="4133850"/>
          </a:xfrm>
          <a:prstGeom xmlns:a="http://schemas.openxmlformats.org/drawingml/2006/main" prst="roundRect">
            <a:avLst>
              <a:gd name="adj" fmla="val 41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98AAE-1A92-4D39-A281-F14D60BF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495800"/>
            <a:ext cx="17135475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EFC"/>
          </a:solidFill>
          <a:ln xmlns:a="http://schemas.openxmlformats.org/drawingml/2006/main" w="14288">
            <a:solidFill>
              <a:srgbClr val="75B0FF"/>
            </a:solidFill>
            <a:prstDash val="dash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4DD87-D5AE-4C73-A4ED-988D759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6AD53-0953-4736-BA67-D784659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A16"/>
                </a:solidFill>
                <a:latin typeface="Times New Roman"/>
                <a:ea typeface="Times New Roman"/>
                <a:cs typeface="Times New Roman"/>
              </a:rPr>
              <a:t>Global routing and physical-space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10742-16A8-4E34-AB73-1EE5C3D3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2: regime routing and specialist assembly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3B868-26FD-406A-A8C8-1D175F07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339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(b)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A30B1-F0D4-451D-8456-3A94BD15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339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One regime-local specialist (e.g., Hopf specialist)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A0135-3031-4592-82D2-CF779D66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6CB1"/>
                </a:solidFill>
                <a:latin typeface="Times New Roman"/>
                <a:ea typeface="Times New Roman"/>
                <a:cs typeface="Times New Roman"/>
              </a:rPr>
              <a:t>Level 1: sparse expert routing inside a specialist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690E5-539C-433A-BC2D-6B2F69EE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67350"/>
            <a:ext cx="4600575" cy="2152650"/>
          </a:xfrm>
          <a:prstGeom xmlns:a="http://schemas.openxmlformats.org/drawingml/2006/main" prst="roundRect">
            <a:avLst>
              <a:gd name="adj" fmla="val 3982"/>
            </a:avLst>
          </a:prstGeom>
          <a:gradFill xmlns:a="http://schemas.openxmlformats.org/drawingml/2006/main">
            <a:gsLst>
              <a:gs pos="0">
                <a:srgbClr val="FFF5E9"/>
              </a:gs>
              <a:gs pos="100000">
                <a:srgbClr val="FFEEDC"/>
              </a:gs>
            </a:gsLst>
            <a:lin ang="6000000"/>
          </a:gradFill>
          <a:ln xmlns:a="http://schemas.openxmlformats.org/drawingml/2006/main" w="14288">
            <a:solidFill>
              <a:srgbClr val="FF8025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066CB-6159-4530-A1D6-14D024F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647825"/>
            <a:ext cx="685800" cy="523875"/>
          </a:xfrm>
          <a:custGeom xmlns:a="http://schemas.openxmlformats.org/drawingml/2006/main">
            <a:pathLst>
              <a:path w="685800" h="523875">
                <a:moveTo>
                  <a:pt x="0" y="0"/>
                </a:moveTo>
                <a:lnTo>
                  <a:pt x="276225" y="0"/>
                </a:lnTo>
                <a:lnTo>
                  <a:pt x="276225" y="523875"/>
                </a:lnTo>
                <a:lnTo>
                  <a:pt x="685800" y="5238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0BC1E-427F-4251-96EB-F12DD0DD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240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6DA33-405C-4FA9-BA7B-97401DB7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685800" cy="485775"/>
          </a:xfrm>
          <a:custGeom xmlns:a="http://schemas.openxmlformats.org/drawingml/2006/main">
            <a:pathLst>
              <a:path w="685800" h="485775">
                <a:moveTo>
                  <a:pt x="0" y="485775"/>
                </a:moveTo>
                <a:lnTo>
                  <a:pt x="276225" y="485775"/>
                </a:lnTo>
                <a:lnTo>
                  <a:pt x="276225" y="0"/>
                </a:ln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9BD2F-C003-46B4-A5CE-2C3B12F3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67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BBE8C-263B-4659-B986-45F9EED9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504825" cy="9525"/>
          </a:xfrm>
          <a:custGeom xmlns:a="http://schemas.openxmlformats.org/drawingml/2006/main">
            <a:pathLst>
              <a:path w="504825" h="952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0E95B4-5666-492D-BB3B-E842574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955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C3A9F-8E60-49C7-973E-A02EF2F0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524000"/>
            <a:ext cx="561975" cy="781050"/>
          </a:xfrm>
          <a:custGeom xmlns:a="http://schemas.openxmlformats.org/drawingml/2006/main">
            <a:pathLst>
              <a:path w="561975" h="781050">
                <a:moveTo>
                  <a:pt x="0" y="781050"/>
                </a:moveTo>
                <a:lnTo>
                  <a:pt x="238125" y="781050"/>
                </a:lnTo>
                <a:lnTo>
                  <a:pt x="238125" y="0"/>
                </a:lnTo>
                <a:lnTo>
                  <a:pt x="561975" y="381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903A0-527E-4D2C-B11B-00F7E441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18" y="1501446"/>
            <a:ext cx="119082" cy="94598"/>
          </a:xfrm>
          <a:custGeom xmlns:a="http://schemas.openxmlformats.org/drawingml/2006/main">
            <a:pathLst>
              <a:path w="119082" h="94598">
                <a:moveTo>
                  <a:pt x="119082" y="60654"/>
                </a:moveTo>
                <a:lnTo>
                  <a:pt x="11129" y="0"/>
                </a:lnTo>
                <a:lnTo>
                  <a:pt x="0" y="94598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68FDE5-D32C-4B42-925C-973372B4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333500"/>
            <a:ext cx="1476375" cy="9525"/>
          </a:xfrm>
          <a:custGeom xmlns:a="http://schemas.openxmlformats.org/drawingml/2006/main">
            <a:pathLst>
              <a:path w="1476375" h="9525">
                <a:moveTo>
                  <a:pt x="0" y="0"/>
                </a:moveTo>
                <a:lnTo>
                  <a:pt x="147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8A138E-49EF-489D-95CC-06F3795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858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170B8-0CD3-4EDC-A813-78E2B742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1790700" cy="685800"/>
          </a:xfrm>
          <a:custGeom xmlns:a="http://schemas.openxmlformats.org/drawingml/2006/main">
            <a:pathLst>
              <a:path w="1790700" h="685800">
                <a:moveTo>
                  <a:pt x="0" y="0"/>
                </a:moveTo>
                <a:lnTo>
                  <a:pt x="0" y="685800"/>
                </a:lnTo>
                <a:lnTo>
                  <a:pt x="1790700" y="6858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4161B-03B3-449C-9EE6-F0CFE2E0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622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704BB9-0666-42DC-9355-CCCAB649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323975"/>
            <a:ext cx="3657600" cy="552450"/>
          </a:xfrm>
          <a:custGeom xmlns:a="http://schemas.openxmlformats.org/drawingml/2006/main">
            <a:pathLst>
              <a:path w="3657600" h="552450">
                <a:moveTo>
                  <a:pt x="0" y="0"/>
                </a:moveTo>
                <a:lnTo>
                  <a:pt x="3657600" y="0"/>
                </a:lnTo>
                <a:lnTo>
                  <a:pt x="3657600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1DB22E-73EB-41D7-A180-16263713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97225" y="176212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180F0C-44C8-49A1-AFA2-804B062B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57625"/>
            <a:ext cx="7362825" cy="9525"/>
          </a:xfrm>
          <a:custGeom xmlns:a="http://schemas.openxmlformats.org/drawingml/2006/main">
            <a:pathLst>
              <a:path w="7362825" h="9525">
                <a:moveTo>
                  <a:pt x="0" y="9525"/>
                </a:moveTo>
                <a:lnTo>
                  <a:pt x="7362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FD5368-9D75-4175-9145-5F94E9C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438" y="3810148"/>
            <a:ext cx="114362" cy="95250"/>
          </a:xfrm>
          <a:custGeom xmlns:a="http://schemas.openxmlformats.org/drawingml/2006/main">
            <a:pathLst>
              <a:path w="114362" h="95250">
                <a:moveTo>
                  <a:pt x="114362" y="47477"/>
                </a:moveTo>
                <a:lnTo>
                  <a:pt x="0" y="0"/>
                </a:lnTo>
                <a:lnTo>
                  <a:pt x="123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EAF7D-59D7-44E0-A415-38D7C9BC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33675"/>
            <a:ext cx="9525" cy="1123950"/>
          </a:xfrm>
          <a:custGeom xmlns:a="http://schemas.openxmlformats.org/drawingml/2006/main">
            <a:pathLst>
              <a:path w="9525" h="1123950">
                <a:moveTo>
                  <a:pt x="0" y="11239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A0282C-0FC7-4723-B6DB-ECBF897E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733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EF171-273D-4569-B4D1-94B26219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66950"/>
            <a:ext cx="1114425" cy="342900"/>
          </a:xfrm>
          <a:custGeom xmlns:a="http://schemas.openxmlformats.org/drawingml/2006/main">
            <a:pathLst>
              <a:path w="1114425" h="342900">
                <a:moveTo>
                  <a:pt x="0" y="0"/>
                </a:moveTo>
                <a:lnTo>
                  <a:pt x="419100" y="0"/>
                </a:lnTo>
                <a:lnTo>
                  <a:pt x="419100" y="342900"/>
                </a:lnTo>
                <a:lnTo>
                  <a:pt x="111442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E58992-06D6-44AA-8A35-0311986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AE2204-EEFD-4C75-8D78-616704AA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886075"/>
            <a:ext cx="1390650" cy="971550"/>
          </a:xfrm>
          <a:custGeom xmlns:a="http://schemas.openxmlformats.org/drawingml/2006/main">
            <a:pathLst>
              <a:path w="1390650" h="971550">
                <a:moveTo>
                  <a:pt x="0" y="971550"/>
                </a:moveTo>
                <a:lnTo>
                  <a:pt x="1390650" y="971550"/>
                </a:lnTo>
                <a:lnTo>
                  <a:pt x="1390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A2966-38D0-465D-86EA-6FE0E39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860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BDFF1F-0186-46BF-8B3C-DC68567B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2609850"/>
            <a:ext cx="990600" cy="9525"/>
          </a:xfrm>
          <a:custGeom xmlns:a="http://schemas.openxmlformats.org/drawingml/2006/main">
            <a:pathLst>
              <a:path w="990600" h="9525">
                <a:moveTo>
                  <a:pt x="0" y="0"/>
                </a:moveTo>
                <a:lnTo>
                  <a:pt x="990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26511-5933-4210-AC2A-2F304774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9475" y="25622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120E1A-18EE-4EB3-9D8A-1F90DF6C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296025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C18909-CAA7-4C05-BDC8-ED194447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2D40D0-5C31-4CCE-AC1C-B2D7C775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96025"/>
            <a:ext cx="314325" cy="9525"/>
          </a:xfrm>
          <a:custGeom xmlns:a="http://schemas.openxmlformats.org/drawingml/2006/main">
            <a:pathLst>
              <a:path w="314325" h="952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7F62B4-0D00-4F79-A6E2-6F842B34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2484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8C573-8CAD-4410-AE38-D5910F6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24450"/>
            <a:ext cx="1419225" cy="1171575"/>
          </a:xfrm>
          <a:custGeom xmlns:a="http://schemas.openxmlformats.org/drawingml/2006/main">
            <a:pathLst>
              <a:path w="1419225" h="1171575">
                <a:moveTo>
                  <a:pt x="0" y="1171575"/>
                </a:moveTo>
                <a:lnTo>
                  <a:pt x="209550" y="1171575"/>
                </a:lnTo>
                <a:lnTo>
                  <a:pt x="209550" y="0"/>
                </a:lnTo>
                <a:lnTo>
                  <a:pt x="1419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46FEC-928D-4451-BB96-3377E22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50768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6BF732-6048-49C3-859E-0D701AC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296025"/>
            <a:ext cx="476250" cy="333375"/>
          </a:xfrm>
          <a:custGeom xmlns:a="http://schemas.openxmlformats.org/drawingml/2006/main">
            <a:pathLst>
              <a:path w="476250" h="333375">
                <a:moveTo>
                  <a:pt x="0" y="0"/>
                </a:moveTo>
                <a:lnTo>
                  <a:pt x="0" y="333375"/>
                </a:lnTo>
                <a:lnTo>
                  <a:pt x="47625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52EBE-CEF1-4EE8-8447-2A227433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658177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DB1076-0F47-43F8-812E-7694ED8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124450"/>
            <a:ext cx="752475" cy="590550"/>
          </a:xfrm>
          <a:custGeom xmlns:a="http://schemas.openxmlformats.org/drawingml/2006/main">
            <a:pathLst>
              <a:path w="752475" h="590550">
                <a:moveTo>
                  <a:pt x="0" y="0"/>
                </a:moveTo>
                <a:lnTo>
                  <a:pt x="752475" y="0"/>
                </a:lnTo>
                <a:lnTo>
                  <a:pt x="752475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4ECA81-8D0C-4601-8292-F80536E3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5600700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114300"/>
                </a:moveTo>
                <a:lnTo>
                  <a:pt x="9525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58E2D3-D6CB-40F4-AD1C-4F76BD28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143625"/>
            <a:ext cx="466725" cy="276225"/>
          </a:xfrm>
          <a:custGeom xmlns:a="http://schemas.openxmlformats.org/drawingml/2006/main">
            <a:pathLst>
              <a:path w="466725" h="276225">
                <a:moveTo>
                  <a:pt x="0" y="276225"/>
                </a:moveTo>
                <a:lnTo>
                  <a:pt x="219075" y="276225"/>
                </a:lnTo>
                <a:lnTo>
                  <a:pt x="219075" y="0"/>
                </a:lnTo>
                <a:lnTo>
                  <a:pt x="466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891565-26E4-4382-A1B4-D77B2AA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0960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82116C7-E2A1-4AD9-B987-13B71702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619875"/>
            <a:ext cx="466725" cy="323850"/>
          </a:xfrm>
          <a:custGeom xmlns:a="http://schemas.openxmlformats.org/drawingml/2006/main">
            <a:pathLst>
              <a:path w="466725" h="323850">
                <a:moveTo>
                  <a:pt x="0" y="0"/>
                </a:moveTo>
                <a:lnTo>
                  <a:pt x="219075" y="0"/>
                </a:lnTo>
                <a:lnTo>
                  <a:pt x="219075" y="323850"/>
                </a:lnTo>
                <a:lnTo>
                  <a:pt x="466725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151380-5B34-436E-BD9F-E078423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8961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AA2EB3-1C47-43BE-BF26-9FE4576E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143625"/>
            <a:ext cx="447675" cy="342900"/>
          </a:xfrm>
          <a:custGeom xmlns:a="http://schemas.openxmlformats.org/drawingml/2006/main">
            <a:pathLst>
              <a:path w="447675" h="342900">
                <a:moveTo>
                  <a:pt x="0" y="0"/>
                </a:moveTo>
                <a:lnTo>
                  <a:pt x="219075" y="0"/>
                </a:lnTo>
                <a:lnTo>
                  <a:pt x="219075" y="342900"/>
                </a:lnTo>
                <a:lnTo>
                  <a:pt x="447675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056A3-2A32-4160-8DC9-B0407EB0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438900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822DD5-99DA-440C-9D9E-0E634642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686550"/>
            <a:ext cx="447675" cy="257175"/>
          </a:xfrm>
          <a:custGeom xmlns:a="http://schemas.openxmlformats.org/drawingml/2006/main">
            <a:pathLst>
              <a:path w="447675" h="257175">
                <a:moveTo>
                  <a:pt x="0" y="257175"/>
                </a:moveTo>
                <a:lnTo>
                  <a:pt x="219075" y="257175"/>
                </a:lnTo>
                <a:lnTo>
                  <a:pt x="219075" y="0"/>
                </a:ln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963D94-8919-482D-9655-8515576E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6638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E9D9A5-1F2E-4017-ACA2-A5219AB9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162675"/>
            <a:ext cx="457200" cy="428625"/>
          </a:xfrm>
          <a:custGeom xmlns:a="http://schemas.openxmlformats.org/drawingml/2006/main">
            <a:pathLst>
              <a:path w="457200" h="428625">
                <a:moveTo>
                  <a:pt x="0" y="428625"/>
                </a:moveTo>
                <a:lnTo>
                  <a:pt x="457200" y="428625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FFCDFC-20ED-42D8-9546-DE70551D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162675"/>
            <a:ext cx="95250" cy="114300"/>
          </a:xfrm>
          <a:custGeom xmlns:a="http://schemas.openxmlformats.org/drawingml/2006/main">
            <a:pathLst>
              <a:path w="95250" h="114300">
                <a:moveTo>
                  <a:pt x="47625" y="0"/>
                </a:moveTo>
                <a:lnTo>
                  <a:pt x="0" y="114300"/>
                </a:lnTo>
                <a:lnTo>
                  <a:pt x="95250" y="11430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2BE6F7-5789-4FE0-88CF-0C591056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63055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7278C0-E45F-46F5-B7D9-9CF71199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9E09A0-871A-4988-948F-C2BE6B3C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6305550"/>
            <a:ext cx="1028700" cy="9525"/>
          </a:xfrm>
          <a:custGeom xmlns:a="http://schemas.openxmlformats.org/drawingml/2006/main"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AF4E24-99CE-49A8-BDE4-75D70F3C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90CC16-735A-42F7-8C14-E7BD9CF2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21075" y="6305550"/>
            <a:ext cx="847725" cy="9525"/>
          </a:xfrm>
          <a:custGeom xmlns:a="http://schemas.openxmlformats.org/drawingml/2006/main">
            <a:pathLst>
              <a:path w="847725" h="9525">
                <a:moveTo>
                  <a:pt x="0" y="0"/>
                </a:moveTo>
                <a:lnTo>
                  <a:pt x="847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E5A376A-81BD-4822-931D-8297A610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6257925"/>
            <a:ext cx="114300" cy="95250"/>
          </a:xfrm>
          <a:custGeom xmlns:a="http://schemas.openxmlformats.org/drawingml/2006/main">
            <a:pathLst>
              <a:path w="114300" h="95250">
                <a:moveTo>
                  <a:pt x="114300" y="47625"/>
                </a:move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80E36"/>
          </a:solidFill>
          <a:ln xmlns:a="http://schemas.openxmlformats.org/drawingml/2006/main" w="0">
            <a:solidFill>
              <a:srgbClr val="080E36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7316E4-2411-41B8-906D-2964DC63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609850"/>
            <a:ext cx="419100" cy="381000"/>
          </a:xfrm>
          <a:custGeom xmlns:a="http://schemas.openxmlformats.org/drawingml/2006/main">
            <a:pathLst>
              <a:path w="419100" h="381000">
                <a:moveTo>
                  <a:pt x="0" y="381000"/>
                </a:moveTo>
                <a:lnTo>
                  <a:pt x="419100" y="381000"/>
                </a:ln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80E36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D8F9FC-59D9-4A8E-A1FD-E21A7B68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276350"/>
            <a:ext cx="2124075" cy="723900"/>
          </a:xfrm>
          <a:prstGeom xmlns:a="http://schemas.openxmlformats.org/drawingml/2006/main" prst="roundRect">
            <a:avLst>
              <a:gd name="adj" fmla="val 11842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360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3E96CE-A726-4E84-9865-EF78DD0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3025"/>
            <a:ext cx="1952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Parameter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EA6024-88C4-4F94-A865-B03DA6DE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1A79FA4-D505-47CB-B6CE-35A880CA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28875"/>
            <a:ext cx="2124075" cy="1666875"/>
          </a:xfrm>
          <a:prstGeom xmlns:a="http://schemas.openxmlformats.org/drawingml/2006/main" prst="roundRect">
            <a:avLst>
              <a:gd name="adj" fmla="val 5143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A298CA-931B-4AAA-95FA-55546A9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431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C84CD9-9550-48FB-85F3-98AD2B5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431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ℋ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6C9733-0B0A-45BF-AC00-996C908F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66700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16F99AE-1FF2-4E40-9C35-6294AAC5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265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2AA2E8-58C7-45CA-8953-47937692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27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74A2DA8-F474-44A6-920B-3DB16A08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789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16AA38-5DB3-4026-9B39-D5F63E4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51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F1DC0A-1A9B-46D8-91AA-309ED0B1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31356"/>
            <a:ext cx="1083278" cy="750094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88D6B5-51FB-4A9A-A761-DF269562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48025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D5282C-519F-45DC-8778-66D157F1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1571625" cy="1876425"/>
          </a:xfrm>
          <a:custGeom xmlns:a="http://schemas.openxmlformats.org/drawingml/2006/main">
            <a:pathLst>
              <a:path w="1571625" h="1876425">
                <a:moveTo>
                  <a:pt x="0" y="0"/>
                </a:moveTo>
                <a:lnTo>
                  <a:pt x="1571625" y="371475"/>
                </a:lnTo>
                <a:lnTo>
                  <a:pt x="1571625" y="1457325"/>
                </a:lnTo>
                <a:lnTo>
                  <a:pt x="0" y="18764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C9F2F0"/>
              </a:gs>
              <a:gs pos="100000">
                <a:srgbClr val="A9E6E5"/>
              </a:gs>
            </a:gsLst>
            <a:lin ang="6000000"/>
          </a:gradFill>
          <a:ln xmlns:a="http://schemas.openxmlformats.org/drawingml/2006/main" w="15240">
            <a:solidFill>
              <a:srgbClr val="00A1A8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FCFBF5-40FD-496C-BBB5-3F2588E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3239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Parameter</a:t>
            </a:r>
          </a:p>
          <a:p xmlns:a="http://schemas.openxmlformats.org/drawingml/2006/main">
            <a:pPr algn="ctr">
              <a:def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00131E"/>
                </a:solidFill>
                <a:latin typeface="Times New Roman"/>
                <a:ea typeface="Times New Roman"/>
                <a:cs typeface="Times New Roman"/>
              </a:rPr>
              <a:t>router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73E9558-3F4B-4D60-823D-2FFFD109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860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ADAD8FC-69DF-47ED-80F7-0C19B46E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7622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9F252CD-5537-4572-ACAB-718EF8B4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384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0A3AA"/>
          </a:solidFill>
          <a:ln xmlns:a="http://schemas.openxmlformats.org/drawingml/2006/main" w="14288">
            <a:solidFill>
              <a:srgbClr val="00A3A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7469F72-5B61-45B3-BA53-0F45098A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438275" cy="733425"/>
          </a:xfrm>
          <a:prstGeom xmlns:a="http://schemas.openxmlformats.org/drawingml/2006/main" prst="roundRect">
            <a:avLst>
              <a:gd name="adj" fmla="val 11688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F8AD2F-6BB4-469B-A506-6779915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047875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Masked</a:t>
            </a:r>
          </a:p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selection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8F57A9-5EA6-4E64-97EC-8C6360C1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90600"/>
            <a:ext cx="1390650" cy="1343025"/>
          </a:xfrm>
          <a:custGeom xmlns:a="http://schemas.openxmlformats.org/drawingml/2006/main">
            <a:pathLst>
              <a:path w="1390650" h="1343025">
                <a:moveTo>
                  <a:pt x="685800" y="0"/>
                </a:moveTo>
                <a:lnTo>
                  <a:pt x="1390650" y="590550"/>
                </a:lnTo>
                <a:lnTo>
                  <a:pt x="676275" y="1343025"/>
                </a:lnTo>
                <a:lnTo>
                  <a:pt x="0" y="60007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9E2"/>
              </a:gs>
              <a:gs pos="100000">
                <a:srgbClr val="FFF0BE"/>
              </a:gs>
            </a:gsLst>
            <a:lin ang="6600000"/>
          </a:gra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4D66F54-8CE2-469C-80CD-E1D2B9B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238250"/>
            <a:ext cx="10763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or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Top-2?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F807BF3-94B7-45E8-8939-B113930C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3822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BEAA0C2-A48E-46B7-B846-E53353C0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28875"/>
            <a:ext cx="1247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(adjacent)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4C961E-1797-4022-A89F-EB01490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6675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regime-local specialist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63B479-80B5-4028-A0F4-8D415831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028700"/>
            <a:ext cx="2457450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4288">
            <a:solidFill>
              <a:srgbClr val="FF7F29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B412401-547E-4BED-A775-67BA1377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133475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A24DCD5-DB18-4FC2-BB8E-66DD07FB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2705100" cy="1495425"/>
          </a:xfrm>
          <a:prstGeom xmlns:a="http://schemas.openxmlformats.org/drawingml/2006/main" prst="roundRect">
            <a:avLst>
              <a:gd name="adj" fmla="val 764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FF8128"/>
            </a:solidFill>
            <a:prstDash val="dash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F56513-7A22-484B-A53D-07258E49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990725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DB528A8-B539-4C24-A338-4FB239B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05025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𝑟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F6044B-4B4E-47A1-97E4-CC61622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705100"/>
            <a:ext cx="2438400" cy="571500"/>
          </a:xfrm>
          <a:prstGeom xmlns:a="http://schemas.openxmlformats.org/drawingml/2006/main" prst="roundRect">
            <a:avLst>
              <a:gd name="adj" fmla="val 15000"/>
            </a:avLst>
          </a:prstGeom>
          <a:gradFill xmlns:a="http://schemas.openxmlformats.org/drawingml/2006/main">
            <a:gsLst>
              <a:gs pos="0">
                <a:srgbClr val="FFEAF0"/>
              </a:gs>
              <a:gs pos="100000">
                <a:srgbClr val="FFDFE8"/>
              </a:gs>
            </a:gsLst>
            <a:lin ang="6000000"/>
          </a:gradFill>
          <a:ln xmlns:a="http://schemas.openxmlformats.org/drawingml/2006/main" w="14288">
            <a:solidFill>
              <a:srgbClr val="FF2981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9EB92E3-8054-48A9-B7BE-7821FD94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19400"/>
            <a:ext cx="234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Specialist 𝑠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15B335F-B6F4-424C-91D7-064A376C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2466975" cy="533400"/>
          </a:xfrm>
          <a:prstGeom xmlns:a="http://schemas.openxmlformats.org/drawingml/2006/main" prst="roundRect">
            <a:avLst>
              <a:gd name="adj" fmla="val 16071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6811EA1-15CF-4B9B-8DC4-EC22D8EB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648075"/>
            <a:ext cx="225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95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Descriptor 𝑑ₙ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9BE02AD-F782-48EC-ACCF-42AFB025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333625"/>
            <a:ext cx="561975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1CA"/>
          </a:solidFill>
          <a:ln xmlns:a="http://schemas.openxmlformats.org/drawingml/2006/main" w="19050">
            <a:solidFill>
              <a:srgbClr val="071F22"/>
            </a:solidFill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EB476F-EAEA-488F-A81C-D013736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2505075"/>
            <a:ext cx="219075" cy="2190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4D1479B-D0ED-4E96-B246-6F254962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2614613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4B2417-E724-46FB-ACF5-3A0C79FF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2188" y="2495550"/>
            <a:ext cx="9525" cy="238125"/>
          </a:xfrm>
          <a:custGeom xmlns:a="http://schemas.openxmlformats.org/drawingml/2006/main"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071F22"/>
            </a:solidFill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FBD595-C863-4519-8261-0F830BAF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1885950"/>
            <a:ext cx="2095500" cy="1828800"/>
          </a:xfrm>
          <a:prstGeom xmlns:a="http://schemas.openxmlformats.org/drawingml/2006/main" prst="roundRect">
            <a:avLst>
              <a:gd name="adj" fmla="val 4688"/>
            </a:avLst>
          </a:pr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4288">
            <a:solidFill>
              <a:srgbClr val="9964F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804C4BA-3163-446F-B83A-5A5F7C15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19621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Predicted fields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E68F127-C4B8-4096-8A39-127D2C77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2305050"/>
            <a:ext cx="1562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𝑢̃, 𝑝̂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48C1D2-A166-4EB1-9C89-AF7FB735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0" y="2886075"/>
            <a:ext cx="4667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F2A6708-81C2-4F88-A578-45AEF1A3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724525"/>
            <a:ext cx="1647825" cy="1409700"/>
          </a:xfrm>
          <a:prstGeom xmlns:a="http://schemas.openxmlformats.org/drawingml/2006/main" prst="roundRect">
            <a:avLst>
              <a:gd name="adj" fmla="val 6081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7CC35B0-6E7C-497A-A57C-469311F7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83882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Physical history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40E090-82E0-458C-9755-0F715D94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83882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34D0F2B-DAD1-4D58-8934-CD398DA2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62650"/>
            <a:ext cx="9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99CACD9-DD7C-4C71-8B27-8C81D556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807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8608A5F-482E-4643-A873-D096C334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569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76C18F4-B224-4031-8313-AC181C46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331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B44324E-2D08-4959-A68E-EBD5052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3093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7E31DB1-549C-43D6-92C7-832C6BA7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85560"/>
            <a:ext cx="840391" cy="634365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F0F5F9"/>
              </a:gs>
              <a:gs pos="100000">
                <a:srgbClr val="E7EFF5"/>
              </a:gs>
            </a:gsLst>
            <a:lin ang="7200000"/>
          </a:gradFill>
          <a:ln xmlns:a="http://schemas.openxmlformats.org/drawingml/2006/main" w="14288">
            <a:solidFill>
              <a:srgbClr val="7D9FC0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3F5C945-24D9-4E0A-B203-0B67FDE0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286500"/>
            <a:ext cx="409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A99C411-46EA-4B56-B3BD-EBC4E8C2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600700"/>
            <a:ext cx="1285875" cy="1638300"/>
          </a:xfrm>
          <a:custGeom xmlns:a="http://schemas.openxmlformats.org/drawingml/2006/main">
            <a:pathLst>
              <a:path w="1285875" h="1638300">
                <a:moveTo>
                  <a:pt x="0" y="0"/>
                </a:moveTo>
                <a:lnTo>
                  <a:pt x="1285875" y="295275"/>
                </a:lnTo>
                <a:lnTo>
                  <a:pt x="1285875" y="1304925"/>
                </a:lnTo>
                <a:lnTo>
                  <a:pt x="0" y="16383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FF3E7"/>
              </a:gs>
              <a:gs pos="100000">
                <a:srgbClr val="FFE6D0"/>
              </a:gs>
            </a:gsLst>
            <a:lin ang="6000000"/>
          </a:gradFill>
          <a:ln xmlns:a="http://schemas.openxmlformats.org/drawingml/2006/main" w="15240">
            <a:solidFill>
              <a:srgbClr val="FF791D"/>
            </a:solidFill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73F985B-8D6D-4B92-B0BB-148A788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95975"/>
            <a:ext cx="11144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POD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encoder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295B7FD-9B3E-433B-BE40-F35A3EE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391275"/>
            <a:ext cx="58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𝜙ᵣ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A179120-17A2-489C-B00D-B8ABFA53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68484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8D960F5-E05C-4306-9DF4-5BE4A788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7246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01EC2CA-7027-4D94-B202-DB20B8A0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66008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8523"/>
          </a:solidFill>
          <a:ln xmlns:a="http://schemas.openxmlformats.org/drawingml/2006/main" w="14288">
            <a:solidFill>
              <a:srgbClr val="F7852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D8BC62D-9F46-400C-AD87-75A14D3C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5800725"/>
            <a:ext cx="2352675" cy="1085850"/>
          </a:xfrm>
          <a:prstGeom xmlns:a="http://schemas.openxmlformats.org/drawingml/2006/main" prst="roundRect">
            <a:avLst>
              <a:gd name="adj" fmla="val 7895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4416D82-2C34-48A5-8BEE-FEEAEE1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876925"/>
            <a:ext cx="2085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Local reduced state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37B958-4634-4A65-BF53-BED92B7C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76800"/>
            <a:ext cx="3086100" cy="476250"/>
          </a:xfrm>
          <a:prstGeom xmlns:a="http://schemas.openxmlformats.org/drawingml/2006/main" prst="roundRect">
            <a:avLst>
              <a:gd name="adj" fmla="val 18000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D116AA8-3042-460C-8B7C-3D00ADEE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43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Projected ROM 𝑇ᵣᴳ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0E79878-8B79-4FB4-AC8F-E4DB7C91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defRPr>
            </a:pPr>
            <a:r>
              <a:rPr sz="2025" b="1">
                <a:solidFill>
                  <a:srgbClr val="F25A08"/>
                </a:solidFill>
                <a:latin typeface="Arial Narrow"/>
                <a:ea typeface="Arial Narrow"/>
                <a:cs typeface="Arial Narrow"/>
              </a:rPr>
              <a:t>Sparse MoE correction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1A1816-615D-4F86-A027-5C75B82B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5245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25A0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F25A08"/>
                </a:solidFill>
                <a:latin typeface="Cambria Math"/>
                <a:ea typeface="Cambria Math"/>
                <a:cs typeface="Cambria Math"/>
              </a:rPr>
              <a:t>ρ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D066E6C-170D-413F-A9B0-BA81BF48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67375"/>
            <a:ext cx="285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25A0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>
                <a:solidFill>
                  <a:srgbClr val="F25A08"/>
                </a:solidFill>
                <a:latin typeface="Cambria Math"/>
                <a:ea typeface="Cambria Math"/>
                <a:cs typeface="Cambria Math"/>
              </a:rPr>
              <a:t>θᵣ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4070953-4770-4F1B-90F3-80EFF430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962650"/>
            <a:ext cx="990600" cy="1228725"/>
          </a:xfrm>
          <a:custGeom xmlns:a="http://schemas.openxmlformats.org/drawingml/2006/main">
            <a:pathLst>
              <a:path w="990600" h="1228725">
                <a:moveTo>
                  <a:pt x="0" y="0"/>
                </a:moveTo>
                <a:lnTo>
                  <a:pt x="990600" y="104775"/>
                </a:lnTo>
                <a:lnTo>
                  <a:pt x="990600" y="1114425"/>
                </a:lnTo>
                <a:lnTo>
                  <a:pt x="0" y="1228725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EEE8FA"/>
              </a:gs>
              <a:gs pos="100000">
                <a:srgbClr val="E5DEFA"/>
              </a:gs>
            </a:gsLst>
            <a:lin ang="6600000"/>
          </a:gradFill>
          <a:ln xmlns:a="http://schemas.openxmlformats.org/drawingml/2006/main" w="15240">
            <a:solidFill>
              <a:srgbClr val="9561FF"/>
            </a:solidFill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9E05FC6-9494-4B49-9867-333D4995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105525"/>
            <a:ext cx="723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Group</a:t>
            </a:r>
          </a:p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router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ECC9685-DD23-42BC-A3E0-1173E6D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886575"/>
            <a:ext cx="114300" cy="171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38CE7D4-F8F2-435D-B362-00957E0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6762750"/>
            <a:ext cx="114300" cy="2952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236E124-A6DE-4EC0-9FFC-D7D673E5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638925"/>
            <a:ext cx="11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9C5CFC"/>
          </a:solidFill>
          <a:ln xmlns:a="http://schemas.openxmlformats.org/drawingml/2006/main" w="14288">
            <a:solidFill>
              <a:srgbClr val="9C5CFC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1563395-8FE8-4E27-9876-EDD4B9F4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848350"/>
            <a:ext cx="1724025" cy="590550"/>
          </a:xfrm>
          <a:prstGeom xmlns:a="http://schemas.openxmlformats.org/drawingml/2006/main" prst="roundRect">
            <a:avLst>
              <a:gd name="adj" fmla="val 14516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94556AE-11B9-4982-8800-A58A0085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886450"/>
            <a:ext cx="1533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Shared expert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5C63B26-DF60-46BB-982C-C9C4FCE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143625"/>
            <a:ext cx="157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E₀ (always active)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19EC39F-3541-484D-AB82-958CD3A8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5341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FFEAE6"/>
              </a:gs>
              <a:gs pos="100000">
                <a:srgbClr val="FFDCD6"/>
              </a:gs>
            </a:gsLst>
            <a:lin ang="6000000"/>
          </a:gra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20E4B08-66F1-4EAE-8B6F-039DCE79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572250"/>
            <a:ext cx="1628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57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Top-2 routed experts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82D9935-F444-4353-BBCA-630B1F41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848475"/>
            <a:ext cx="1381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𝐸ᵣ,₁, 𝐸ᵣ,₂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88B9865-7D0B-4402-A748-3B918B06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305550"/>
            <a:ext cx="600075" cy="542925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E9E3"/>
          </a:solidFill>
          <a:ln xmlns:a="http://schemas.openxmlformats.org/drawingml/2006/main" w="14288">
            <a:solidFill>
              <a:srgbClr val="FF716B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3479088-523A-42A3-9FD4-429EE532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410325"/>
            <a:ext cx="542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Σ ω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771D510-D77C-40D8-80B2-9D40647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7324725"/>
            <a:ext cx="41243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725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nonlinear + affine + low-rank bilinear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6D9A2A8-9927-48E2-86E0-C0A706A4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715000"/>
            <a:ext cx="419100" cy="428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0E36"/>
            </a:solidFill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BDAC405-AC47-417A-B4AE-8BE9296C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5724525"/>
            <a:ext cx="34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0">
                <a:solidFill>
                  <a:srgbClr val="080E36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E79A7542-9710-4BE7-9A33-AB340F04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6000750"/>
            <a:ext cx="1524000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1E8EE"/>
          </a:solidFill>
          <a:ln xmlns:a="http://schemas.openxmlformats.org/drawingml/2006/main" w="14288">
            <a:solidFill>
              <a:srgbClr val="739FC5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D837C9D-41C5-4E7C-A78E-D8CF3284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61341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Time integration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6F8BEB1-F21B-4F7D-898C-3BE86E82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5972175"/>
            <a:ext cx="581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𝑎ₙ₊₁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E229932-9039-4DD8-A75F-8A69D42B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5962650"/>
            <a:ext cx="1724025" cy="657225"/>
          </a:xfrm>
          <a:prstGeom xmlns:a="http://schemas.openxmlformats.org/drawingml/2006/main" prst="roundRect">
            <a:avLst>
              <a:gd name="adj" fmla="val 13043"/>
            </a:avLst>
          </a:prstGeom>
          <a:gradFill xmlns:a="http://schemas.openxmlformats.org/drawingml/2006/main">
            <a:gsLst>
              <a:gs pos="0">
                <a:srgbClr val="E0EEFC"/>
              </a:gs>
              <a:gs pos="100000">
                <a:srgbClr val="D0E4FC"/>
              </a:gs>
            </a:gsLst>
            <a:lin ang="6600000"/>
          </a:gradFill>
          <a:ln xmlns:a="http://schemas.openxmlformats.org/drawingml/2006/main" w="14288">
            <a:solidFill>
              <a:srgbClr val="078AFF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ED264C6-2556-4961-ADED-DE9C71F1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6134100"/>
            <a:ext cx="155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Pressure-Possible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CDAEE82-B207-419D-9D0C-63E74FE9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5972175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080E36"/>
                </a:solidFill>
                <a:latin typeface="Cambria Math"/>
                <a:ea typeface="Cambria Math"/>
                <a:cs typeface="Cambria Math"/>
              </a:rPr>
              <a:t>𝑏ₙ₊₁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2888957D-C5C5-4967-9B54-522E3B08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457825"/>
            <a:ext cx="9525" cy="1790700"/>
          </a:xfrm>
          <a:custGeom xmlns:a="http://schemas.openxmlformats.org/drawingml/2006/main">
            <a:pathLst>
              <a:path w="9525" h="1790700">
                <a:moveTo>
                  <a:pt x="0" y="0"/>
                </a:moveTo>
                <a:lnTo>
                  <a:pt x="0" y="179070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8DB5D3"/>
            </a:solidFill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845C1266-FA3F-4FC5-9EE2-FB7DFD8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791325"/>
            <a:ext cx="1571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Velocity update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57343F4-9685-4664-B134-F20992B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1350" y="6791325"/>
            <a:ext cx="159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0">
                <a:solidFill>
                  <a:srgbClr val="080E36"/>
                </a:solidFill>
                <a:latin typeface="Arial Narrow"/>
                <a:ea typeface="Arial Narrow"/>
                <a:cs typeface="Arial Narrow"/>
              </a:rPr>
              <a:t>Pressure update</a:t>
            </a:r>
          </a:p>
        </p:txBody>
      </p:sp>
    </p:spTree>
    <p:extLst>
      <p:ext uri="{BB962C8B-B14F-4D97-AF65-F5344CB8AC3E}">
        <p14:creationId xmlns:p14="http://schemas.microsoft.com/office/powerpoint/2010/main" val="1647242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2026-09-15T09:00:55.8670000Z</dcterms:created>
  <dcterms:modified xsi:type="dcterms:W3CDTF">2026-09-15T09:00:55.8670000Z</dcterms:modified>
</coreProperties>
</file>