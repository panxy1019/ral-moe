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fa81d5c4af4239" /><Relationship Type="http://schemas.openxmlformats.org/officeDocument/2006/relationships/extended-properties" Target="/docProps/app.xml" Id="Rc837960bef394946" /><Relationship Type="http://schemas.openxmlformats.org/officeDocument/2006/relationships/officeDocument" Target="/ppt/presentation.xml" Id="Ra3b10502113a4e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a5633212904998"/>
  </p:sldMasterIdLst>
  <p:notesMasterIdLst>
    <p:notesMasterId xmlns:r="http://schemas.openxmlformats.org/officeDocument/2006/relationships" r:id="Rd669902634344b72"/>
  </p:notesMasterIdLst>
  <p:sldIdLst>
    <p:sldId xmlns:r="http://schemas.openxmlformats.org/officeDocument/2006/relationships" id="256" r:id="Rc899d0ba68634b90"/>
  </p:sldIdLst>
  <p:sldSz cx="17345025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9bc81d1b134642" /><Relationship Type="http://schemas.openxmlformats.org/officeDocument/2006/relationships/slideMaster" Target="/ppt/slideMasters/slideMaster1.xml" Id="R1ea5633212904998" /><Relationship Type="http://schemas.openxmlformats.org/officeDocument/2006/relationships/notesMaster" Target="/ppt/notesMasters/notesMaster1.xml" Id="Rd669902634344b72" /><Relationship Type="http://schemas.openxmlformats.org/officeDocument/2006/relationships/presProps" Target="/ppt/presProps.xml" Id="Re41e35754334457e" /><Relationship Type="http://schemas.openxmlformats.org/officeDocument/2006/relationships/tableStyles" Target="/ppt/tableStyles.xml" Id="R52c16bb89bbe432f" /><Relationship Type="http://schemas.openxmlformats.org/officeDocument/2006/relationships/slide" Target="/ppt/slides/slide1.xml" Id="Rc899d0ba68634b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c3f967a6f842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4756ea6d8450d" /><Relationship Type="http://schemas.openxmlformats.org/officeDocument/2006/relationships/notesMaster" Target="/ppt/notesMasters/notesMaster1.xml" Id="R32748a784fdc4b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12261c97f45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f1e5b435684334" /><Relationship Type="http://schemas.openxmlformats.org/officeDocument/2006/relationships/slideLayout" Target="/ppt/slideLayouts/slideLayout1.xml" Id="R3c5a3312c00648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5a3312c00648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e239962614574" /><Relationship Type="http://schemas.openxmlformats.org/officeDocument/2006/relationships/notesSlide" Target="/ppt/notesSlides/notesSlide1.xml" Id="R4b3ad9e232f440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7BD568A-CAA4-4A1B-AD3E-08E91088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33350"/>
            <a:ext cx="17135475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5B0FF"/>
            </a:solidFill>
            <a:prstDash val="dash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46B4D-2F68-42F2-B3ED-A780543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495800"/>
            <a:ext cx="17135475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4288">
            <a:solidFill>
              <a:srgbClr val="75B0FF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5FCEB-A8B3-4421-BFA8-73AB4B16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1C53B-ECAE-451B-ADA9-DBF0A685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0A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80A16"/>
                </a:solidFill>
                <a:latin typeface="Times New Roman"/>
                <a:ea typeface="Times New Roman"/>
                <a:cs typeface="Times New Roman"/>
              </a:rPr>
              <a:t>Global routing and physical-space assembly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C27DD-A4EF-468D-AC62-C661ABEE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29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rPr>
              <a:t>Level 2: regime routing and specialist assembly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C973A-EDBE-4E0B-BD77-49AC5A7F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5339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C0AFA-F8FC-42BE-93A9-50F78C33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33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One regime-local specialist (e.g., Hopf specialist)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3C4BD-30C4-43ED-BC18-187EA95C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rPr>
              <a:t>Level 1: sparse expert routing inside a specialist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1CBD1-1C53-4788-93F2-EE474AC6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67350"/>
            <a:ext cx="4600575" cy="2152650"/>
          </a:xfrm>
          <a:prstGeom xmlns:a="http://schemas.openxmlformats.org/drawingml/2006/main" prst="roundRect">
            <a:avLst>
              <a:gd name="adj" fmla="val 3982"/>
            </a:avLst>
          </a:prstGeom>
          <a:gradFill xmlns:a="http://schemas.openxmlformats.org/drawingml/2006/main">
            <a:gsLst>
              <a:gs pos="0">
                <a:srgbClr val="FFF5E9"/>
              </a:gs>
              <a:gs pos="100000">
                <a:srgbClr val="FFEEDC"/>
              </a:gs>
            </a:gsLst>
            <a:lin ang="6000000"/>
          </a:gradFill>
          <a:ln xmlns:a="http://schemas.openxmlformats.org/drawingml/2006/main" w="14288">
            <a:solidFill>
              <a:srgbClr val="FF8025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51002-D780-4FF3-A139-83F2F6FD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647825"/>
            <a:ext cx="685800" cy="523875"/>
          </a:xfrm>
          <a:custGeom xmlns:a="http://schemas.openxmlformats.org/drawingml/2006/main"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09893-D71D-49AF-A935-F7AB8165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1240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BFBF0-C22B-423B-9CD6-E47DC32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14625"/>
            <a:ext cx="685800" cy="485775"/>
          </a:xfrm>
          <a:custGeom xmlns:a="http://schemas.openxmlformats.org/drawingml/2006/main">
            <a:pathLst>
              <a:path w="685800" h="485775">
                <a:moveTo>
                  <a:pt x="0" y="485775"/>
                </a:moveTo>
                <a:lnTo>
                  <a:pt x="276225" y="485775"/>
                </a:lnTo>
                <a:lnTo>
                  <a:pt x="276225" y="0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15C0E-FDAD-428D-82FB-FE37C315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67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AD00A-65A2-4B47-A095-7AB34B89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43150"/>
            <a:ext cx="504825" cy="9525"/>
          </a:xfrm>
          <a:custGeom xmlns:a="http://schemas.openxmlformats.org/drawingml/2006/main"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28265-DC83-4C5D-B90E-87B9C81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955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4237B-BD42-4C49-9868-9AC7EE1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524000"/>
            <a:ext cx="561975" cy="781050"/>
          </a:xfrm>
          <a:custGeom xmlns:a="http://schemas.openxmlformats.org/drawingml/2006/main">
            <a:pathLst>
              <a:path w="561975" h="781050">
                <a:moveTo>
                  <a:pt x="0" y="781050"/>
                </a:moveTo>
                <a:lnTo>
                  <a:pt x="238125" y="781050"/>
                </a:lnTo>
                <a:lnTo>
                  <a:pt x="238125" y="0"/>
                </a:lnTo>
                <a:lnTo>
                  <a:pt x="561975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94C55-1E91-4E4E-8CDE-0157EACA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18" y="1501446"/>
            <a:ext cx="119082" cy="94598"/>
          </a:xfrm>
          <a:custGeom xmlns:a="http://schemas.openxmlformats.org/drawingml/2006/main">
            <a:pathLst>
              <a:path w="119082" h="94598">
                <a:moveTo>
                  <a:pt x="119082" y="60654"/>
                </a:moveTo>
                <a:lnTo>
                  <a:pt x="11129" y="0"/>
                </a:lnTo>
                <a:lnTo>
                  <a:pt x="0" y="94598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C834A-A8A4-4017-B5BC-5A4DF67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33500"/>
            <a:ext cx="1476375" cy="9525"/>
          </a:xfrm>
          <a:custGeom xmlns:a="http://schemas.openxmlformats.org/drawingml/2006/main"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C3A9E-DFCF-40D2-8563-43B8F422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858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4F3E4-A35A-44AC-9BD7-443355E8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1790700" cy="685800"/>
          </a:xfrm>
          <a:custGeom xmlns:a="http://schemas.openxmlformats.org/drawingml/2006/main">
            <a:pathLst>
              <a:path w="1790700" h="685800">
                <a:moveTo>
                  <a:pt x="0" y="0"/>
                </a:moveTo>
                <a:lnTo>
                  <a:pt x="0" y="685800"/>
                </a:lnTo>
                <a:lnTo>
                  <a:pt x="1790700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1EC29-0DD4-4E6E-9C79-608D15C4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622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31B5A-3B2C-4E74-B15F-BEEFC146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323975"/>
            <a:ext cx="3657600" cy="552450"/>
          </a:xfrm>
          <a:custGeom xmlns:a="http://schemas.openxmlformats.org/drawingml/2006/main">
            <a:pathLst>
              <a:path w="3657600" h="552450">
                <a:moveTo>
                  <a:pt x="0" y="0"/>
                </a:moveTo>
                <a:lnTo>
                  <a:pt x="3657600" y="0"/>
                </a:lnTo>
                <a:lnTo>
                  <a:pt x="365760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AC498-5A5D-44C5-BE81-A25338C4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7621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CEF97-0C79-4534-8BE6-9A547C73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57625"/>
            <a:ext cx="7362825" cy="9525"/>
          </a:xfrm>
          <a:custGeom xmlns:a="http://schemas.openxmlformats.org/drawingml/2006/main">
            <a:pathLst>
              <a:path w="7362825" h="9525">
                <a:moveTo>
                  <a:pt x="0" y="9525"/>
                </a:moveTo>
                <a:lnTo>
                  <a:pt x="736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ACCC0D-7B07-45F3-8833-D082466E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438" y="3810148"/>
            <a:ext cx="114362" cy="95250"/>
          </a:xfrm>
          <a:custGeom xmlns:a="http://schemas.openxmlformats.org/drawingml/2006/main">
            <a:pathLst>
              <a:path w="114362" h="95250">
                <a:moveTo>
                  <a:pt x="114362" y="47477"/>
                </a:moveTo>
                <a:lnTo>
                  <a:pt x="0" y="0"/>
                </a:lnTo>
                <a:lnTo>
                  <a:pt x="123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0A3638-B119-4CC9-AE5F-066EA617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33675"/>
            <a:ext cx="9525" cy="1123950"/>
          </a:xfrm>
          <a:custGeom xmlns:a="http://schemas.openxmlformats.org/drawingml/2006/main">
            <a:pathLst>
              <a:path w="9525" h="1123950">
                <a:moveTo>
                  <a:pt x="0" y="1123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3C14D8-5E49-4421-8542-1CA9EFD9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7336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D2776-B9AE-4D23-AFF9-E2BDD2F4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266950"/>
            <a:ext cx="1114425" cy="342900"/>
          </a:xfrm>
          <a:custGeom xmlns:a="http://schemas.openxmlformats.org/drawingml/2006/main">
            <a:pathLst>
              <a:path w="1114425" h="342900">
                <a:moveTo>
                  <a:pt x="0" y="0"/>
                </a:moveTo>
                <a:lnTo>
                  <a:pt x="419100" y="0"/>
                </a:lnTo>
                <a:lnTo>
                  <a:pt x="419100" y="342900"/>
                </a:lnTo>
                <a:lnTo>
                  <a:pt x="1114425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AC6B3-80E4-4A70-A283-7832417E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25622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681D88-B01D-43A4-80A3-89326D60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886075"/>
            <a:ext cx="1390650" cy="971550"/>
          </a:xfrm>
          <a:custGeom xmlns:a="http://schemas.openxmlformats.org/drawingml/2006/main">
            <a:pathLst>
              <a:path w="1390650" h="971550">
                <a:moveTo>
                  <a:pt x="0" y="971550"/>
                </a:moveTo>
                <a:lnTo>
                  <a:pt x="1390650" y="971550"/>
                </a:lnTo>
                <a:lnTo>
                  <a:pt x="1390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A7B687-D717-481F-B764-9C81766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8860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2FCD7C-17DA-49DF-819B-39BEDE6C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2609850"/>
            <a:ext cx="990600" cy="9525"/>
          </a:xfrm>
          <a:custGeom xmlns:a="http://schemas.openxmlformats.org/drawingml/2006/main"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F7493A-DE7D-4BB8-9AA9-6141487C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75" y="25622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97C88-6A4A-426A-972C-A8470A6E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96025"/>
            <a:ext cx="295275" cy="9525"/>
          </a:xfrm>
          <a:custGeom xmlns:a="http://schemas.openxmlformats.org/drawingml/2006/main"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7E934F-C661-4E48-9B48-05B5BEEE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2484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B87C62-B017-4755-8BBB-0E78418C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296025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AF6F22-2D3C-4E15-83E2-29EDAF14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2484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7AAD41-E1E6-45B5-91EC-3169D787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24450"/>
            <a:ext cx="1419225" cy="1171575"/>
          </a:xfrm>
          <a:custGeom xmlns:a="http://schemas.openxmlformats.org/drawingml/2006/main">
            <a:pathLst>
              <a:path w="1419225" h="1171575">
                <a:moveTo>
                  <a:pt x="0" y="1171575"/>
                </a:moveTo>
                <a:lnTo>
                  <a:pt x="209550" y="1171575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3BBA83-F9F3-4198-92D3-D1F34F46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0768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DB8E8C-D0E7-4757-9047-4CEB2C77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296025"/>
            <a:ext cx="476250" cy="333375"/>
          </a:xfrm>
          <a:custGeom xmlns:a="http://schemas.openxmlformats.org/drawingml/2006/main">
            <a:pathLst>
              <a:path w="476250" h="333375">
                <a:moveTo>
                  <a:pt x="0" y="0"/>
                </a:moveTo>
                <a:lnTo>
                  <a:pt x="0" y="333375"/>
                </a:lnTo>
                <a:lnTo>
                  <a:pt x="47625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8F5E24-A1FD-49CC-9120-C0D92218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5817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05EFF0-DA01-40F4-B9F5-ADEC3DD1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124450"/>
            <a:ext cx="752475" cy="590550"/>
          </a:xfrm>
          <a:custGeom xmlns:a="http://schemas.openxmlformats.org/drawingml/2006/main">
            <a:pathLst>
              <a:path w="752475" h="590550">
                <a:moveTo>
                  <a:pt x="0" y="0"/>
                </a:moveTo>
                <a:lnTo>
                  <a:pt x="752475" y="0"/>
                </a:lnTo>
                <a:lnTo>
                  <a:pt x="752475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E7BCAF-EB14-49F1-A1F0-12A34178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560070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B7F71C-2AB6-4B6E-B22B-ABD7B4C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143625"/>
            <a:ext cx="466725" cy="276225"/>
          </a:xfrm>
          <a:custGeom xmlns:a="http://schemas.openxmlformats.org/drawingml/2006/main">
            <a:pathLst>
              <a:path w="466725" h="276225">
                <a:moveTo>
                  <a:pt x="0" y="276225"/>
                </a:moveTo>
                <a:lnTo>
                  <a:pt x="219075" y="276225"/>
                </a:lnTo>
                <a:lnTo>
                  <a:pt x="219075" y="0"/>
                </a:ln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9414CC-490B-4BDA-B5E8-2BBD448C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096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3E2C60-D6C3-449B-A15D-18B3C585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619875"/>
            <a:ext cx="466725" cy="323850"/>
          </a:xfrm>
          <a:custGeom xmlns:a="http://schemas.openxmlformats.org/drawingml/2006/main">
            <a:pathLst>
              <a:path w="466725" h="323850">
                <a:moveTo>
                  <a:pt x="0" y="0"/>
                </a:moveTo>
                <a:lnTo>
                  <a:pt x="219075" y="0"/>
                </a:lnTo>
                <a:lnTo>
                  <a:pt x="219075" y="323850"/>
                </a:lnTo>
                <a:lnTo>
                  <a:pt x="466725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A6BF84-3692-46FF-B485-840EB0E3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8961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298CA0-F575-45A6-8CA0-E7C6BD16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143625"/>
            <a:ext cx="447675" cy="342900"/>
          </a:xfrm>
          <a:custGeom xmlns:a="http://schemas.openxmlformats.org/drawingml/2006/main">
            <a:pathLst>
              <a:path w="447675" h="342900">
                <a:moveTo>
                  <a:pt x="0" y="0"/>
                </a:moveTo>
                <a:lnTo>
                  <a:pt x="219075" y="0"/>
                </a:lnTo>
                <a:lnTo>
                  <a:pt x="219075" y="342900"/>
                </a:lnTo>
                <a:lnTo>
                  <a:pt x="447675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21409A-A375-40D1-9815-F1DFCAD7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64389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FA4D3B-AACE-4484-94B7-FFF55B2E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686550"/>
            <a:ext cx="447675" cy="257175"/>
          </a:xfrm>
          <a:custGeom xmlns:a="http://schemas.openxmlformats.org/drawingml/2006/main">
            <a:pathLst>
              <a:path w="447675" h="257175">
                <a:moveTo>
                  <a:pt x="0" y="257175"/>
                </a:moveTo>
                <a:lnTo>
                  <a:pt x="219075" y="257175"/>
                </a:lnTo>
                <a:lnTo>
                  <a:pt x="219075" y="0"/>
                </a:ln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1D5884-CADB-421D-94BF-599F1ECC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6638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96A56A-E8D1-40E7-9849-554BCA08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62675"/>
            <a:ext cx="457200" cy="428625"/>
          </a:xfrm>
          <a:custGeom xmlns:a="http://schemas.openxmlformats.org/drawingml/2006/main">
            <a:pathLst>
              <a:path w="457200" h="428625">
                <a:moveTo>
                  <a:pt x="0" y="428625"/>
                </a:moveTo>
                <a:lnTo>
                  <a:pt x="457200" y="428625"/>
                </a:ln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CA927F-E23B-401A-8789-9BF960EC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1626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C5D82F-B423-43D8-B7F8-4E1E78C8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30555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34F378-87C2-4E56-8A00-E0E420BE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6257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6839ED-AE8A-4D30-AC4D-BC67A667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305550"/>
            <a:ext cx="1028700" cy="9525"/>
          </a:xfrm>
          <a:custGeom xmlns:a="http://schemas.openxmlformats.org/drawingml/2006/main">
            <a:pathLst>
              <a:path w="1028700" h="952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A9804F-9DA1-4078-98B7-43D4D7ED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257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ECA36D-18C3-45C5-BF5D-270E4BB4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6305550"/>
            <a:ext cx="847725" cy="9525"/>
          </a:xfrm>
          <a:custGeom xmlns:a="http://schemas.openxmlformats.org/drawingml/2006/main">
            <a:pathLst>
              <a:path w="847725" h="9525">
                <a:moveTo>
                  <a:pt x="0" y="0"/>
                </a:moveTo>
                <a:lnTo>
                  <a:pt x="847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F5FAF2A-D1A4-43A4-B53F-B4B5ACE5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6257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FDCC8C-77D5-4142-9526-6BAE831F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609850"/>
            <a:ext cx="419100" cy="381000"/>
          </a:xfrm>
          <a:custGeom xmlns:a="http://schemas.openxmlformats.org/drawingml/2006/main"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4201EC-82CE-4631-A9F5-F337E677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76350"/>
            <a:ext cx="2124075" cy="723900"/>
          </a:xfrm>
          <a:prstGeom xmlns:a="http://schemas.openxmlformats.org/drawingml/2006/main" prst="roundRect">
            <a:avLst>
              <a:gd name="adj" fmla="val 11842"/>
            </a:avLst>
          </a:prstGeom>
          <a:gradFill xmlns:a="http://schemas.openxmlformats.org/drawingml/2006/main"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xmlns:a="http://schemas.openxmlformats.org/drawingml/2006/main" w="14288">
            <a:solidFill>
              <a:srgbClr val="9360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CA9C8F-AD5D-449F-A842-6C8D5E6D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430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Parameter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714F3CB-23A9-41B3-99DD-8A0B7DB6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μ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1D3E18-0240-4515-9C57-DF9785CE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28875"/>
            <a:ext cx="2124075" cy="1666875"/>
          </a:xfrm>
          <a:prstGeom xmlns:a="http://schemas.openxmlformats.org/drawingml/2006/main" prst="roundRect">
            <a:avLst>
              <a:gd name="adj" fmla="val 5143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610411-6772-429B-9FA8-5180A547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431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Physical history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E5DFCB9-B920-407E-AE72-79728CBE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431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ℋ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E141D0C-65AE-4D05-8069-6B0E1AAC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76525"/>
            <a:ext cx="114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871A09-2890-4F44-9132-703FFFE9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265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F988424-C3D4-4F0E-94DC-AF7CFECC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27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86A715-02CB-4231-A05E-8A9CA3E4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789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45D8F1B-884F-4168-A751-E7ABEB8D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51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8819AD-9212-4AAB-BC7A-049BE01A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313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6ED4C8-F2DE-4E46-9680-BD82BE35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4802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9EC428-280F-494F-8695-D5C48BB6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1571625" cy="1876425"/>
          </a:xfrm>
          <a:custGeom xmlns:a="http://schemas.openxmlformats.org/drawingml/2006/main"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C9F2F0"/>
              </a:gs>
              <a:gs pos="100000">
                <a:srgbClr val="A9E6E5"/>
              </a:gs>
            </a:gsLst>
            <a:lin ang="6000000"/>
          </a:gradFill>
          <a:ln xmlns:a="http://schemas.openxmlformats.org/drawingml/2006/main" w="15240">
            <a:solidFill>
              <a:srgbClr val="00A1A8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A6DE28-CC67-4C8C-A6F2-F7C40E1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323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rPr>
              <a:t>Parameter</a:t>
            </a:r>
          </a:p>
          <a:p xmlns:a="http://schemas.openxmlformats.org/drawingml/2006/main">
            <a:pPr algn="ctr">
              <a:def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rPr>
              <a:t>router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765FD1B-1AE1-4E9A-B5A6-87AA06F2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86075"/>
            <a:ext cx="1143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A3AA"/>
          </a:solidFill>
          <a:ln xmlns:a="http://schemas.openxmlformats.org/drawingml/2006/main" w="14288">
            <a:solidFill>
              <a:srgbClr val="00A3A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0261BD1-EEA9-43BC-8BC8-4BF4193B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62250"/>
            <a:ext cx="114300" cy="2952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A3AA"/>
          </a:solidFill>
          <a:ln xmlns:a="http://schemas.openxmlformats.org/drawingml/2006/main" w="14288">
            <a:solidFill>
              <a:srgbClr val="00A3A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9393C1F-B801-49C5-B1B6-2754C5DA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38425"/>
            <a:ext cx="114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A3AA"/>
          </a:solidFill>
          <a:ln xmlns:a="http://schemas.openxmlformats.org/drawingml/2006/main" w="14288">
            <a:solidFill>
              <a:srgbClr val="00A3A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01B5AC-C868-454C-9DA0-DE37BF02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1438275" cy="733425"/>
          </a:xfrm>
          <a:prstGeom xmlns:a="http://schemas.openxmlformats.org/drawingml/2006/main" prst="roundRect">
            <a:avLst>
              <a:gd name="adj" fmla="val 11688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7006A9-A3D9-47EF-952F-9C8CE29F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47875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Masked</a:t>
            </a:r>
          </a:p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selection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D36B27F-3C86-4F37-B8FE-1F8ED464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90600"/>
            <a:ext cx="1390650" cy="1343025"/>
          </a:xfrm>
          <a:custGeom xmlns:a="http://schemas.openxmlformats.org/drawingml/2006/main"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9E2"/>
              </a:gs>
              <a:gs pos="100000">
                <a:srgbClr val="FFF0BE"/>
              </a:gs>
            </a:gsLst>
            <a:lin ang="6600000"/>
          </a:gradFill>
          <a:ln xmlns:a="http://schemas.openxmlformats.org/drawingml/2006/main" w="19050">
            <a:solidFill>
              <a:srgbClr val="080E36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1CD67FB-C416-4FA1-9094-B3B76844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38250"/>
            <a:ext cx="10763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Top-1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or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Top-2?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2902D9D-A342-43A0-BF4C-BFFD4F79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3822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D1FC6BA-9B46-4BF5-B646-08738661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12477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Top-2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(adjacent)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E2116C3-FA7B-410E-A33A-81CCB527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6675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regime-local specialist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73161AA-F232-490D-A3F3-05CEF9B7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028700"/>
            <a:ext cx="2457450" cy="590550"/>
          </a:xfrm>
          <a:prstGeom xmlns:a="http://schemas.openxmlformats.org/drawingml/2006/main" prst="roundRect">
            <a:avLst>
              <a:gd name="adj" fmla="val 14516"/>
            </a:avLst>
          </a:prstGeom>
          <a:gradFill xmlns:a="http://schemas.openxmlformats.org/drawingml/2006/main"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xmlns:a="http://schemas.openxmlformats.org/drawingml/2006/main" w="14288">
            <a:solidFill>
              <a:srgbClr val="FF7F29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3A0DFB5-8AAB-4442-A11D-5441F73D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133475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Specialist 𝑟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D65E2D3-6392-41C0-9E2A-761ECB5B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85950"/>
            <a:ext cx="2705100" cy="1495425"/>
          </a:xfrm>
          <a:prstGeom xmlns:a="http://schemas.openxmlformats.org/drawingml/2006/main" prst="roundRect">
            <a:avLst>
              <a:gd name="adj" fmla="val 764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8128"/>
            </a:solidFill>
            <a:prstDash val="dash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9747CBF-D19C-4367-90C1-FBC7F08D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90725"/>
            <a:ext cx="243840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E2EF6E7-9093-47B4-8C8F-2F037E69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05025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Specialist 𝑟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FEFC757-3031-42A5-8CA4-C5F5374C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05100"/>
            <a:ext cx="243840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FFEAF0"/>
              </a:gs>
              <a:gs pos="100000">
                <a:srgbClr val="FFDFE8"/>
              </a:gs>
            </a:gsLst>
            <a:lin ang="6000000"/>
          </a:gradFill>
          <a:ln xmlns:a="http://schemas.openxmlformats.org/drawingml/2006/main" w="14288">
            <a:solidFill>
              <a:srgbClr val="FF298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0704F6D-2C26-4E2D-838D-53B678B0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194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Specialist 𝑠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0A18F91-BC57-4C99-A8F4-1FC01DBD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2350"/>
            <a:ext cx="2466975" cy="533400"/>
          </a:xfrm>
          <a:prstGeom xmlns:a="http://schemas.openxmlformats.org/drawingml/2006/main" prst="roundRect">
            <a:avLst>
              <a:gd name="adj" fmla="val 16071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7962E1C-A7D5-4351-94D0-3D3E23BE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648075"/>
            <a:ext cx="225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Descriptor 𝑑ₙ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CAF5D69-C7E8-453D-B581-405878B1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33625"/>
            <a:ext cx="561975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1CA"/>
          </a:solidFill>
          <a:ln xmlns:a="http://schemas.openxmlformats.org/drawingml/2006/main" w="19050">
            <a:solidFill>
              <a:srgbClr val="071F22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34DA7FE-CD11-431C-90CB-AE07674B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505075"/>
            <a:ext cx="219075" cy="219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71F22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8882FF5-748B-4D9C-93BC-6C309E06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2614613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71F22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C9D99D2-100E-4C3F-B39A-8A5C6F85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2495550"/>
            <a:ext cx="9525" cy="238125"/>
          </a:xfrm>
          <a:custGeom xmlns:a="http://schemas.openxmlformats.org/drawingml/2006/main"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71F22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29E588B-2C60-452B-941B-1C17A1B0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75" y="1885950"/>
            <a:ext cx="2095500" cy="1828800"/>
          </a:xfrm>
          <a:prstGeom xmlns:a="http://schemas.openxmlformats.org/drawingml/2006/main" prst="roundRect">
            <a:avLst>
              <a:gd name="adj" fmla="val 4688"/>
            </a:avLst>
          </a:prstGeom>
          <a:gradFill xmlns:a="http://schemas.openxmlformats.org/drawingml/2006/main"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xmlns:a="http://schemas.openxmlformats.org/drawingml/2006/main" w="14288">
            <a:solidFill>
              <a:srgbClr val="9964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5A89529-DD21-4112-978F-48A937A8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962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Predicted fields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6D689ED-0C3E-4DC3-A682-5723F5BD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2305050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𝑢̃, 𝑝̂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F464873-8E23-417A-A1B8-5CD48CF8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2886075"/>
            <a:ext cx="466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DBCEC66-9FCC-4D20-B9D5-8F7AD71A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724525"/>
            <a:ext cx="1647825" cy="1409700"/>
          </a:xfrm>
          <a:prstGeom xmlns:a="http://schemas.openxmlformats.org/drawingml/2006/main" prst="roundRect">
            <a:avLst>
              <a:gd name="adj" fmla="val 6081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D4B1388-5385-4872-838D-5CE6E35C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8388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Physical history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B7757AC-0712-439B-B04C-2357D45E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388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8570E98-F0EC-4FCC-AF7D-39744683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972175"/>
            <a:ext cx="114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FF30571-5A32-4E4F-8F02-81B33853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807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5D6A696-38E3-4D33-A7B2-7C12BF75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1569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A0CF5C7-246E-4BB5-B7D1-C7C276E5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31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04698AB-C697-480F-8A62-9C172B5A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093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E505166-7655-423C-A480-535CDA8D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55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4F6893E-A22B-4461-A9C4-296CF575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8650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5DBEBA6-1F71-4053-94E0-5F9748C4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600700"/>
            <a:ext cx="1285875" cy="1638300"/>
          </a:xfrm>
          <a:custGeom xmlns:a="http://schemas.openxmlformats.org/drawingml/2006/main"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xmlns:a="http://schemas.openxmlformats.org/drawingml/2006/main" w="15240">
            <a:solidFill>
              <a:srgbClr val="FF791D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2DD9EC1-9CB2-44DF-BF27-66978DA1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95975"/>
            <a:ext cx="11144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Local POD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encoder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D146837-0DE9-468A-B1E0-3C2BD10A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391275"/>
            <a:ext cx="58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𝜙ᵣ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AB68E44-2D0B-4150-844B-5AD3CB99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848475"/>
            <a:ext cx="1143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8523"/>
          </a:solidFill>
          <a:ln xmlns:a="http://schemas.openxmlformats.org/drawingml/2006/main" w="14288">
            <a:solidFill>
              <a:srgbClr val="F7852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CF5B264-26ED-4E62-8704-E76F6A7B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724650"/>
            <a:ext cx="114300" cy="2952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8523"/>
          </a:solidFill>
          <a:ln xmlns:a="http://schemas.openxmlformats.org/drawingml/2006/main" w="14288">
            <a:solidFill>
              <a:srgbClr val="F7852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E67C26A-9452-42DE-B59D-967FCD88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600825"/>
            <a:ext cx="114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8523"/>
          </a:solidFill>
          <a:ln xmlns:a="http://schemas.openxmlformats.org/drawingml/2006/main" w="14288">
            <a:solidFill>
              <a:srgbClr val="F7852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ED047C4-BDBC-4D78-9E47-0B5F4AAC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800725"/>
            <a:ext cx="2352675" cy="1085850"/>
          </a:xfrm>
          <a:prstGeom xmlns:a="http://schemas.openxmlformats.org/drawingml/2006/main" prst="roundRect">
            <a:avLst>
              <a:gd name="adj" fmla="val 7895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90BDCDC-EB95-4DCB-BBED-F20E40CA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876925"/>
            <a:ext cx="2085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Local reduced state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540D65D-D042-47E1-9234-82DF1CD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76800"/>
            <a:ext cx="3086100" cy="476250"/>
          </a:xfrm>
          <a:prstGeom xmlns:a="http://schemas.openxmlformats.org/drawingml/2006/main" prst="roundRect">
            <a:avLst>
              <a:gd name="adj" fmla="val 18000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52CF437-B8BB-4850-9B47-54C0B494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434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Projected ROM 𝑇ᵣᴳ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772CBF9-B90F-4CBF-B1C3-25C8C174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9592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5A08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F25A08"/>
                </a:solidFill>
                <a:latin typeface="Arial Narrow"/>
                <a:ea typeface="Arial Narrow"/>
                <a:cs typeface="Arial Narrow"/>
              </a:rPr>
              <a:t>Sparse MoE correction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1EAE47E-F425-43A0-AB45-9F3453D1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524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25A08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25A08"/>
                </a:solidFill>
                <a:latin typeface="Cambria Math"/>
                <a:ea typeface="Cambria Math"/>
                <a:cs typeface="Cambria Math"/>
              </a:rPr>
              <a:t>ρ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EFE97B4-1320-474A-91D1-8E12CF88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66737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25A08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>
                <a:solidFill>
                  <a:srgbClr val="F25A08"/>
                </a:solidFill>
                <a:latin typeface="Cambria Math"/>
                <a:ea typeface="Cambria Math"/>
                <a:cs typeface="Cambria Math"/>
              </a:rPr>
              <a:t>θᵣ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F4CA01E-C93D-4ADF-9CC1-CC1D95EA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962650"/>
            <a:ext cx="990600" cy="1228725"/>
          </a:xfrm>
          <a:custGeom xmlns:a="http://schemas.openxmlformats.org/drawingml/2006/main"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xmlns:a="http://schemas.openxmlformats.org/drawingml/2006/main" w="15240">
            <a:solidFill>
              <a:srgbClr val="9561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69F526E-BB5E-45F2-A989-3938140B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Group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router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AFE2CA0-BAC7-4BBE-8473-AB42DF55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886575"/>
            <a:ext cx="1143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9C5CFC"/>
          </a:solidFill>
          <a:ln xmlns:a="http://schemas.openxmlformats.org/drawingml/2006/main" w="14288">
            <a:solidFill>
              <a:srgbClr val="9C5CFC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6A254D2-A6B0-425C-A3D7-D0BC6315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6762750"/>
            <a:ext cx="114300" cy="2952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9C5CFC"/>
          </a:solidFill>
          <a:ln xmlns:a="http://schemas.openxmlformats.org/drawingml/2006/main" w="14288">
            <a:solidFill>
              <a:srgbClr val="9C5CF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944F2A9-06C8-4933-9649-8AD75907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638925"/>
            <a:ext cx="114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9C5CFC"/>
          </a:solidFill>
          <a:ln xmlns:a="http://schemas.openxmlformats.org/drawingml/2006/main" w="14288">
            <a:solidFill>
              <a:srgbClr val="9C5CFC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A4907AD-67CC-441C-A72C-AA519E2E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48350"/>
            <a:ext cx="1724025" cy="590550"/>
          </a:xfrm>
          <a:prstGeom xmlns:a="http://schemas.openxmlformats.org/drawingml/2006/main" prst="roundRect">
            <a:avLst>
              <a:gd name="adj" fmla="val 14516"/>
            </a:avLst>
          </a:prstGeom>
          <a:gradFill xmlns:a="http://schemas.openxmlformats.org/drawingml/2006/main"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xmlns:a="http://schemas.openxmlformats.org/drawingml/2006/main" w="14288">
            <a:solidFill>
              <a:srgbClr val="FF716B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663356C-2076-4BA7-832D-263F2C1E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886450"/>
            <a:ext cx="1533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Shared expert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89D99F0-CCE6-41D7-A759-5E044E9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1436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E₀ (always active)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706173C-9916-4BC2-8009-1806E438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534150"/>
            <a:ext cx="1724025" cy="657225"/>
          </a:xfrm>
          <a:prstGeom xmlns:a="http://schemas.openxmlformats.org/drawingml/2006/main" prst="roundRect">
            <a:avLst>
              <a:gd name="adj" fmla="val 13043"/>
            </a:avLst>
          </a:prstGeom>
          <a:gradFill xmlns:a="http://schemas.openxmlformats.org/drawingml/2006/main"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xmlns:a="http://schemas.openxmlformats.org/drawingml/2006/main" w="14288">
            <a:solidFill>
              <a:srgbClr val="FF716B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51F7027-AE8E-4F86-856D-BD9DEB88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572250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Top-2 routed experts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0EC890C-395C-45A1-9A58-AECC2031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48475"/>
            <a:ext cx="1381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𝐸ᵣ,₁, 𝐸ᵣ,₂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7ABAA6B-B51A-4CE6-8426-6B588C5C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305550"/>
            <a:ext cx="600075" cy="54292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E9E3"/>
          </a:solidFill>
          <a:ln xmlns:a="http://schemas.openxmlformats.org/drawingml/2006/main" w="14288">
            <a:solidFill>
              <a:srgbClr val="FF716B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61EF946-FE20-4B58-90F6-F6688315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10325"/>
            <a:ext cx="542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Σ ω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7A3C7D5-528C-4640-8185-C72577DF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7324725"/>
            <a:ext cx="4124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nonlinear + affine + low-rank bilinear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0D00C52-07B4-4266-A0CB-B31AD115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715000"/>
            <a:ext cx="419100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E36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C4F3709-4411-4978-8854-F84955F9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724525"/>
            <a:ext cx="342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9EAF707-4A6C-48AF-8182-82B73603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000750"/>
            <a:ext cx="1524000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1E8EE"/>
          </a:solidFill>
          <a:ln xmlns:a="http://schemas.openxmlformats.org/drawingml/2006/main" w="14288">
            <a:solidFill>
              <a:srgbClr val="739F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C7E114E-A974-4568-A404-55D2BE5A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61341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Time integration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6275C9E-64F1-4A35-B955-411D1194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972175"/>
            <a:ext cx="581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𝑎ₙ₊₁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9534FF6-575D-4A6A-A1F3-EC1F2BB4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5962650"/>
            <a:ext cx="1724025" cy="657225"/>
          </a:xfrm>
          <a:prstGeom xmlns:a="http://schemas.openxmlformats.org/drawingml/2006/main" prst="roundRect">
            <a:avLst>
              <a:gd name="adj" fmla="val 13043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BB56AA3-C1C8-4329-A259-6BEDE4DA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6134100"/>
            <a:ext cx="1552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Pressure-Possible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994B8FD-F6D1-4B00-848B-1CB8807F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5972175"/>
            <a:ext cx="60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𝑏ₙ₊₁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21B1AD8-79EB-41F2-BDE7-FED46255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457825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DB5D3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71A3978-E764-497A-B6E7-A84B9F43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79132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Velocity update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C17C0A9-1C32-4571-AECC-0EC4BDD2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6791325"/>
            <a:ext cx="1590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Pressure update</a:t>
            </a:r>
          </a:p>
        </p:txBody>
      </p:sp>
    </p:spTree>
    <p:extLst>
      <p:ext uri="{BB962C8B-B14F-4D97-AF65-F5344CB8AC3E}">
        <p14:creationId xmlns:p14="http://schemas.microsoft.com/office/powerpoint/2010/main" val="1472027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2026-09-15T09:00:07.1600000Z</dcterms:created>
  <dcterms:modified xsi:type="dcterms:W3CDTF">2026-09-15T09:00:07.1600000Z</dcterms:modified>
</coreProperties>
</file>